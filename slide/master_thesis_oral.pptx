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256" r:id="rId2"/>
    <p:sldId id="257" r:id="rId3"/>
    <p:sldId id="262" r:id="rId4"/>
    <p:sldId id="282" r:id="rId5"/>
    <p:sldId id="263" r:id="rId6"/>
    <p:sldId id="259" r:id="rId7"/>
    <p:sldId id="274" r:id="rId8"/>
    <p:sldId id="271" r:id="rId9"/>
    <p:sldId id="276" r:id="rId10"/>
    <p:sldId id="277" r:id="rId11"/>
    <p:sldId id="272" r:id="rId12"/>
    <p:sldId id="264" r:id="rId13"/>
    <p:sldId id="265" r:id="rId14"/>
    <p:sldId id="269" r:id="rId15"/>
    <p:sldId id="267" r:id="rId16"/>
    <p:sldId id="275" r:id="rId17"/>
    <p:sldId id="261" r:id="rId18"/>
  </p:sldIdLst>
  <p:sldSz cx="9144000" cy="6858000" type="screen4x3"/>
  <p:notesSz cx="9872663" cy="67421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35" autoAdjust="0"/>
    <p:restoredTop sz="75387" autoAdjust="0"/>
  </p:normalViewPr>
  <p:slideViewPr>
    <p:cSldViewPr snapToGrid="0">
      <p:cViewPr varScale="1">
        <p:scale>
          <a:sx n="75" d="100"/>
          <a:sy n="75" d="100"/>
        </p:scale>
        <p:origin x="54" y="42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00"/>
    </p:cViewPr>
  </p:sorterViewPr>
  <p:notesViewPr>
    <p:cSldViewPr snapToGrid="0">
      <p:cViewPr varScale="1">
        <p:scale>
          <a:sx n="81" d="100"/>
          <a:sy n="81" d="100"/>
        </p:scale>
        <p:origin x="1122"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Book4"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4"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Microsoft%20PowerPoint%20&#20869;&#12398;&#12464;&#12521;&#12501;"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dLbls>
          <c:showLegendKey val="0"/>
          <c:showVal val="0"/>
          <c:showCatName val="0"/>
          <c:showSerName val="0"/>
          <c:showPercent val="0"/>
          <c:showBubbleSize val="0"/>
        </c:dLbls>
        <c:axId val="-1350875328"/>
        <c:axId val="-1350884576"/>
      </c:scatterChart>
      <c:valAx>
        <c:axId val="-1350875328"/>
        <c:scaling>
          <c:orientation val="minMax"/>
        </c:scaling>
        <c:delete val="1"/>
        <c:axPos val="b"/>
        <c:majorTickMark val="none"/>
        <c:minorTickMark val="none"/>
        <c:tickLblPos val="nextTo"/>
        <c:crossAx val="-1350884576"/>
        <c:crosses val="autoZero"/>
        <c:crossBetween val="midCat"/>
      </c:valAx>
      <c:valAx>
        <c:axId val="-1350884576"/>
        <c:scaling>
          <c:orientation val="minMax"/>
        </c:scaling>
        <c:delete val="1"/>
        <c:axPos val="l"/>
        <c:numFmt formatCode="General" sourceLinked="1"/>
        <c:majorTickMark val="none"/>
        <c:minorTickMark val="none"/>
        <c:tickLblPos val="nextTo"/>
        <c:crossAx val="-1350875328"/>
        <c:crosses val="autoZero"/>
        <c:crossBetween val="midCat"/>
      </c:valAx>
      <c:spPr>
        <a:noFill/>
        <a:ln w="25400">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yVal>
            <c:numRef>
              <c:f>Sheet1!$C$150:$C$314</c:f>
              <c:numCache>
                <c:formatCode>General</c:formatCode>
                <c:ptCount val="165"/>
                <c:pt idx="0">
                  <c:v>0.99749498660405445</c:v>
                </c:pt>
                <c:pt idx="1">
                  <c:v>0.99815247249754813</c:v>
                </c:pt>
                <c:pt idx="2">
                  <c:v>0.998710143975583</c:v>
                </c:pt>
                <c:pt idx="3">
                  <c:v>0.99916794527147601</c:v>
                </c:pt>
                <c:pt idx="4">
                  <c:v>0.99952583060547906</c:v>
                </c:pt>
                <c:pt idx="5">
                  <c:v>0.99978376418935699</c:v>
                </c:pt>
                <c:pt idx="6">
                  <c:v>0.9999417202299663</c:v>
                </c:pt>
                <c:pt idx="7">
                  <c:v>0.99999968293183461</c:v>
                </c:pt>
                <c:pt idx="8">
                  <c:v>0.99995764649874008</c:v>
                </c:pt>
                <c:pt idx="9">
                  <c:v>0.99981561513429085</c:v>
                </c:pt>
                <c:pt idx="10">
                  <c:v>0.99957360304150511</c:v>
                </c:pt>
                <c:pt idx="11">
                  <c:v>0.99923163442139051</c:v>
                </c:pt>
                <c:pt idx="12">
                  <c:v>0.99878974347052396</c:v>
                </c:pt>
                <c:pt idx="13">
                  <c:v>0.99824797437763246</c:v>
                </c:pt>
                <c:pt idx="14">
                  <c:v>0.99760638131917367</c:v>
                </c:pt>
                <c:pt idx="15">
                  <c:v>0.99686502845391889</c:v>
                </c:pt>
                <c:pt idx="16">
                  <c:v>0.99602398991653673</c:v>
                </c:pt>
                <c:pt idx="17">
                  <c:v>0.99508334981018021</c:v>
                </c:pt>
                <c:pt idx="18">
                  <c:v>0.99404320219807596</c:v>
                </c:pt>
                <c:pt idx="19">
                  <c:v>0.99290365109411849</c:v>
                </c:pt>
                <c:pt idx="20">
                  <c:v>0.99166481045246857</c:v>
                </c:pt>
                <c:pt idx="21">
                  <c:v>0.99032680415615804</c:v>
                </c:pt>
                <c:pt idx="22">
                  <c:v>0.98888976600470146</c:v>
                </c:pt>
                <c:pt idx="23">
                  <c:v>0.98735383970071644</c:v>
                </c:pt>
                <c:pt idx="24">
                  <c:v>0.98571917883555349</c:v>
                </c:pt>
                <c:pt idx="25">
                  <c:v>0.98398594687393692</c:v>
                </c:pt>
                <c:pt idx="26">
                  <c:v>0.98215431713761847</c:v>
                </c:pt>
                <c:pt idx="27">
                  <c:v>0.98022447278804548</c:v>
                </c:pt>
                <c:pt idx="28">
                  <c:v>0.97819660680804466</c:v>
                </c:pt>
                <c:pt idx="29">
                  <c:v>0.97607092198252421</c:v>
                </c:pt>
                <c:pt idx="30">
                  <c:v>0.97384763087819515</c:v>
                </c:pt>
                <c:pt idx="31">
                  <c:v>0.9715269558223153</c:v>
                </c:pt>
                <c:pt idx="32">
                  <c:v>0.96910912888045631</c:v>
                </c:pt>
                <c:pt idx="33">
                  <c:v>0.96659439183329754</c:v>
                </c:pt>
                <c:pt idx="34">
                  <c:v>0.96398299615244809</c:v>
                </c:pt>
                <c:pt idx="35">
                  <c:v>0.96127520297529989</c:v>
                </c:pt>
                <c:pt idx="36">
                  <c:v>0.95847128307891416</c:v>
                </c:pt>
                <c:pt idx="37">
                  <c:v>0.95557151685294395</c:v>
                </c:pt>
                <c:pt idx="38">
                  <c:v>0.95257619427159534</c:v>
                </c:pt>
                <c:pt idx="39">
                  <c:v>0.94948561486463046</c:v>
                </c:pt>
                <c:pt idx="40">
                  <c:v>0.94630008768741447</c:v>
                </c:pt>
                <c:pt idx="41">
                  <c:v>0.9430199312900106</c:v>
                </c:pt>
                <c:pt idx="42">
                  <c:v>0.93964547368532492</c:v>
                </c:pt>
                <c:pt idx="43">
                  <c:v>0.9361770523163061</c:v>
                </c:pt>
                <c:pt idx="44">
                  <c:v>0.93261501402220048</c:v>
                </c:pt>
                <c:pt idx="45">
                  <c:v>0.92895971500386931</c:v>
                </c:pt>
                <c:pt idx="46">
                  <c:v>0.92521152078816826</c:v>
                </c:pt>
                <c:pt idx="47">
                  <c:v>0.92137080619139544</c:v>
                </c:pt>
                <c:pt idx="48">
                  <c:v>0.91743795528180982</c:v>
                </c:pt>
                <c:pt idx="49">
                  <c:v>0.91341336134122519</c:v>
                </c:pt>
                <c:pt idx="50">
                  <c:v>0.90929742682568171</c:v>
                </c:pt>
                <c:pt idx="51">
                  <c:v>0.90509056332520099</c:v>
                </c:pt>
                <c:pt idx="52">
                  <c:v>0.90079319152262727</c:v>
                </c:pt>
                <c:pt idx="53">
                  <c:v>0.89640574115156002</c:v>
                </c:pt>
                <c:pt idx="54">
                  <c:v>0.89192865095337959</c:v>
                </c:pt>
                <c:pt idx="55">
                  <c:v>0.88736236863337548</c:v>
                </c:pt>
                <c:pt idx="56">
                  <c:v>0.88270735081597407</c:v>
                </c:pt>
                <c:pt idx="57">
                  <c:v>0.87796406299907814</c:v>
                </c:pt>
                <c:pt idx="58">
                  <c:v>0.87313297950751645</c:v>
                </c:pt>
                <c:pt idx="59">
                  <c:v>0.86821458344561264</c:v>
                </c:pt>
                <c:pt idx="60">
                  <c:v>0.86320936664887371</c:v>
                </c:pt>
                <c:pt idx="61">
                  <c:v>0.85811782963480887</c:v>
                </c:pt>
                <c:pt idx="62">
                  <c:v>0.85294048155287616</c:v>
                </c:pt>
                <c:pt idx="63">
                  <c:v>0.84767784013356984</c:v>
                </c:pt>
                <c:pt idx="64">
                  <c:v>0.84233043163664567</c:v>
                </c:pt>
                <c:pt idx="65">
                  <c:v>0.83689879079849772</c:v>
                </c:pt>
                <c:pt idx="66">
                  <c:v>0.83138346077868308</c:v>
                </c:pt>
                <c:pt idx="67">
                  <c:v>0.82578499310560805</c:v>
                </c:pt>
                <c:pt idx="68">
                  <c:v>0.82010394762137417</c:v>
                </c:pt>
                <c:pt idx="69">
                  <c:v>0.81434089242579599</c:v>
                </c:pt>
                <c:pt idx="70">
                  <c:v>0.80849640381959009</c:v>
                </c:pt>
                <c:pt idx="71">
                  <c:v>0.80257106624674723</c:v>
                </c:pt>
                <c:pt idx="72">
                  <c:v>0.79656547223608654</c:v>
                </c:pt>
                <c:pt idx="73">
                  <c:v>0.79048022234200477</c:v>
                </c:pt>
                <c:pt idx="74">
                  <c:v>0.78431592508441983</c:v>
                </c:pt>
                <c:pt idx="75">
                  <c:v>0.7780731968879212</c:v>
                </c:pt>
                <c:pt idx="76">
                  <c:v>0.77175266202012593</c:v>
                </c:pt>
                <c:pt idx="77">
                  <c:v>0.76535495252925356</c:v>
                </c:pt>
                <c:pt idx="78">
                  <c:v>0.75888070818092201</c:v>
                </c:pt>
                <c:pt idx="79">
                  <c:v>0.75233057639417067</c:v>
                </c:pt>
                <c:pt idx="80">
                  <c:v>0.74570521217672026</c:v>
                </c:pt>
                <c:pt idx="81">
                  <c:v>0.7390052780594708</c:v>
                </c:pt>
                <c:pt idx="82">
                  <c:v>0.73223144403025142</c:v>
                </c:pt>
                <c:pt idx="83">
                  <c:v>0.72538438746681955</c:v>
                </c:pt>
                <c:pt idx="84">
                  <c:v>0.71846479306912625</c:v>
                </c:pt>
                <c:pt idx="85">
                  <c:v>0.71147335279084434</c:v>
                </c:pt>
                <c:pt idx="86">
                  <c:v>0.70441076577017625</c:v>
                </c:pt>
                <c:pt idx="87">
                  <c:v>0.69727773825993777</c:v>
                </c:pt>
                <c:pt idx="88">
                  <c:v>0.69007498355693642</c:v>
                </c:pt>
                <c:pt idx="89">
                  <c:v>0.68280322193063969</c:v>
                </c:pt>
                <c:pt idx="90">
                  <c:v>0.67546318055115095</c:v>
                </c:pt>
                <c:pt idx="91">
                  <c:v>0.66805559341649101</c:v>
                </c:pt>
                <c:pt idx="92">
                  <c:v>0.66058120127920072</c:v>
                </c:pt>
                <c:pt idx="93">
                  <c:v>0.65304075157226482</c:v>
                </c:pt>
                <c:pt idx="94">
                  <c:v>0.64543499833437068</c:v>
                </c:pt>
                <c:pt idx="95">
                  <c:v>0.63776470213450365</c:v>
                </c:pt>
                <c:pt idx="96">
                  <c:v>0.63003062999589221</c:v>
                </c:pt>
                <c:pt idx="97">
                  <c:v>0.62223355531930469</c:v>
                </c:pt>
                <c:pt idx="98">
                  <c:v>0.61437425780571175</c:v>
                </c:pt>
                <c:pt idx="99">
                  <c:v>0.60645352337831471</c:v>
                </c:pt>
                <c:pt idx="100">
                  <c:v>0.59847214410395655</c:v>
                </c:pt>
                <c:pt idx="101">
                  <c:v>0.59043091811391302</c:v>
                </c:pt>
                <c:pt idx="102">
                  <c:v>0.58233064952408187</c:v>
                </c:pt>
                <c:pt idx="103">
                  <c:v>0.57417214835457264</c:v>
                </c:pt>
                <c:pt idx="104">
                  <c:v>0.5659562304487028</c:v>
                </c:pt>
                <c:pt idx="105">
                  <c:v>0.55768371739141698</c:v>
                </c:pt>
                <c:pt idx="106">
                  <c:v>0.54935543642712659</c:v>
                </c:pt>
                <c:pt idx="107">
                  <c:v>0.54097222037698856</c:v>
                </c:pt>
                <c:pt idx="108">
                  <c:v>0.53253490755562116</c:v>
                </c:pt>
                <c:pt idx="109">
                  <c:v>0.52404434168727609</c:v>
                </c:pt>
                <c:pt idx="110">
                  <c:v>0.51550137182146416</c:v>
                </c:pt>
                <c:pt idx="111">
                  <c:v>0.50690685224805343</c:v>
                </c:pt>
                <c:pt idx="112">
                  <c:v>0.49826164241183857</c:v>
                </c:pt>
                <c:pt idx="113">
                  <c:v>0.48956660682659953</c:v>
                </c:pt>
                <c:pt idx="114">
                  <c:v>0.48082261498864826</c:v>
                </c:pt>
                <c:pt idx="115">
                  <c:v>0.47203054128988264</c:v>
                </c:pt>
                <c:pt idx="116">
                  <c:v>0.46319126493034518</c:v>
                </c:pt>
                <c:pt idx="117">
                  <c:v>0.45430566983030646</c:v>
                </c:pt>
                <c:pt idx="118">
                  <c:v>0.44537464454187115</c:v>
                </c:pt>
                <c:pt idx="119">
                  <c:v>0.43639908216012629</c:v>
                </c:pt>
                <c:pt idx="120">
                  <c:v>0.42737988023382978</c:v>
                </c:pt>
                <c:pt idx="121">
                  <c:v>0.41831794067565897</c:v>
                </c:pt>
                <c:pt idx="122">
                  <c:v>0.40921416967201729</c:v>
                </c:pt>
                <c:pt idx="123">
                  <c:v>0.40006947759241951</c:v>
                </c:pt>
                <c:pt idx="124">
                  <c:v>0.39088477889845219</c:v>
                </c:pt>
                <c:pt idx="125">
                  <c:v>0.38166099205233167</c:v>
                </c:pt>
                <c:pt idx="126">
                  <c:v>0.3723990394250557</c:v>
                </c:pt>
                <c:pt idx="127">
                  <c:v>0.36309984720416832</c:v>
                </c:pt>
                <c:pt idx="128">
                  <c:v>0.35376434530114309</c:v>
                </c:pt>
                <c:pt idx="129">
                  <c:v>0.34439346725838998</c:v>
                </c:pt>
                <c:pt idx="130">
                  <c:v>0.33498815015590511</c:v>
                </c:pt>
                <c:pt idx="131">
                  <c:v>0.32554933451756002</c:v>
                </c:pt>
                <c:pt idx="132">
                  <c:v>0.31607796421705381</c:v>
                </c:pt>
                <c:pt idx="133">
                  <c:v>0.30657498638352293</c:v>
                </c:pt>
                <c:pt idx="134">
                  <c:v>0.2970413513068324</c:v>
                </c:pt>
                <c:pt idx="135">
                  <c:v>0.28747801234254439</c:v>
                </c:pt>
                <c:pt idx="136">
                  <c:v>0.27788592581658678</c:v>
                </c:pt>
                <c:pt idx="137">
                  <c:v>0.26826605092961792</c:v>
                </c:pt>
                <c:pt idx="138">
                  <c:v>0.25861934966111083</c:v>
                </c:pt>
                <c:pt idx="139">
                  <c:v>0.24894678667315256</c:v>
                </c:pt>
                <c:pt idx="140">
                  <c:v>0.23924932921398243</c:v>
                </c:pt>
                <c:pt idx="141">
                  <c:v>0.22952794702126419</c:v>
                </c:pt>
                <c:pt idx="142">
                  <c:v>0.21978361222511694</c:v>
                </c:pt>
                <c:pt idx="143">
                  <c:v>0.21001729925089915</c:v>
                </c:pt>
                <c:pt idx="144">
                  <c:v>0.20022998472177053</c:v>
                </c:pt>
                <c:pt idx="145">
                  <c:v>0.19042264736102704</c:v>
                </c:pt>
                <c:pt idx="146">
                  <c:v>0.18059626789423291</c:v>
                </c:pt>
                <c:pt idx="147">
                  <c:v>0.17075182895114532</c:v>
                </c:pt>
                <c:pt idx="148">
                  <c:v>0.16089031496745576</c:v>
                </c:pt>
                <c:pt idx="149">
                  <c:v>0.15101271208634384</c:v>
                </c:pt>
                <c:pt idx="150">
                  <c:v>0.14112000805986721</c:v>
                </c:pt>
                <c:pt idx="151">
                  <c:v>0.13121319215018423</c:v>
                </c:pt>
                <c:pt idx="152">
                  <c:v>0.12129325503062975</c:v>
                </c:pt>
                <c:pt idx="153">
                  <c:v>0.11136118868665001</c:v>
                </c:pt>
                <c:pt idx="154">
                  <c:v>0.10141798631660186</c:v>
                </c:pt>
                <c:pt idx="155">
                  <c:v>9.1464642232437193E-2</c:v>
                </c:pt>
                <c:pt idx="156">
                  <c:v>8.150215176026912E-2</c:v>
                </c:pt>
                <c:pt idx="157">
                  <c:v>7.1531511140843704E-2</c:v>
                </c:pt>
                <c:pt idx="158">
                  <c:v>6.1553717429913148E-2</c:v>
                </c:pt>
                <c:pt idx="159">
                  <c:v>5.1569768398534638E-2</c:v>
                </c:pt>
                <c:pt idx="160">
                  <c:v>4.1580662433290491E-2</c:v>
                </c:pt>
                <c:pt idx="161">
                  <c:v>3.1587398436453896E-2</c:v>
                </c:pt>
                <c:pt idx="162">
                  <c:v>2.1590975726095959E-2</c:v>
                </c:pt>
                <c:pt idx="163">
                  <c:v>1.1592393936158275E-2</c:v>
                </c:pt>
                <c:pt idx="164">
                  <c:v>1.5926529164868282E-3</c:v>
                </c:pt>
              </c:numCache>
            </c:numRef>
          </c:yVal>
          <c:smooth val="1"/>
          <c:extLst xmlns:c16r2="http://schemas.microsoft.com/office/drawing/2015/06/chart">
            <c:ext xmlns:c16="http://schemas.microsoft.com/office/drawing/2014/chart" uri="{C3380CC4-5D6E-409C-BE32-E72D297353CC}">
              <c16:uniqueId val="{00000000-E464-4D76-998C-50855D6F0560}"/>
            </c:ext>
          </c:extLst>
        </c:ser>
        <c:dLbls>
          <c:showLegendKey val="0"/>
          <c:showVal val="0"/>
          <c:showCatName val="0"/>
          <c:showSerName val="0"/>
          <c:showPercent val="0"/>
          <c:showBubbleSize val="0"/>
        </c:dLbls>
        <c:axId val="-1350884032"/>
        <c:axId val="-1350878048"/>
      </c:scatterChart>
      <c:valAx>
        <c:axId val="-1350884032"/>
        <c:scaling>
          <c:orientation val="minMax"/>
        </c:scaling>
        <c:delete val="1"/>
        <c:axPos val="b"/>
        <c:majorTickMark val="none"/>
        <c:minorTickMark val="none"/>
        <c:tickLblPos val="nextTo"/>
        <c:crossAx val="-1350878048"/>
        <c:crosses val="autoZero"/>
        <c:crossBetween val="midCat"/>
      </c:valAx>
      <c:valAx>
        <c:axId val="-1350878048"/>
        <c:scaling>
          <c:orientation val="minMax"/>
        </c:scaling>
        <c:delete val="1"/>
        <c:axPos val="l"/>
        <c:numFmt formatCode="General" sourceLinked="1"/>
        <c:majorTickMark val="none"/>
        <c:minorTickMark val="none"/>
        <c:tickLblPos val="nextTo"/>
        <c:crossAx val="-135088403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0539370078740152E-2"/>
          <c:y val="0.10648148148148148"/>
          <c:w val="0.8699050743657043"/>
          <c:h val="0.73668926800816559"/>
        </c:manualLayout>
      </c:layout>
      <c:scatterChart>
        <c:scatterStyle val="smoothMarker"/>
        <c:varyColors val="0"/>
        <c:ser>
          <c:idx val="1"/>
          <c:order val="0"/>
          <c:spPr>
            <a:ln w="19050" cap="rnd">
              <a:solidFill>
                <a:schemeClr val="accent2"/>
              </a:solidFill>
              <a:round/>
            </a:ln>
            <a:effectLst/>
          </c:spPr>
          <c:marker>
            <c:symbol val="none"/>
          </c:marker>
          <c:yVal>
            <c:numRef>
              <c:f>Sheet1!$C$314:$C$1000</c:f>
              <c:numCache>
                <c:formatCode>General</c:formatCode>
                <c:ptCount val="687"/>
                <c:pt idx="0">
                  <c:v>1.5926529164868282E-3</c:v>
                </c:pt>
                <c:pt idx="1">
                  <c:v>-8.4072473671486184E-3</c:v>
                </c:pt>
                <c:pt idx="2">
                  <c:v>-1.8406306933053809E-2</c:v>
                </c:pt>
                <c:pt idx="3">
                  <c:v>-2.840352588360379E-2</c:v>
                </c:pt>
                <c:pt idx="4">
                  <c:v>-3.8397904505235378E-2</c:v>
                </c:pt>
                <c:pt idx="5">
                  <c:v>-4.838844336841415E-2</c:v>
                </c:pt>
                <c:pt idx="6">
                  <c:v>-5.8374143427580086E-2</c:v>
                </c:pt>
                <c:pt idx="7">
                  <c:v>-6.8354006121047778E-2</c:v>
                </c:pt>
                <c:pt idx="8">
                  <c:v>-7.8327033470865295E-2</c:v>
                </c:pt>
                <c:pt idx="9">
                  <c:v>-8.8292228182607596E-2</c:v>
                </c:pt>
                <c:pt idx="10">
                  <c:v>-9.8248593745108678E-2</c:v>
                </c:pt>
                <c:pt idx="11">
                  <c:v>-0.10819513453010837</c:v>
                </c:pt>
                <c:pt idx="12">
                  <c:v>-0.11813085589181738</c:v>
                </c:pt>
                <c:pt idx="13">
                  <c:v>-0.12805476426637968</c:v>
                </c:pt>
                <c:pt idx="14">
                  <c:v>-0.13796586727122684</c:v>
                </c:pt>
                <c:pt idx="15">
                  <c:v>-0.14786317380431852</c:v>
                </c:pt>
                <c:pt idx="16">
                  <c:v>-0.15774569414324821</c:v>
                </c:pt>
                <c:pt idx="17">
                  <c:v>-0.16761244004421832</c:v>
                </c:pt>
                <c:pt idx="18">
                  <c:v>-0.17746242484086014</c:v>
                </c:pt>
                <c:pt idx="19">
                  <c:v>-0.18729466354290317</c:v>
                </c:pt>
                <c:pt idx="20">
                  <c:v>-0.19710817293466984</c:v>
                </c:pt>
                <c:pt idx="21">
                  <c:v>-0.20690197167339977</c:v>
                </c:pt>
                <c:pt idx="22">
                  <c:v>-0.21667508038737962</c:v>
                </c:pt>
                <c:pt idx="23">
                  <c:v>-0.22642652177388314</c:v>
                </c:pt>
                <c:pt idx="24">
                  <c:v>-0.23615532069689699</c:v>
                </c:pt>
                <c:pt idx="25">
                  <c:v>-0.24586050428463702</c:v>
                </c:pt>
                <c:pt idx="26">
                  <c:v>-0.25554110202683122</c:v>
                </c:pt>
                <c:pt idx="27">
                  <c:v>-0.26519614587177337</c:v>
                </c:pt>
                <c:pt idx="28">
                  <c:v>-0.27482467032312402</c:v>
                </c:pt>
                <c:pt idx="29">
                  <c:v>-0.28442571253646254</c:v>
                </c:pt>
                <c:pt idx="30">
                  <c:v>-0.29399831241556762</c:v>
                </c:pt>
                <c:pt idx="31">
                  <c:v>-0.30354151270842933</c:v>
                </c:pt>
                <c:pt idx="32">
                  <c:v>-0.31305435910297019</c:v>
                </c:pt>
                <c:pt idx="33">
                  <c:v>-0.32253590032247897</c:v>
                </c:pt>
                <c:pt idx="34">
                  <c:v>-0.33198518822073408</c:v>
                </c:pt>
                <c:pt idx="35">
                  <c:v>-0.34140127787682095</c:v>
                </c:pt>
                <c:pt idx="36">
                  <c:v>-0.35078322768961984</c:v>
                </c:pt>
                <c:pt idx="37">
                  <c:v>-0.36013009947196817</c:v>
                </c:pt>
                <c:pt idx="38">
                  <c:v>-0.36944095854447712</c:v>
                </c:pt>
                <c:pt idx="39">
                  <c:v>-0.3787148738289976</c:v>
                </c:pt>
                <c:pt idx="40">
                  <c:v>-0.38795091794173031</c:v>
                </c:pt>
                <c:pt idx="41">
                  <c:v>-0.39714816728595981</c:v>
                </c:pt>
                <c:pt idx="42">
                  <c:v>-0.4063057021444168</c:v>
                </c:pt>
                <c:pt idx="43">
                  <c:v>-0.41542260677124587</c:v>
                </c:pt>
                <c:pt idx="44">
                  <c:v>-0.42449796948358259</c:v>
                </c:pt>
                <c:pt idx="45">
                  <c:v>-0.43353088275271773</c:v>
                </c:pt>
                <c:pt idx="46">
                  <c:v>-0.44252044329485246</c:v>
                </c:pt>
                <c:pt idx="47">
                  <c:v>-0.45146575216142315</c:v>
                </c:pt>
                <c:pt idx="48">
                  <c:v>-0.4603659148289983</c:v>
                </c:pt>
                <c:pt idx="49">
                  <c:v>-0.46922004128872713</c:v>
                </c:pt>
                <c:pt idx="50">
                  <c:v>-0.47802724613534286</c:v>
                </c:pt>
                <c:pt idx="51">
                  <c:v>-0.48678664865569937</c:v>
                </c:pt>
                <c:pt idx="52">
                  <c:v>-0.49549737291684492</c:v>
                </c:pt>
                <c:pt idx="53">
                  <c:v>-0.50415854785361147</c:v>
                </c:pt>
                <c:pt idx="54">
                  <c:v>-0.51276930735572379</c:v>
                </c:pt>
                <c:pt idx="55">
                  <c:v>-0.52132879035440649</c:v>
                </c:pt>
                <c:pt idx="56">
                  <c:v>-0.5298361409084934</c:v>
                </c:pt>
                <c:pt idx="57">
                  <c:v>-0.53829050829001768</c:v>
                </c:pt>
                <c:pt idx="58">
                  <c:v>-0.54669104706928717</c:v>
                </c:pt>
                <c:pt idx="59">
                  <c:v>-0.55503691719942383</c:v>
                </c:pt>
                <c:pt idx="60">
                  <c:v>-0.56332728410037003</c:v>
                </c:pt>
                <c:pt idx="61">
                  <c:v>-0.57156131874234373</c:v>
                </c:pt>
                <c:pt idx="62">
                  <c:v>-0.5797381977287428</c:v>
                </c:pt>
                <c:pt idx="63">
                  <c:v>-0.58785710337848274</c:v>
                </c:pt>
                <c:pt idx="64">
                  <c:v>-0.59591722380776391</c:v>
                </c:pt>
                <c:pt idx="65">
                  <c:v>-0.60391775301126061</c:v>
                </c:pt>
                <c:pt idx="66">
                  <c:v>-0.61185789094271892</c:v>
                </c:pt>
                <c:pt idx="67">
                  <c:v>-0.61973684359496328</c:v>
                </c:pt>
                <c:pt idx="68">
                  <c:v>-0.6275538230792933</c:v>
                </c:pt>
                <c:pt idx="69">
                  <c:v>-0.63530804770427562</c:v>
                </c:pt>
                <c:pt idx="70">
                  <c:v>-0.64299874205390883</c:v>
                </c:pt>
                <c:pt idx="71">
                  <c:v>-0.65062513706516734</c:v>
                </c:pt>
                <c:pt idx="72">
                  <c:v>-0.65818647010490494</c:v>
                </c:pt>
                <c:pt idx="73">
                  <c:v>-0.6656819850461192</c:v>
                </c:pt>
                <c:pt idx="74">
                  <c:v>-0.67311093234356167</c:v>
                </c:pt>
                <c:pt idx="75">
                  <c:v>-0.68047256910869403</c:v>
                </c:pt>
                <c:pt idx="76">
                  <c:v>-0.68776615918397377</c:v>
                </c:pt>
                <c:pt idx="77">
                  <c:v>-0.69499097321647196</c:v>
                </c:pt>
                <c:pt idx="78">
                  <c:v>-0.70214628873080542</c:v>
                </c:pt>
                <c:pt idx="79">
                  <c:v>-0.70923139020138615</c:v>
                </c:pt>
                <c:pt idx="80">
                  <c:v>-0.71624556912397053</c:v>
                </c:pt>
                <c:pt idx="81">
                  <c:v>-0.72318812408651212</c:v>
                </c:pt>
                <c:pt idx="82">
                  <c:v>-0.73005836083929954</c:v>
                </c:pt>
                <c:pt idx="83">
                  <c:v>-0.73685559236438336</c:v>
                </c:pt>
                <c:pt idx="84">
                  <c:v>-0.74357913894427463</c:v>
                </c:pt>
                <c:pt idx="85">
                  <c:v>-0.75022832822991903</c:v>
                </c:pt>
                <c:pt idx="86">
                  <c:v>-0.7568024953079282</c:v>
                </c:pt>
                <c:pt idx="87">
                  <c:v>-0.76330098276707337</c:v>
                </c:pt>
                <c:pt idx="88">
                  <c:v>-0.76972314076402382</c:v>
                </c:pt>
                <c:pt idx="89">
                  <c:v>-0.77606832708833229</c:v>
                </c:pt>
                <c:pt idx="90">
                  <c:v>-0.7823359072266528</c:v>
                </c:pt>
                <c:pt idx="91">
                  <c:v>-0.78852525442619503</c:v>
                </c:pt>
                <c:pt idx="92">
                  <c:v>-0.79463574975739681</c:v>
                </c:pt>
                <c:pt idx="93">
                  <c:v>-0.80066678217581766</c:v>
                </c:pt>
                <c:pt idx="94">
                  <c:v>-0.80661774858324053</c:v>
                </c:pt>
                <c:pt idx="95">
                  <c:v>-0.81248805388798429</c:v>
                </c:pt>
                <c:pt idx="96">
                  <c:v>-0.81827711106441026</c:v>
                </c:pt>
                <c:pt idx="97">
                  <c:v>-0.82398434121162578</c:v>
                </c:pt>
                <c:pt idx="98">
                  <c:v>-0.82960917361137088</c:v>
                </c:pt>
                <c:pt idx="99">
                  <c:v>-0.83515104578509347</c:v>
                </c:pt>
                <c:pt idx="100">
                  <c:v>-0.84060940355019453</c:v>
                </c:pt>
                <c:pt idx="101">
                  <c:v>-0.84598370107544651</c:v>
                </c:pt>
                <c:pt idx="102">
                  <c:v>-0.85127340093557446</c:v>
                </c:pt>
                <c:pt idx="103">
                  <c:v>-0.85647797416500115</c:v>
                </c:pt>
                <c:pt idx="104">
                  <c:v>-0.86159690031074054</c:v>
                </c:pt>
                <c:pt idx="105">
                  <c:v>-0.86662966748444425</c:v>
                </c:pt>
                <c:pt idx="106">
                  <c:v>-0.87157577241358819</c:v>
                </c:pt>
                <c:pt idx="107">
                  <c:v>-0.87643472049180138</c:v>
                </c:pt>
                <c:pt idx="108">
                  <c:v>-0.8812060258283253</c:v>
                </c:pt>
                <c:pt idx="109">
                  <c:v>-0.8858892112966027</c:v>
                </c:pt>
                <c:pt idx="110">
                  <c:v>-0.8904838085819885</c:v>
                </c:pt>
                <c:pt idx="111">
                  <c:v>-0.8949893582285835</c:v>
                </c:pt>
                <c:pt idx="112">
                  <c:v>-0.89940540968517768</c:v>
                </c:pt>
                <c:pt idx="113">
                  <c:v>-0.90373152135030532</c:v>
                </c:pt>
                <c:pt idx="114">
                  <c:v>-0.90796726061640542</c:v>
                </c:pt>
                <c:pt idx="115">
                  <c:v>-0.91211220391308034</c:v>
                </c:pt>
                <c:pt idx="116">
                  <c:v>-0.9161659367494549</c:v>
                </c:pt>
                <c:pt idx="117">
                  <c:v>-0.92012805375562368</c:v>
                </c:pt>
                <c:pt idx="118">
                  <c:v>-0.92399815872318791</c:v>
                </c:pt>
                <c:pt idx="119">
                  <c:v>-0.92777586464487549</c:v>
                </c:pt>
                <c:pt idx="120">
                  <c:v>-0.93146079375324253</c:v>
                </c:pt>
                <c:pt idx="121">
                  <c:v>-0.93505257755844906</c:v>
                </c:pt>
                <c:pt idx="122">
                  <c:v>-0.93855085688510786</c:v>
                </c:pt>
                <c:pt idx="123">
                  <c:v>-0.94195528190820099</c:v>
                </c:pt>
                <c:pt idx="124">
                  <c:v>-0.94526551218806332</c:v>
                </c:pt>
                <c:pt idx="125">
                  <c:v>-0.94848121670442564</c:v>
                </c:pt>
                <c:pt idx="126">
                  <c:v>-0.95160207388951601</c:v>
                </c:pt>
                <c:pt idx="127">
                  <c:v>-0.9546277716602164</c:v>
                </c:pt>
                <c:pt idx="128">
                  <c:v>-0.95755800744927111</c:v>
                </c:pt>
                <c:pt idx="129">
                  <c:v>-0.96039248823554335</c:v>
                </c:pt>
                <c:pt idx="130">
                  <c:v>-0.96313093057331667</c:v>
                </c:pt>
                <c:pt idx="131">
                  <c:v>-0.96577306062063883</c:v>
                </c:pt>
                <c:pt idx="132">
                  <c:v>-0.96831861416670717</c:v>
                </c:pt>
                <c:pt idx="133">
                  <c:v>-0.97076733665828829</c:v>
                </c:pt>
                <c:pt idx="134">
                  <c:v>-0.97311898322517387</c:v>
                </c:pt>
                <c:pt idx="135">
                  <c:v>-0.97537331870466648</c:v>
                </c:pt>
                <c:pt idx="136">
                  <c:v>-0.97753011766509701</c:v>
                </c:pt>
                <c:pt idx="137">
                  <c:v>-0.97958916442836685</c:v>
                </c:pt>
                <c:pt idx="138">
                  <c:v>-0.98155025309151533</c:v>
                </c:pt>
                <c:pt idx="139">
                  <c:v>-0.98341318754731077</c:v>
                </c:pt>
                <c:pt idx="140">
                  <c:v>-0.98517778150385948</c:v>
                </c:pt>
                <c:pt idx="141">
                  <c:v>-0.98684385850323653</c:v>
                </c:pt>
                <c:pt idx="142">
                  <c:v>-0.98841125193913049</c:v>
                </c:pt>
                <c:pt idx="143">
                  <c:v>-0.98987980507350393</c:v>
                </c:pt>
                <c:pt idx="144">
                  <c:v>-0.99124937105226696</c:v>
                </c:pt>
                <c:pt idx="145">
                  <c:v>-0.99251981291996316</c:v>
                </c:pt>
                <c:pt idx="146">
                  <c:v>-0.99369100363346441</c:v>
                </c:pt>
                <c:pt idx="147">
                  <c:v>-0.99476282607467559</c:v>
                </c:pt>
                <c:pt idx="148">
                  <c:v>-0.99573517306224535</c:v>
                </c:pt>
                <c:pt idx="149">
                  <c:v>-0.99660794736228553</c:v>
                </c:pt>
                <c:pt idx="150">
                  <c:v>-0.99738106169809326</c:v>
                </c:pt>
                <c:pt idx="151">
                  <c:v>-0.99805443875887945</c:v>
                </c:pt>
                <c:pt idx="152">
                  <c:v>-0.99862801120749889</c:v>
                </c:pt>
                <c:pt idx="153">
                  <c:v>-0.99910172168718481</c:v>
                </c:pt>
                <c:pt idx="154">
                  <c:v>-0.99947552282728402</c:v>
                </c:pt>
                <c:pt idx="155">
                  <c:v>-0.99974937724799395</c:v>
                </c:pt>
                <c:pt idx="156">
                  <c:v>-0.99992325756410083</c:v>
                </c:pt>
                <c:pt idx="157">
                  <c:v>-0.99999714638771797</c:v>
                </c:pt>
                <c:pt idx="158">
                  <c:v>-0.99997103633002449</c:v>
                </c:pt>
                <c:pt idx="159">
                  <c:v>-0.99984493000200436</c:v>
                </c:pt>
                <c:pt idx="160">
                  <c:v>-0.99961884001418544</c:v>
                </c:pt>
                <c:pt idx="161">
                  <c:v>-0.99929278897537799</c:v>
                </c:pt>
                <c:pt idx="162">
                  <c:v>-0.99886680949041418</c:v>
                </c:pt>
                <c:pt idx="163">
                  <c:v>-0.99834094415688757</c:v>
                </c:pt>
                <c:pt idx="164">
                  <c:v>-0.9977152455608933</c:v>
                </c:pt>
                <c:pt idx="165">
                  <c:v>-0.99698977627176955</c:v>
                </c:pt>
                <c:pt idx="166">
                  <c:v>-0.99616460883584068</c:v>
                </c:pt>
                <c:pt idx="167">
                  <c:v>-0.9952398257691627</c:v>
                </c:pt>
                <c:pt idx="168">
                  <c:v>-0.99421551954927134</c:v>
                </c:pt>
                <c:pt idx="169">
                  <c:v>-0.99309179260593539</c:v>
                </c:pt>
                <c:pt idx="170">
                  <c:v>-0.99186875731091262</c:v>
                </c:pt>
                <c:pt idx="171">
                  <c:v>-0.99054653596671327</c:v>
                </c:pt>
                <c:pt idx="172">
                  <c:v>-0.9891252607943698</c:v>
                </c:pt>
                <c:pt idx="173">
                  <c:v>-0.98760507392021535</c:v>
                </c:pt>
                <c:pt idx="174">
                  <c:v>-0.98598612736167035</c:v>
                </c:pt>
                <c:pt idx="175">
                  <c:v>-0.98426858301204156</c:v>
                </c:pt>
                <c:pt idx="176">
                  <c:v>-0.98245261262433248</c:v>
                </c:pt>
                <c:pt idx="177">
                  <c:v>-0.98053839779406893</c:v>
                </c:pt>
                <c:pt idx="178">
                  <c:v>-0.97852612994113852</c:v>
                </c:pt>
                <c:pt idx="179">
                  <c:v>-0.97641601029064973</c:v>
                </c:pt>
                <c:pt idx="180">
                  <c:v>-0.97420824985280907</c:v>
                </c:pt>
                <c:pt idx="181">
                  <c:v>-0.97190306940182081</c:v>
                </c:pt>
                <c:pt idx="182">
                  <c:v>-0.96950069945380879</c:v>
                </c:pt>
                <c:pt idx="183">
                  <c:v>-0.96700138024376603</c:v>
                </c:pt>
                <c:pt idx="184">
                  <c:v>-0.96440536170153046</c:v>
                </c:pt>
                <c:pt idx="185">
                  <c:v>-0.96171290342679339</c:v>
                </c:pt>
                <c:pt idx="186">
                  <c:v>-0.95892427466313845</c:v>
                </c:pt>
                <c:pt idx="187">
                  <c:v>-0.95603975427111809</c:v>
                </c:pt>
                <c:pt idx="188">
                  <c:v>-0.9530596307003677</c:v>
                </c:pt>
                <c:pt idx="189">
                  <c:v>-0.94998420196076083</c:v>
                </c:pt>
                <c:pt idx="190">
                  <c:v>-0.94681377559260893</c:v>
                </c:pt>
                <c:pt idx="191">
                  <c:v>-0.94354866863590658</c:v>
                </c:pt>
                <c:pt idx="192">
                  <c:v>-0.94018920759862867</c:v>
                </c:pt>
                <c:pt idx="193">
                  <c:v>-0.93673572842407893</c:v>
                </c:pt>
                <c:pt idx="194">
                  <c:v>-0.93318857645729758</c:v>
                </c:pt>
                <c:pt idx="195">
                  <c:v>-0.9295481064105251</c:v>
                </c:pt>
                <c:pt idx="196">
                  <c:v>-0.92581468232773245</c:v>
                </c:pt>
                <c:pt idx="197">
                  <c:v>-0.92198867754821623</c:v>
                </c:pt>
                <c:pt idx="198">
                  <c:v>-0.91807047466926694</c:v>
                </c:pt>
                <c:pt idx="199">
                  <c:v>-0.91406046550790698</c:v>
                </c:pt>
                <c:pt idx="200">
                  <c:v>-0.9099590510617106</c:v>
                </c:pt>
                <c:pt idx="201">
                  <c:v>-0.90576664146870445</c:v>
                </c:pt>
                <c:pt idx="202">
                  <c:v>-0.90148365596635482</c:v>
                </c:pt>
                <c:pt idx="203">
                  <c:v>-0.89711052284964243</c:v>
                </c:pt>
                <c:pt idx="204">
                  <c:v>-0.89264767942823464</c:v>
                </c:pt>
                <c:pt idx="205">
                  <c:v>-0.88809557198275424</c:v>
                </c:pt>
                <c:pt idx="206">
                  <c:v>-0.88345465572015314</c:v>
                </c:pt>
                <c:pt idx="207">
                  <c:v>-0.87872539472818989</c:v>
                </c:pt>
                <c:pt idx="208">
                  <c:v>-0.87390826192902238</c:v>
                </c:pt>
                <c:pt idx="209">
                  <c:v>-0.86900373903191608</c:v>
                </c:pt>
                <c:pt idx="210">
                  <c:v>-0.86401231648507437</c:v>
                </c:pt>
                <c:pt idx="211">
                  <c:v>-0.85893449342659201</c:v>
                </c:pt>
                <c:pt idx="212">
                  <c:v>-0.85377077763454334</c:v>
                </c:pt>
                <c:pt idx="213">
                  <c:v>-0.84852168547620455</c:v>
                </c:pt>
                <c:pt idx="214">
                  <c:v>-0.84318774185641676</c:v>
                </c:pt>
                <c:pt idx="215">
                  <c:v>-0.83776948016509778</c:v>
                </c:pt>
                <c:pt idx="216">
                  <c:v>-0.83226744222390125</c:v>
                </c:pt>
                <c:pt idx="217">
                  <c:v>-0.82668217823203627</c:v>
                </c:pt>
                <c:pt idx="218">
                  <c:v>-0.82101424671124701</c:v>
                </c:pt>
                <c:pt idx="219">
                  <c:v>-0.81526421444996344</c:v>
                </c:pt>
                <c:pt idx="220">
                  <c:v>-0.80943265644661944</c:v>
                </c:pt>
                <c:pt idx="221">
                  <c:v>-0.80352015585215586</c:v>
                </c:pt>
                <c:pt idx="222">
                  <c:v>-0.79752730391170423</c:v>
                </c:pt>
                <c:pt idx="223">
                  <c:v>-0.79145469990546602</c:v>
                </c:pt>
                <c:pt idx="224">
                  <c:v>-0.78530295108878057</c:v>
                </c:pt>
                <c:pt idx="225">
                  <c:v>-0.77907267263140312</c:v>
                </c:pt>
                <c:pt idx="226">
                  <c:v>-0.77276448755598715</c:v>
                </c:pt>
                <c:pt idx="227">
                  <c:v>-0.76637902667578439</c:v>
                </c:pt>
                <c:pt idx="228">
                  <c:v>-0.75991692853156101</c:v>
                </c:pt>
                <c:pt idx="229">
                  <c:v>-0.75337883932774652</c:v>
                </c:pt>
                <c:pt idx="230">
                  <c:v>-0.74676541286781228</c:v>
                </c:pt>
                <c:pt idx="231">
                  <c:v>-0.74007731048889436</c:v>
                </c:pt>
                <c:pt idx="232">
                  <c:v>-0.7333152009956565</c:v>
                </c:pt>
                <c:pt idx="233">
                  <c:v>-0.72647976059341313</c:v>
                </c:pt>
                <c:pt idx="234">
                  <c:v>-0.71957167282050749</c:v>
                </c:pt>
                <c:pt idx="235">
                  <c:v>-0.71259162847996149</c:v>
                </c:pt>
                <c:pt idx="236">
                  <c:v>-0.70554032557039192</c:v>
                </c:pt>
                <c:pt idx="237">
                  <c:v>-0.69841846921621353</c:v>
                </c:pt>
                <c:pt idx="238">
                  <c:v>-0.69122677159712709</c:v>
                </c:pt>
                <c:pt idx="239">
                  <c:v>-0.68396595187690068</c:v>
                </c:pt>
                <c:pt idx="240">
                  <c:v>-0.67663673613145692</c:v>
                </c:pt>
                <c:pt idx="241">
                  <c:v>-0.66923985727626201</c:v>
                </c:pt>
                <c:pt idx="242">
                  <c:v>-0.6617760549930376</c:v>
                </c:pt>
                <c:pt idx="243">
                  <c:v>-0.6542460756557914</c:v>
                </c:pt>
                <c:pt idx="244">
                  <c:v>-0.64665067225618345</c:v>
                </c:pt>
                <c:pt idx="245">
                  <c:v>-0.63899060432822374</c:v>
                </c:pt>
                <c:pt idx="246">
                  <c:v>-0.63126663787232162</c:v>
                </c:pt>
                <c:pt idx="247">
                  <c:v>-0.62347954527868532</c:v>
                </c:pt>
                <c:pt idx="248">
                  <c:v>-0.61563010525008632</c:v>
                </c:pt>
                <c:pt idx="249">
                  <c:v>-0.60771910272398577</c:v>
                </c:pt>
                <c:pt idx="250">
                  <c:v>-0.5997473287940438</c:v>
                </c:pt>
                <c:pt idx="251">
                  <c:v>-0.59171558063100937</c:v>
                </c:pt>
                <c:pt idx="252">
                  <c:v>-0.58362466140300728</c:v>
                </c:pt>
                <c:pt idx="253">
                  <c:v>-0.57547538019521716</c:v>
                </c:pt>
                <c:pt idx="254">
                  <c:v>-0.56726855192896863</c:v>
                </c:pt>
                <c:pt idx="255">
                  <c:v>-0.55900499728024877</c:v>
                </c:pt>
                <c:pt idx="256">
                  <c:v>-0.55068554259763758</c:v>
                </c:pt>
                <c:pt idx="257">
                  <c:v>-0.54231101981966978</c:v>
                </c:pt>
                <c:pt idx="258">
                  <c:v>-0.53388226639164427</c:v>
                </c:pt>
                <c:pt idx="259">
                  <c:v>-0.52540012518187929</c:v>
                </c:pt>
                <c:pt idx="260">
                  <c:v>-0.51686544439742876</c:v>
                </c:pt>
                <c:pt idx="261">
                  <c:v>-0.50827907749925838</c:v>
                </c:pt>
                <c:pt idx="262">
                  <c:v>-0.49964188311690244</c:v>
                </c:pt>
                <c:pt idx="263">
                  <c:v>-0.49095472496260173</c:v>
                </c:pt>
                <c:pt idx="264">
                  <c:v>-0.48221847174493154</c:v>
                </c:pt>
                <c:pt idx="265">
                  <c:v>-0.47343399708193507</c:v>
                </c:pt>
                <c:pt idx="266">
                  <c:v>-0.46460217941375737</c:v>
                </c:pt>
                <c:pt idx="267">
                  <c:v>-0.4557239019148055</c:v>
                </c:pt>
                <c:pt idx="268">
                  <c:v>-0.44680005240543003</c:v>
                </c:pt>
                <c:pt idx="269">
                  <c:v>-0.43783152326314689</c:v>
                </c:pt>
                <c:pt idx="270">
                  <c:v>-0.4288192113333959</c:v>
                </c:pt>
                <c:pt idx="271">
                  <c:v>-0.41976401783985967</c:v>
                </c:pt>
                <c:pt idx="272">
                  <c:v>-0.41066684829434086</c:v>
                </c:pt>
                <c:pt idx="273">
                  <c:v>-0.40152861240621462</c:v>
                </c:pt>
                <c:pt idx="274">
                  <c:v>-0.39235022399145386</c:v>
                </c:pt>
                <c:pt idx="275">
                  <c:v>-0.38313260088125134</c:v>
                </c:pt>
                <c:pt idx="276">
                  <c:v>-0.37387666483023602</c:v>
                </c:pt>
                <c:pt idx="277">
                  <c:v>-0.36458334142430132</c:v>
                </c:pt>
                <c:pt idx="278">
                  <c:v>-0.35525355998804264</c:v>
                </c:pt>
                <c:pt idx="279">
                  <c:v>-0.34588825349182883</c:v>
                </c:pt>
                <c:pt idx="280">
                  <c:v>-0.33648835845850422</c:v>
                </c:pt>
                <c:pt idx="281">
                  <c:v>-0.32705481486974064</c:v>
                </c:pt>
                <c:pt idx="282">
                  <c:v>-0.31758856607203484</c:v>
                </c:pt>
                <c:pt idx="283">
                  <c:v>-0.30809055868237811</c:v>
                </c:pt>
                <c:pt idx="284">
                  <c:v>-0.29856174249359357</c:v>
                </c:pt>
                <c:pt idx="285">
                  <c:v>-0.28900307037936113</c:v>
                </c:pt>
                <c:pt idx="286">
                  <c:v>-0.27941549819892586</c:v>
                </c:pt>
                <c:pt idx="287">
                  <c:v>-0.26979998470151617</c:v>
                </c:pt>
                <c:pt idx="288">
                  <c:v>-0.2601574914304689</c:v>
                </c:pt>
                <c:pt idx="289">
                  <c:v>-0.25048898262707492</c:v>
                </c:pt>
                <c:pt idx="290">
                  <c:v>-0.24079542513415919</c:v>
                </c:pt>
                <c:pt idx="291">
                  <c:v>-0.23107778829939224</c:v>
                </c:pt>
                <c:pt idx="292">
                  <c:v>-0.22133704387835954</c:v>
                </c:pt>
                <c:pt idx="293">
                  <c:v>-0.21157416593738504</c:v>
                </c:pt>
                <c:pt idx="294">
                  <c:v>-0.20179013075612889</c:v>
                </c:pt>
                <c:pt idx="295">
                  <c:v>-0.19198591672995502</c:v>
                </c:pt>
                <c:pt idx="296">
                  <c:v>-0.18216250427209588</c:v>
                </c:pt>
                <c:pt idx="297">
                  <c:v>-0.17232087571561025</c:v>
                </c:pt>
                <c:pt idx="298">
                  <c:v>-0.16246201521515419</c:v>
                </c:pt>
                <c:pt idx="299">
                  <c:v>-0.15258690864856114</c:v>
                </c:pt>
                <c:pt idx="300">
                  <c:v>-0.14269654351825858</c:v>
                </c:pt>
                <c:pt idx="301">
                  <c:v>-0.13279190885251674</c:v>
                </c:pt>
                <c:pt idx="302">
                  <c:v>-0.12287399510655005</c:v>
                </c:pt>
                <c:pt idx="303">
                  <c:v>-0.11294379406346737</c:v>
                </c:pt>
                <c:pt idx="304">
                  <c:v>-0.10300229873509785</c:v>
                </c:pt>
                <c:pt idx="305">
                  <c:v>-9.3050503262688905E-2</c:v>
                </c:pt>
                <c:pt idx="306">
                  <c:v>-8.3089402817496397E-2</c:v>
                </c:pt>
                <c:pt idx="307">
                  <c:v>-7.3119993501263081E-2</c:v>
                </c:pt>
                <c:pt idx="308">
                  <c:v>-6.3143272246612772E-2</c:v>
                </c:pt>
                <c:pt idx="309">
                  <c:v>-5.3160236717356125E-2</c:v>
                </c:pt>
                <c:pt idx="310">
                  <c:v>-4.317188520872868E-2</c:v>
                </c:pt>
                <c:pt idx="311">
                  <c:v>-3.3179216547556817E-2</c:v>
                </c:pt>
                <c:pt idx="312">
                  <c:v>-2.3183229992379449E-2</c:v>
                </c:pt>
                <c:pt idx="313">
                  <c:v>-1.318492513352214E-2</c:v>
                </c:pt>
                <c:pt idx="314">
                  <c:v>-3.1853017931379904E-3</c:v>
                </c:pt>
                <c:pt idx="315">
                  <c:v>6.8146400747701756E-3</c:v>
                </c:pt>
                <c:pt idx="316">
                  <c:v>1.6813900484349713E-2</c:v>
                </c:pt>
                <c:pt idx="317">
                  <c:v>2.6811479517892353E-2</c:v>
                </c:pt>
                <c:pt idx="318">
                  <c:v>3.6806377425826917E-2</c:v>
                </c:pt>
                <c:pt idx="319">
                  <c:v>4.6797594726689887E-2</c:v>
                </c:pt>
                <c:pt idx="320">
                  <c:v>5.6784132307078052E-2</c:v>
                </c:pt>
                <c:pt idx="321">
                  <c:v>6.6764991521555461E-2</c:v>
                </c:pt>
                <c:pt idx="322">
                  <c:v>7.6739174292518919E-2</c:v>
                </c:pt>
                <c:pt idx="323">
                  <c:v>8.6705683210001327E-2</c:v>
                </c:pt>
                <c:pt idx="324">
                  <c:v>9.666352163141724E-2</c:v>
                </c:pt>
                <c:pt idx="325">
                  <c:v>0.10661169378122266</c:v>
                </c:pt>
                <c:pt idx="326">
                  <c:v>0.11654920485049364</c:v>
                </c:pt>
                <c:pt idx="327">
                  <c:v>0.12647506109640269</c:v>
                </c:pt>
                <c:pt idx="328">
                  <c:v>0.13638826994159764</c:v>
                </c:pt>
                <c:pt idx="329">
                  <c:v>0.14628784007345494</c:v>
                </c:pt>
                <c:pt idx="330">
                  <c:v>0.1561727815432119</c:v>
                </c:pt>
                <c:pt idx="331">
                  <c:v>0.16604210586495721</c:v>
                </c:pt>
                <c:pt idx="332">
                  <c:v>0.17589482611448401</c:v>
                </c:pt>
                <c:pt idx="333">
                  <c:v>0.18572995702797787</c:v>
                </c:pt>
                <c:pt idx="334">
                  <c:v>0.19554651510054424</c:v>
                </c:pt>
                <c:pt idx="335">
                  <c:v>0.20534351868455461</c:v>
                </c:pt>
                <c:pt idx="336">
                  <c:v>0.21511998808781552</c:v>
                </c:pt>
                <c:pt idx="337">
                  <c:v>0.22487494567153371</c:v>
                </c:pt>
                <c:pt idx="338">
                  <c:v>0.23460741594807993</c:v>
                </c:pt>
                <c:pt idx="339">
                  <c:v>0.24431642567853773</c:v>
                </c:pt>
                <c:pt idx="340">
                  <c:v>0.25400100397002312</c:v>
                </c:pt>
                <c:pt idx="341">
                  <c:v>0.26366018237277838</c:v>
                </c:pt>
                <c:pt idx="342">
                  <c:v>0.27329299497701237</c:v>
                </c:pt>
                <c:pt idx="343">
                  <c:v>0.28289847850949296</c:v>
                </c:pt>
                <c:pt idx="344">
                  <c:v>0.29247567242986972</c:v>
                </c:pt>
                <c:pt idx="345">
                  <c:v>0.30202361902673236</c:v>
                </c:pt>
                <c:pt idx="346">
                  <c:v>0.31154136351337786</c:v>
                </c:pt>
                <c:pt idx="347">
                  <c:v>0.32102795412328977</c:v>
                </c:pt>
                <c:pt idx="348">
                  <c:v>0.33048244220531092</c:v>
                </c:pt>
                <c:pt idx="349">
                  <c:v>0.33990388231851271</c:v>
                </c:pt>
                <c:pt idx="350">
                  <c:v>0.34929133232673487</c:v>
                </c:pt>
                <c:pt idx="351">
                  <c:v>0.35864385349280037</c:v>
                </c:pt>
                <c:pt idx="352">
                  <c:v>0.36796051057238466</c:v>
                </c:pt>
                <c:pt idx="353">
                  <c:v>0.37724037190754439</c:v>
                </c:pt>
                <c:pt idx="354">
                  <c:v>0.38648250951987934</c:v>
                </c:pt>
                <c:pt idx="355">
                  <c:v>0.39568599920333081</c:v>
                </c:pt>
                <c:pt idx="356">
                  <c:v>0.4048499206165983</c:v>
                </c:pt>
                <c:pt idx="357">
                  <c:v>0.41397335737517799</c:v>
                </c:pt>
                <c:pt idx="358">
                  <c:v>0.42305539714299684</c:v>
                </c:pt>
                <c:pt idx="359">
                  <c:v>0.43209513172364716</c:v>
                </c:pt>
                <c:pt idx="360">
                  <c:v>0.44109165715120235</c:v>
                </c:pt>
                <c:pt idx="361">
                  <c:v>0.45004407378061762</c:v>
                </c:pt>
                <c:pt idx="362">
                  <c:v>0.45895148637769029</c:v>
                </c:pt>
                <c:pt idx="363">
                  <c:v>0.46781300420858352</c:v>
                </c:pt>
                <c:pt idx="364">
                  <c:v>0.4766277411288995</c:v>
                </c:pt>
                <c:pt idx="365">
                  <c:v>0.48539481567229026</c:v>
                </c:pt>
                <c:pt idx="366">
                  <c:v>0.49411335113860816</c:v>
                </c:pt>
                <c:pt idx="367">
                  <c:v>0.50278247568157197</c:v>
                </c:pt>
                <c:pt idx="368">
                  <c:v>0.51140132239595237</c:v>
                </c:pt>
                <c:pt idx="369">
                  <c:v>0.51996902940425871</c:v>
                </c:pt>
                <c:pt idx="370">
                  <c:v>0.52848473994293077</c:v>
                </c:pt>
                <c:pt idx="371">
                  <c:v>0.53694760244801099</c:v>
                </c:pt>
                <c:pt idx="372">
                  <c:v>0.54535677064030197</c:v>
                </c:pt>
                <c:pt idx="373">
                  <c:v>0.55371140360999072</c:v>
                </c:pt>
                <c:pt idx="374">
                  <c:v>0.562010665900743</c:v>
                </c:pt>
                <c:pt idx="375">
                  <c:v>0.570253727593246</c:v>
                </c:pt>
                <c:pt idx="376">
                  <c:v>0.57843976438820011</c:v>
                </c:pt>
                <c:pt idx="377">
                  <c:v>0.58656795768874637</c:v>
                </c:pt>
                <c:pt idx="378">
                  <c:v>0.59463749468232863</c:v>
                </c:pt>
                <c:pt idx="379">
                  <c:v>0.60264756842197231</c:v>
                </c:pt>
                <c:pt idx="380">
                  <c:v>0.6105973779069791</c:v>
                </c:pt>
                <c:pt idx="381">
                  <c:v>0.61848612816302395</c:v>
                </c:pt>
                <c:pt idx="382">
                  <c:v>0.62631303032165586</c:v>
                </c:pt>
                <c:pt idx="383">
                  <c:v>0.63407730169918142</c:v>
                </c:pt>
                <c:pt idx="384">
                  <c:v>0.64177816587493375</c:v>
                </c:pt>
                <c:pt idx="385">
                  <c:v>0.6494148527689112</c:v>
                </c:pt>
                <c:pt idx="386">
                  <c:v>0.65698659871878906</c:v>
                </c:pt>
                <c:pt idx="387">
                  <c:v>0.66449264655628204</c:v>
                </c:pt>
                <c:pt idx="388">
                  <c:v>0.67193224568286147</c:v>
                </c:pt>
                <c:pt idx="389">
                  <c:v>0.67930465214481484</c:v>
                </c:pt>
                <c:pt idx="390">
                  <c:v>0.68660912870763846</c:v>
                </c:pt>
                <c:pt idx="391">
                  <c:v>0.69384494492976367</c:v>
                </c:pt>
                <c:pt idx="392">
                  <c:v>0.70101137723559814</c:v>
                </c:pt>
                <c:pt idx="393">
                  <c:v>0.70810770898788378</c:v>
                </c:pt>
                <c:pt idx="394">
                  <c:v>0.71513323055935785</c:v>
                </c:pt>
                <c:pt idx="395">
                  <c:v>0.72208723940371844</c:v>
                </c:pt>
                <c:pt idx="396">
                  <c:v>0.72896904012587593</c:v>
                </c:pt>
                <c:pt idx="397">
                  <c:v>0.73577794455149359</c:v>
                </c:pt>
                <c:pt idx="398">
                  <c:v>0.74251327179580184</c:v>
                </c:pt>
                <c:pt idx="399">
                  <c:v>0.74917434833168939</c:v>
                </c:pt>
                <c:pt idx="400">
                  <c:v>0.75576050805705375</c:v>
                </c:pt>
                <c:pt idx="401">
                  <c:v>0.76227109236141122</c:v>
                </c:pt>
                <c:pt idx="402">
                  <c:v>0.76870545019175585</c:v>
                </c:pt>
                <c:pt idx="403">
                  <c:v>0.77506293811766702</c:v>
                </c:pt>
                <c:pt idx="404">
                  <c:v>0.78134292039565001</c:v>
                </c:pt>
                <c:pt idx="405">
                  <c:v>0.78754476903271098</c:v>
                </c:pt>
                <c:pt idx="406">
                  <c:v>0.79366786384915311</c:v>
                </c:pt>
                <c:pt idx="407">
                  <c:v>0.7997115925405982</c:v>
                </c:pt>
                <c:pt idx="408">
                  <c:v>0.80567535073921326</c:v>
                </c:pt>
                <c:pt idx="409">
                  <c:v>0.81155854207414879</c:v>
                </c:pt>
                <c:pt idx="410">
                  <c:v>0.81736057823117292</c:v>
                </c:pt>
                <c:pt idx="411">
                  <c:v>0.82308087901150551</c:v>
                </c:pt>
                <c:pt idx="412">
                  <c:v>0.82871887238983533</c:v>
                </c:pt>
                <c:pt idx="413">
                  <c:v>0.83427399457152296</c:v>
                </c:pt>
                <c:pt idx="414">
                  <c:v>0.83974569004897992</c:v>
                </c:pt>
                <c:pt idx="415">
                  <c:v>0.84513341165721734</c:v>
                </c:pt>
                <c:pt idx="416">
                  <c:v>0.8504366206285644</c:v>
                </c:pt>
                <c:pt idx="417">
                  <c:v>0.85565478664654349</c:v>
                </c:pt>
                <c:pt idx="418">
                  <c:v>0.86078738789890163</c:v>
                </c:pt>
                <c:pt idx="419">
                  <c:v>0.86583391112978991</c:v>
                </c:pt>
                <c:pt idx="420">
                  <c:v>0.87079385169109114</c:v>
                </c:pt>
                <c:pt idx="421">
                  <c:v>0.87566671359288228</c:v>
                </c:pt>
                <c:pt idx="422">
                  <c:v>0.88045200955303438</c:v>
                </c:pt>
                <c:pt idx="423">
                  <c:v>0.88514926104593827</c:v>
                </c:pt>
                <c:pt idx="424">
                  <c:v>0.88975799835035962</c:v>
                </c:pt>
                <c:pt idx="425">
                  <c:v>0.8942777605964084</c:v>
                </c:pt>
                <c:pt idx="426">
                  <c:v>0.89870809581162692</c:v>
                </c:pt>
                <c:pt idx="427">
                  <c:v>0.9030485609661848</c:v>
                </c:pt>
                <c:pt idx="428">
                  <c:v>0.90729872201718398</c:v>
                </c:pt>
                <c:pt idx="429">
                  <c:v>0.91145815395206131</c:v>
                </c:pt>
                <c:pt idx="430">
                  <c:v>0.91552644083108958</c:v>
                </c:pt>
                <c:pt idx="431">
                  <c:v>0.91950317582897068</c:v>
                </c:pt>
                <c:pt idx="432">
                  <c:v>0.92338796127551892</c:v>
                </c:pt>
                <c:pt idx="433">
                  <c:v>0.92718040869542695</c:v>
                </c:pt>
                <c:pt idx="434">
                  <c:v>0.93088013884711363</c:v>
                </c:pt>
                <c:pt idx="435">
                  <c:v>0.93448678176064603</c:v>
                </c:pt>
                <c:pt idx="436">
                  <c:v>0.9379999767747389</c:v>
                </c:pt>
                <c:pt idx="437">
                  <c:v>0.94141937257281827</c:v>
                </c:pt>
                <c:pt idx="438">
                  <c:v>0.94474462721815378</c:v>
                </c:pt>
                <c:pt idx="439">
                  <c:v>0.94797540818805248</c:v>
                </c:pt>
                <c:pt idx="440">
                  <c:v>0.95111139240710896</c:v>
                </c:pt>
                <c:pt idx="441">
                  <c:v>0.95415226627951477</c:v>
                </c:pt>
                <c:pt idx="442">
                  <c:v>0.95709772572041696</c:v>
                </c:pt>
                <c:pt idx="443">
                  <c:v>0.95994747618632614</c:v>
                </c:pt>
                <c:pt idx="444">
                  <c:v>0.96270123270457009</c:v>
                </c:pt>
                <c:pt idx="445">
                  <c:v>0.96535871990179178</c:v>
                </c:pt>
                <c:pt idx="446">
                  <c:v>0.96791967203148632</c:v>
                </c:pt>
                <c:pt idx="447">
                  <c:v>0.97038383300057496</c:v>
                </c:pt>
                <c:pt idx="448">
                  <c:v>0.97275095639501374</c:v>
                </c:pt>
                <c:pt idx="449">
                  <c:v>0.97502080550443626</c:v>
                </c:pt>
                <c:pt idx="450">
                  <c:v>0.97719315334582291</c:v>
                </c:pt>
                <c:pt idx="451">
                  <c:v>0.97926778268619996</c:v>
                </c:pt>
                <c:pt idx="452">
                  <c:v>0.9812444860643621</c:v>
                </c:pt>
                <c:pt idx="453">
                  <c:v>0.98312306581161879</c:v>
                </c:pt>
                <c:pt idx="454">
                  <c:v>0.98490333407156083</c:v>
                </c:pt>
                <c:pt idx="455">
                  <c:v>0.98658511281884587</c:v>
                </c:pt>
                <c:pt idx="456">
                  <c:v>0.98816823387700037</c:v>
                </c:pt>
                <c:pt idx="457">
                  <c:v>0.98965253893523797</c:v>
                </c:pt>
                <c:pt idx="458">
                  <c:v>0.99103787956428979</c:v>
                </c:pt>
                <c:pt idx="459">
                  <c:v>0.99232411723124747</c:v>
                </c:pt>
                <c:pt idx="460">
                  <c:v>0.99351112331341584</c:v>
                </c:pt>
                <c:pt idx="461">
                  <c:v>0.99459877911117611</c:v>
                </c:pt>
                <c:pt idx="462">
                  <c:v>0.99558697585985478</c:v>
                </c:pt>
                <c:pt idx="463">
                  <c:v>0.99647561474060053</c:v>
                </c:pt>
                <c:pt idx="464">
                  <c:v>0.99726460689026586</c:v>
                </c:pt>
                <c:pt idx="465">
                  <c:v>0.99795387341029318</c:v>
                </c:pt>
                <c:pt idx="466">
                  <c:v>0.99854334537460498</c:v>
                </c:pt>
                <c:pt idx="467">
                  <c:v>0.99903296383649587</c:v>
                </c:pt>
                <c:pt idx="468">
                  <c:v>0.99942267983452793</c:v>
                </c:pt>
                <c:pt idx="469">
                  <c:v>0.99971245439742595</c:v>
                </c:pt>
                <c:pt idx="470">
                  <c:v>0.99990225854797521</c:v>
                </c:pt>
                <c:pt idx="471">
                  <c:v>0.99999207330591877</c:v>
                </c:pt>
                <c:pt idx="472">
                  <c:v>0.99998188968985557</c:v>
                </c:pt>
                <c:pt idx="473">
                  <c:v>0.99987170871813902</c:v>
                </c:pt>
                <c:pt idx="474">
                  <c:v>0.99966154140877417</c:v>
                </c:pt>
                <c:pt idx="475">
                  <c:v>0.99935140877831696</c:v>
                </c:pt>
                <c:pt idx="476">
                  <c:v>0.99894134183977201</c:v>
                </c:pt>
                <c:pt idx="477">
                  <c:v>0.99843138159949141</c:v>
                </c:pt>
                <c:pt idx="478">
                  <c:v>0.99782157905307434</c:v>
                </c:pt>
                <c:pt idx="479">
                  <c:v>0.99711199518026705</c:v>
                </c:pt>
                <c:pt idx="480">
                  <c:v>0.99630270093886564</c:v>
                </c:pt>
                <c:pt idx="481">
                  <c:v>0.99539377725761991</c:v>
                </c:pt>
                <c:pt idx="482">
                  <c:v>0.99438531502814043</c:v>
                </c:pt>
                <c:pt idx="483">
                  <c:v>0.9932774150958098</c:v>
                </c:pt>
                <c:pt idx="484">
                  <c:v>0.99207018824969795</c:v>
                </c:pt>
                <c:pt idx="485">
                  <c:v>0.99076375521148352</c:v>
                </c:pt>
                <c:pt idx="486">
                  <c:v>0.98935824662338179</c:v>
                </c:pt>
                <c:pt idx="487">
                  <c:v>0.98785380303508008</c:v>
                </c:pt>
                <c:pt idx="488">
                  <c:v>0.98625057488968371</c:v>
                </c:pt>
                <c:pt idx="489">
                  <c:v>0.98454872250867109</c:v>
                </c:pt>
                <c:pt idx="490">
                  <c:v>0.98274841607586216</c:v>
                </c:pt>
                <c:pt idx="491">
                  <c:v>0.98084983562039951</c:v>
                </c:pt>
                <c:pt idx="492">
                  <c:v>0.97885317099874736</c:v>
                </c:pt>
                <c:pt idx="493">
                  <c:v>0.97675862187570361</c:v>
                </c:pt>
                <c:pt idx="494">
                  <c:v>0.97456639770443498</c:v>
                </c:pt>
                <c:pt idx="495">
                  <c:v>0.97227671770553203</c:v>
                </c:pt>
                <c:pt idx="496">
                  <c:v>0.9698898108450863</c:v>
                </c:pt>
                <c:pt idx="497">
                  <c:v>0.96740591581179491</c:v>
                </c:pt>
                <c:pt idx="498">
                  <c:v>0.96482528099309128</c:v>
                </c:pt>
                <c:pt idx="499">
                  <c:v>0.96214816445030626</c:v>
                </c:pt>
                <c:pt idx="500">
                  <c:v>0.95937483389286415</c:v>
                </c:pt>
                <c:pt idx="501">
                  <c:v>0.9565055666515091</c:v>
                </c:pt>
                <c:pt idx="502">
                  <c:v>0.95354064965057428</c:v>
                </c:pt>
                <c:pt idx="503">
                  <c:v>0.95048037937928886</c:v>
                </c:pt>
                <c:pt idx="504">
                  <c:v>0.94732506186212995</c:v>
                </c:pt>
                <c:pt idx="505">
                  <c:v>0.94407501262821969</c:v>
                </c:pt>
                <c:pt idx="506">
                  <c:v>0.94073055667977312</c:v>
                </c:pt>
                <c:pt idx="507">
                  <c:v>0.93729202845959758</c:v>
                </c:pt>
                <c:pt idx="508">
                  <c:v>0.93375977181765069</c:v>
                </c:pt>
                <c:pt idx="509">
                  <c:v>0.93013413997665262</c:v>
                </c:pt>
                <c:pt idx="510">
                  <c:v>0.92641549549676616</c:v>
                </c:pt>
                <c:pt idx="511">
                  <c:v>0.92260421023934025</c:v>
                </c:pt>
                <c:pt idx="512">
                  <c:v>0.91870066532972472</c:v>
                </c:pt>
                <c:pt idx="513">
                  <c:v>0.91470525111915757</c:v>
                </c:pt>
                <c:pt idx="514">
                  <c:v>0.91061836714573041</c:v>
                </c:pt>
                <c:pt idx="515">
                  <c:v>0.90644042209443476</c:v>
                </c:pt>
                <c:pt idx="516">
                  <c:v>0.90217183375629328</c:v>
                </c:pt>
                <c:pt idx="517">
                  <c:v>0.89781302898658444</c:v>
                </c:pt>
                <c:pt idx="518">
                  <c:v>0.89336444366215195</c:v>
                </c:pt>
                <c:pt idx="519">
                  <c:v>0.88882652263782103</c:v>
                </c:pt>
                <c:pt idx="520">
                  <c:v>0.88419971970191269</c:v>
                </c:pt>
                <c:pt idx="521">
                  <c:v>0.87948449753086488</c:v>
                </c:pt>
                <c:pt idx="522">
                  <c:v>0.87468132764296525</c:v>
                </c:pt>
                <c:pt idx="523">
                  <c:v>0.86979069035119994</c:v>
                </c:pt>
                <c:pt idx="524">
                  <c:v>0.86481307471522184</c:v>
                </c:pt>
                <c:pt idx="525">
                  <c:v>0.85974897849244825</c:v>
                </c:pt>
                <c:pt idx="526">
                  <c:v>0.85459890808828043</c:v>
                </c:pt>
                <c:pt idx="527">
                  <c:v>0.84936337850546728</c:v>
                </c:pt>
                <c:pt idx="528">
                  <c:v>0.84404291329260406</c:v>
                </c:pt>
                <c:pt idx="529">
                  <c:v>0.83863804449177826</c:v>
                </c:pt>
                <c:pt idx="530">
                  <c:v>0.83314931258536595</c:v>
                </c:pt>
                <c:pt idx="531">
                  <c:v>0.82757726644198404</c:v>
                </c:pt>
                <c:pt idx="532">
                  <c:v>0.82192246326160223</c:v>
                </c:pt>
                <c:pt idx="533">
                  <c:v>0.81618546851982832</c:v>
                </c:pt>
                <c:pt idx="534">
                  <c:v>0.81036685591135482</c:v>
                </c:pt>
                <c:pt idx="535">
                  <c:v>0.80446720729259369</c:v>
                </c:pt>
                <c:pt idx="536">
                  <c:v>0.79848711262349026</c:v>
                </c:pt>
                <c:pt idx="537">
                  <c:v>0.79242716990852835</c:v>
                </c:pt>
                <c:pt idx="538">
                  <c:v>0.78628798513692921</c:v>
                </c:pt>
                <c:pt idx="539">
                  <c:v>0.78007017222205433</c:v>
                </c:pt>
                <c:pt idx="540">
                  <c:v>0.7737743529400134</c:v>
                </c:pt>
                <c:pt idx="541">
                  <c:v>0.76740115686748733</c:v>
                </c:pt>
                <c:pt idx="542">
                  <c:v>0.76095122131877435</c:v>
                </c:pt>
                <c:pt idx="543">
                  <c:v>0.75442519128205343</c:v>
                </c:pt>
                <c:pt idx="544">
                  <c:v>0.74782371935488978</c:v>
                </c:pt>
                <c:pt idx="545">
                  <c:v>0.74114746567897516</c:v>
                </c:pt>
                <c:pt idx="546">
                  <c:v>0.73439709787411334</c:v>
                </c:pt>
                <c:pt idx="547">
                  <c:v>0.72757329097145973</c:v>
                </c:pt>
                <c:pt idx="548">
                  <c:v>0.72067672734601806</c:v>
                </c:pt>
                <c:pt idx="549">
                  <c:v>0.7137080966484024</c:v>
                </c:pt>
                <c:pt idx="550">
                  <c:v>0.70666809573587797</c:v>
                </c:pt>
                <c:pt idx="551">
                  <c:v>0.69955742860266801</c:v>
                </c:pt>
                <c:pt idx="552">
                  <c:v>0.69237680630956044</c:v>
                </c:pt>
                <c:pt idx="553">
                  <c:v>0.68512694691280063</c:v>
                </c:pt>
                <c:pt idx="554">
                  <c:v>0.67780857539228678</c:v>
                </c:pt>
                <c:pt idx="555">
                  <c:v>0.67042242357907222</c:v>
                </c:pt>
                <c:pt idx="556">
                  <c:v>0.66296923008218334</c:v>
                </c:pt>
                <c:pt idx="557">
                  <c:v>0.65544974021475733</c:v>
                </c:pt>
                <c:pt idx="558">
                  <c:v>0.64786470591951761</c:v>
                </c:pt>
                <c:pt idx="559">
                  <c:v>0.64021488569357132</c:v>
                </c:pt>
                <c:pt idx="560">
                  <c:v>0.63250104451256628</c:v>
                </c:pt>
                <c:pt idx="561">
                  <c:v>0.62472395375419243</c:v>
                </c:pt>
                <c:pt idx="562">
                  <c:v>0.61688439112104476</c:v>
                </c:pt>
                <c:pt idx="563">
                  <c:v>0.60898314056285352</c:v>
                </c:pt>
                <c:pt idx="564">
                  <c:v>0.60102099219809035</c:v>
                </c:pt>
                <c:pt idx="565">
                  <c:v>0.59299874223495652</c:v>
                </c:pt>
                <c:pt idx="566">
                  <c:v>0.58491719289176169</c:v>
                </c:pt>
                <c:pt idx="567">
                  <c:v>0.57677715231670845</c:v>
                </c:pt>
                <c:pt idx="568">
                  <c:v>0.5685794345070696</c:v>
                </c:pt>
                <c:pt idx="569">
                  <c:v>0.56032485922779474</c:v>
                </c:pt>
                <c:pt idx="570">
                  <c:v>0.55201425192953291</c:v>
                </c:pt>
                <c:pt idx="571">
                  <c:v>0.54364844366608833</c:v>
                </c:pt>
                <c:pt idx="572">
                  <c:v>0.5352282710113162</c:v>
                </c:pt>
                <c:pt idx="573">
                  <c:v>0.52675457597546493</c:v>
                </c:pt>
                <c:pt idx="574">
                  <c:v>0.51822820592097518</c:v>
                </c:pt>
                <c:pt idx="575">
                  <c:v>0.50965001347775041</c:v>
                </c:pt>
                <c:pt idx="576">
                  <c:v>0.50102085645788463</c:v>
                </c:pt>
                <c:pt idx="577">
                  <c:v>0.49234159776988917</c:v>
                </c:pt>
                <c:pt idx="578">
                  <c:v>0.48361310533239998</c:v>
                </c:pt>
                <c:pt idx="579">
                  <c:v>0.47483625198738716</c:v>
                </c:pt>
                <c:pt idx="580">
                  <c:v>0.46601191541287112</c:v>
                </c:pt>
                <c:pt idx="581">
                  <c:v>0.4571409780351558</c:v>
                </c:pt>
                <c:pt idx="582">
                  <c:v>0.44822432694058489</c:v>
                </c:pt>
                <c:pt idx="583">
                  <c:v>0.43926285378684055</c:v>
                </c:pt>
                <c:pt idx="584">
                  <c:v>0.43025745471376869</c:v>
                </c:pt>
                <c:pt idx="585">
                  <c:v>0.42120903025377215</c:v>
                </c:pt>
                <c:pt idx="586">
                  <c:v>0.41211848524175659</c:v>
                </c:pt>
                <c:pt idx="587">
                  <c:v>0.40298672872464775</c:v>
                </c:pt>
                <c:pt idx="588">
                  <c:v>0.39381467387048763</c:v>
                </c:pt>
                <c:pt idx="589">
                  <c:v>0.38460323787711825</c:v>
                </c:pt>
                <c:pt idx="590">
                  <c:v>0.37535334188046277</c:v>
                </c:pt>
                <c:pt idx="591">
                  <c:v>0.36606591086241103</c:v>
                </c:pt>
                <c:pt idx="592">
                  <c:v>0.35674187355832859</c:v>
                </c:pt>
                <c:pt idx="593">
                  <c:v>0.34738216236417424</c:v>
                </c:pt>
                <c:pt idx="594">
                  <c:v>0.3379877132432676</c:v>
                </c:pt>
                <c:pt idx="595">
                  <c:v>0.32855946563269217</c:v>
                </c:pt>
                <c:pt idx="596">
                  <c:v>0.31909836234935213</c:v>
                </c:pt>
                <c:pt idx="597">
                  <c:v>0.30960534949569152</c:v>
                </c:pt>
                <c:pt idx="598">
                  <c:v>0.30008137636508497</c:v>
                </c:pt>
                <c:pt idx="599">
                  <c:v>0.29052739534690719</c:v>
                </c:pt>
                <c:pt idx="600">
                  <c:v>0.28094436183130178</c:v>
                </c:pt>
                <c:pt idx="601">
                  <c:v>0.27133323411363275</c:v>
                </c:pt>
                <c:pt idx="602">
                  <c:v>0.26169497329866259</c:v>
                </c:pt>
                <c:pt idx="603">
                  <c:v>0.25203054320444102</c:v>
                </c:pt>
                <c:pt idx="604">
                  <c:v>0.24234091026592378</c:v>
                </c:pt>
                <c:pt idx="605">
                  <c:v>0.23262704343833002</c:v>
                </c:pt>
                <c:pt idx="606">
                  <c:v>0.22288991410024764</c:v>
                </c:pt>
                <c:pt idx="607">
                  <c:v>0.2131304959564945</c:v>
                </c:pt>
                <c:pt idx="608">
                  <c:v>0.20334976494075557</c:v>
                </c:pt>
                <c:pt idx="609">
                  <c:v>0.19354869911798017</c:v>
                </c:pt>
                <c:pt idx="610">
                  <c:v>0.183728278586583</c:v>
                </c:pt>
                <c:pt idx="611">
                  <c:v>0.17388948538043356</c:v>
                </c:pt>
                <c:pt idx="612">
                  <c:v>0.1640333033706535</c:v>
                </c:pt>
                <c:pt idx="613">
                  <c:v>0.15416071816723032</c:v>
                </c:pt>
                <c:pt idx="614">
                  <c:v>0.14427271702045727</c:v>
                </c:pt>
                <c:pt idx="615">
                  <c:v>0.13437028872220905</c:v>
                </c:pt>
                <c:pt idx="616">
                  <c:v>0.12445442350706171</c:v>
                </c:pt>
                <c:pt idx="617">
                  <c:v>0.11452611295327708</c:v>
                </c:pt>
                <c:pt idx="618">
                  <c:v>0.10458634988363526</c:v>
                </c:pt>
                <c:pt idx="619">
                  <c:v>9.4636128266160052E-2</c:v>
                </c:pt>
                <c:pt idx="620">
                  <c:v>8.4676443114721417E-2</c:v>
                </c:pt>
                <c:pt idx="621">
                  <c:v>7.4708290389534776E-2</c:v>
                </c:pt>
                <c:pt idx="622">
                  <c:v>6.4732666897565891E-2</c:v>
                </c:pt>
                <c:pt idx="623">
                  <c:v>5.4750570192850956E-2</c:v>
                </c:pt>
                <c:pt idx="624">
                  <c:v>4.4762998476740277E-2</c:v>
                </c:pt>
                <c:pt idx="625">
                  <c:v>3.4770950498086081E-2</c:v>
                </c:pt>
                <c:pt idx="626">
                  <c:v>2.4775425453357765E-2</c:v>
                </c:pt>
                <c:pt idx="627">
                  <c:v>1.4777422886730236E-2</c:v>
                </c:pt>
                <c:pt idx="628">
                  <c:v>4.7779425901285115E-3</c:v>
                </c:pt>
                <c:pt idx="629">
                  <c:v>-5.2220154967506198E-3</c:v>
                </c:pt>
                <c:pt idx="630">
                  <c:v>-1.5221451386431743E-2</c:v>
                </c:pt>
                <c:pt idx="631">
                  <c:v>-2.5219365143658721E-2</c:v>
                </c:pt>
                <c:pt idx="632">
                  <c:v>-3.521475698538918E-2</c:v>
                </c:pt>
                <c:pt idx="633">
                  <c:v>-4.5206627380764856E-2</c:v>
                </c:pt>
                <c:pt idx="634">
                  <c:v>-5.5193977151074512E-2</c:v>
                </c:pt>
                <c:pt idx="635">
                  <c:v>-6.5175807569663902E-2</c:v>
                </c:pt>
                <c:pt idx="636">
                  <c:v>-7.5151120461809301E-2</c:v>
                </c:pt>
                <c:pt idx="637">
                  <c:v>-8.5118918304534261E-2</c:v>
                </c:pt>
                <c:pt idx="638">
                  <c:v>-9.5078204326360952E-2</c:v>
                </c:pt>
                <c:pt idx="639">
                  <c:v>-0.10502798260698659</c:v>
                </c:pt>
                <c:pt idx="640">
                  <c:v>-0.11496725817687455</c:v>
                </c:pt>
                <c:pt idx="641">
                  <c:v>-0.12489503711675232</c:v>
                </c:pt>
                <c:pt idx="642">
                  <c:v>-0.13481032665699549</c:v>
                </c:pt>
                <c:pt idx="643">
                  <c:v>-0.14471213527691454</c:v>
                </c:pt>
                <c:pt idx="644">
                  <c:v>-0.15459947280389894</c:v>
                </c:pt>
                <c:pt idx="645">
                  <c:v>-0.16447135051243542</c:v>
                </c:pt>
                <c:pt idx="646">
                  <c:v>-0.17432678122297965</c:v>
                </c:pt>
                <c:pt idx="647">
                  <c:v>-0.18416477940067341</c:v>
                </c:pt>
                <c:pt idx="648">
                  <c:v>-0.19398436125389723</c:v>
                </c:pt>
                <c:pt idx="649">
                  <c:v>-0.20378454483265052</c:v>
                </c:pt>
                <c:pt idx="650">
                  <c:v>-0.21356435012673869</c:v>
                </c:pt>
                <c:pt idx="651">
                  <c:v>-0.22332279916378389</c:v>
                </c:pt>
                <c:pt idx="652">
                  <c:v>-0.2330589161070144</c:v>
                </c:pt>
                <c:pt idx="653">
                  <c:v>-0.24277172735284935</c:v>
                </c:pt>
                <c:pt idx="654">
                  <c:v>-0.25246026162825808</c:v>
                </c:pt>
                <c:pt idx="655">
                  <c:v>-0.2621235500878869</c:v>
                </c:pt>
                <c:pt idx="656">
                  <c:v>-0.27176062641094245</c:v>
                </c:pt>
                <c:pt idx="657">
                  <c:v>-0.28137052689782505</c:v>
                </c:pt>
                <c:pt idx="658">
                  <c:v>-0.2909522905664908</c:v>
                </c:pt>
                <c:pt idx="659">
                  <c:v>-0.30050495924855936</c:v>
                </c:pt>
                <c:pt idx="660">
                  <c:v>-0.31002757768512301</c:v>
                </c:pt>
                <c:pt idx="661">
                  <c:v>-0.31951919362227366</c:v>
                </c:pt>
                <c:pt idx="662">
                  <c:v>-0.32897885790632714</c:v>
                </c:pt>
                <c:pt idx="663">
                  <c:v>-0.33840562457873813</c:v>
                </c:pt>
                <c:pt idx="664">
                  <c:v>-0.34779855097069501</c:v>
                </c:pt>
                <c:pt idx="665">
                  <c:v>-0.35715669779738596</c:v>
                </c:pt>
                <c:pt idx="666">
                  <c:v>-0.36647912925192838</c:v>
                </c:pt>
                <c:pt idx="667">
                  <c:v>-0.37576491309894228</c:v>
                </c:pt>
                <c:pt idx="668">
                  <c:v>-0.38501312076778266</c:v>
                </c:pt>
                <c:pt idx="669">
                  <c:v>-0.39422282744538945</c:v>
                </c:pt>
                <c:pt idx="670">
                  <c:v>-0.40339311216876961</c:v>
                </c:pt>
                <c:pt idx="671">
                  <c:v>-0.41252305791709271</c:v>
                </c:pt>
                <c:pt idx="672">
                  <c:v>-0.42161175170339216</c:v>
                </c:pt>
                <c:pt idx="673">
                  <c:v>-0.43065828466586326</c:v>
                </c:pt>
                <c:pt idx="674">
                  <c:v>-0.43966175215875003</c:v>
                </c:pt>
                <c:pt idx="675">
                  <c:v>-0.44862125384280294</c:v>
                </c:pt>
                <c:pt idx="676">
                  <c:v>-0.45753589377532133</c:v>
                </c:pt>
                <c:pt idx="677">
                  <c:v>-0.46640478049974088</c:v>
                </c:pt>
                <c:pt idx="678">
                  <c:v>-0.47522702713477982</c:v>
                </c:pt>
                <c:pt idx="679">
                  <c:v>-0.48400175146312646</c:v>
                </c:pt>
                <c:pt idx="680">
                  <c:v>-0.49272807601966023</c:v>
                </c:pt>
                <c:pt idx="681">
                  <c:v>-0.50140512817919736</c:v>
                </c:pt>
                <c:pt idx="682">
                  <c:v>-0.51003204024375437</c:v>
                </c:pt>
                <c:pt idx="683">
                  <c:v>-0.51860794952931077</c:v>
                </c:pt>
                <c:pt idx="684">
                  <c:v>-0.52713199845208603</c:v>
                </c:pt>
                <c:pt idx="685">
                  <c:v>-0.53560333461429133</c:v>
                </c:pt>
                <c:pt idx="686">
                  <c:v>-0.54402111088936977</c:v>
                </c:pt>
              </c:numCache>
            </c:numRef>
          </c:yVal>
          <c:smooth val="1"/>
          <c:extLst xmlns:c16r2="http://schemas.microsoft.com/office/drawing/2015/06/chart">
            <c:ext xmlns:c16="http://schemas.microsoft.com/office/drawing/2014/chart" uri="{C3380CC4-5D6E-409C-BE32-E72D297353CC}">
              <c16:uniqueId val="{00000000-A4DA-4149-BC61-BC4F25BC5DC3}"/>
            </c:ext>
          </c:extLst>
        </c:ser>
        <c:ser>
          <c:idx val="0"/>
          <c:order val="1"/>
          <c:spPr>
            <a:ln w="19050" cap="rnd">
              <a:solidFill>
                <a:schemeClr val="accent1"/>
              </a:solidFill>
              <a:round/>
            </a:ln>
            <a:effectLst/>
          </c:spPr>
          <c:marker>
            <c:symbol val="none"/>
          </c:marker>
          <c:yVal>
            <c:numRef>
              <c:f>Sheet1!$C$314:$C$1000</c:f>
              <c:numCache>
                <c:formatCode>General</c:formatCode>
                <c:ptCount val="687"/>
                <c:pt idx="0">
                  <c:v>1.5926529164868282E-3</c:v>
                </c:pt>
                <c:pt idx="1">
                  <c:v>-8.4072473671486184E-3</c:v>
                </c:pt>
                <c:pt idx="2">
                  <c:v>-1.8406306933053809E-2</c:v>
                </c:pt>
                <c:pt idx="3">
                  <c:v>-2.840352588360379E-2</c:v>
                </c:pt>
                <c:pt idx="4">
                  <c:v>-3.8397904505235378E-2</c:v>
                </c:pt>
                <c:pt idx="5">
                  <c:v>-4.838844336841415E-2</c:v>
                </c:pt>
                <c:pt idx="6">
                  <c:v>-5.8374143427580086E-2</c:v>
                </c:pt>
                <c:pt idx="7">
                  <c:v>-6.8354006121047778E-2</c:v>
                </c:pt>
                <c:pt idx="8">
                  <c:v>-7.8327033470865295E-2</c:v>
                </c:pt>
                <c:pt idx="9">
                  <c:v>-8.8292228182607596E-2</c:v>
                </c:pt>
                <c:pt idx="10">
                  <c:v>-9.8248593745108678E-2</c:v>
                </c:pt>
                <c:pt idx="11">
                  <c:v>-0.10819513453010837</c:v>
                </c:pt>
                <c:pt idx="12">
                  <c:v>-0.11813085589181738</c:v>
                </c:pt>
                <c:pt idx="13">
                  <c:v>-0.12805476426637968</c:v>
                </c:pt>
                <c:pt idx="14">
                  <c:v>-0.13796586727122684</c:v>
                </c:pt>
                <c:pt idx="15">
                  <c:v>-0.14786317380431852</c:v>
                </c:pt>
                <c:pt idx="16">
                  <c:v>-0.15774569414324821</c:v>
                </c:pt>
                <c:pt idx="17">
                  <c:v>-0.16761244004421832</c:v>
                </c:pt>
                <c:pt idx="18">
                  <c:v>-0.17746242484086014</c:v>
                </c:pt>
                <c:pt idx="19">
                  <c:v>-0.18729466354290317</c:v>
                </c:pt>
                <c:pt idx="20">
                  <c:v>-0.19710817293466984</c:v>
                </c:pt>
                <c:pt idx="21">
                  <c:v>-0.20690197167339977</c:v>
                </c:pt>
                <c:pt idx="22">
                  <c:v>-0.21667508038737962</c:v>
                </c:pt>
                <c:pt idx="23">
                  <c:v>-0.22642652177388314</c:v>
                </c:pt>
                <c:pt idx="24">
                  <c:v>-0.23615532069689699</c:v>
                </c:pt>
                <c:pt idx="25">
                  <c:v>-0.24586050428463702</c:v>
                </c:pt>
                <c:pt idx="26">
                  <c:v>-0.25554110202683122</c:v>
                </c:pt>
                <c:pt idx="27">
                  <c:v>-0.26519614587177337</c:v>
                </c:pt>
                <c:pt idx="28">
                  <c:v>-0.27482467032312402</c:v>
                </c:pt>
                <c:pt idx="29">
                  <c:v>-0.28442571253646254</c:v>
                </c:pt>
                <c:pt idx="30">
                  <c:v>-0.29399831241556762</c:v>
                </c:pt>
                <c:pt idx="31">
                  <c:v>-0.30354151270842933</c:v>
                </c:pt>
                <c:pt idx="32">
                  <c:v>-0.31305435910297019</c:v>
                </c:pt>
                <c:pt idx="33">
                  <c:v>-0.32253590032247897</c:v>
                </c:pt>
                <c:pt idx="34">
                  <c:v>-0.33198518822073408</c:v>
                </c:pt>
                <c:pt idx="35">
                  <c:v>-0.34140127787682095</c:v>
                </c:pt>
                <c:pt idx="36">
                  <c:v>-0.35078322768961984</c:v>
                </c:pt>
                <c:pt idx="37">
                  <c:v>-0.36013009947196817</c:v>
                </c:pt>
                <c:pt idx="38">
                  <c:v>-0.36944095854447712</c:v>
                </c:pt>
                <c:pt idx="39">
                  <c:v>-0.3787148738289976</c:v>
                </c:pt>
                <c:pt idx="40">
                  <c:v>-0.38795091794173031</c:v>
                </c:pt>
                <c:pt idx="41">
                  <c:v>-0.39714816728595981</c:v>
                </c:pt>
                <c:pt idx="42">
                  <c:v>-0.4063057021444168</c:v>
                </c:pt>
                <c:pt idx="43">
                  <c:v>-0.41542260677124587</c:v>
                </c:pt>
                <c:pt idx="44">
                  <c:v>-0.42449796948358259</c:v>
                </c:pt>
                <c:pt idx="45">
                  <c:v>-0.43353088275271773</c:v>
                </c:pt>
                <c:pt idx="46">
                  <c:v>-0.44252044329485246</c:v>
                </c:pt>
                <c:pt idx="47">
                  <c:v>-0.45146575216142315</c:v>
                </c:pt>
                <c:pt idx="48">
                  <c:v>-0.4603659148289983</c:v>
                </c:pt>
                <c:pt idx="49">
                  <c:v>-0.46922004128872713</c:v>
                </c:pt>
                <c:pt idx="50">
                  <c:v>-0.47802724613534286</c:v>
                </c:pt>
                <c:pt idx="51">
                  <c:v>-0.48678664865569937</c:v>
                </c:pt>
                <c:pt idx="52">
                  <c:v>-0.49549737291684492</c:v>
                </c:pt>
                <c:pt idx="53">
                  <c:v>-0.50415854785361147</c:v>
                </c:pt>
                <c:pt idx="54">
                  <c:v>-0.51276930735572379</c:v>
                </c:pt>
                <c:pt idx="55">
                  <c:v>-0.52132879035440649</c:v>
                </c:pt>
                <c:pt idx="56">
                  <c:v>-0.5298361409084934</c:v>
                </c:pt>
                <c:pt idx="57">
                  <c:v>-0.53829050829001768</c:v>
                </c:pt>
                <c:pt idx="58">
                  <c:v>-0.54669104706928717</c:v>
                </c:pt>
                <c:pt idx="59">
                  <c:v>-0.55503691719942383</c:v>
                </c:pt>
                <c:pt idx="60">
                  <c:v>-0.56332728410037003</c:v>
                </c:pt>
                <c:pt idx="61">
                  <c:v>-0.57156131874234373</c:v>
                </c:pt>
                <c:pt idx="62">
                  <c:v>-0.5797381977287428</c:v>
                </c:pt>
                <c:pt idx="63">
                  <c:v>-0.58785710337848274</c:v>
                </c:pt>
                <c:pt idx="64">
                  <c:v>-0.59591722380776391</c:v>
                </c:pt>
                <c:pt idx="65">
                  <c:v>-0.60391775301126061</c:v>
                </c:pt>
                <c:pt idx="66">
                  <c:v>-0.61185789094271892</c:v>
                </c:pt>
                <c:pt idx="67">
                  <c:v>-0.61973684359496328</c:v>
                </c:pt>
                <c:pt idx="68">
                  <c:v>-0.6275538230792933</c:v>
                </c:pt>
                <c:pt idx="69">
                  <c:v>-0.63530804770427562</c:v>
                </c:pt>
                <c:pt idx="70">
                  <c:v>-0.64299874205390883</c:v>
                </c:pt>
                <c:pt idx="71">
                  <c:v>-0.65062513706516734</c:v>
                </c:pt>
                <c:pt idx="72">
                  <c:v>-0.65818647010490494</c:v>
                </c:pt>
                <c:pt idx="73">
                  <c:v>-0.6656819850461192</c:v>
                </c:pt>
                <c:pt idx="74">
                  <c:v>-0.67311093234356167</c:v>
                </c:pt>
                <c:pt idx="75">
                  <c:v>-0.68047256910869403</c:v>
                </c:pt>
                <c:pt idx="76">
                  <c:v>-0.68776615918397377</c:v>
                </c:pt>
                <c:pt idx="77">
                  <c:v>-0.69499097321647196</c:v>
                </c:pt>
                <c:pt idx="78">
                  <c:v>-0.70214628873080542</c:v>
                </c:pt>
                <c:pt idx="79">
                  <c:v>-0.70923139020138615</c:v>
                </c:pt>
                <c:pt idx="80">
                  <c:v>-0.71624556912397053</c:v>
                </c:pt>
                <c:pt idx="81">
                  <c:v>-0.72318812408651212</c:v>
                </c:pt>
                <c:pt idx="82">
                  <c:v>-0.73005836083929954</c:v>
                </c:pt>
                <c:pt idx="83">
                  <c:v>-0.73685559236438336</c:v>
                </c:pt>
                <c:pt idx="84">
                  <c:v>-0.74357913894427463</c:v>
                </c:pt>
                <c:pt idx="85">
                  <c:v>-0.75022832822991903</c:v>
                </c:pt>
                <c:pt idx="86">
                  <c:v>-0.7568024953079282</c:v>
                </c:pt>
                <c:pt idx="87">
                  <c:v>-0.76330098276707337</c:v>
                </c:pt>
                <c:pt idx="88">
                  <c:v>-0.76972314076402382</c:v>
                </c:pt>
                <c:pt idx="89">
                  <c:v>-0.77606832708833229</c:v>
                </c:pt>
                <c:pt idx="90">
                  <c:v>-0.7823359072266528</c:v>
                </c:pt>
                <c:pt idx="91">
                  <c:v>-0.78852525442619503</c:v>
                </c:pt>
                <c:pt idx="92">
                  <c:v>-0.79463574975739681</c:v>
                </c:pt>
                <c:pt idx="93">
                  <c:v>-0.80066678217581766</c:v>
                </c:pt>
                <c:pt idx="94">
                  <c:v>-0.80661774858324053</c:v>
                </c:pt>
                <c:pt idx="95">
                  <c:v>-0.81248805388798429</c:v>
                </c:pt>
                <c:pt idx="96">
                  <c:v>-0.81827711106441026</c:v>
                </c:pt>
                <c:pt idx="97">
                  <c:v>-0.82398434121162578</c:v>
                </c:pt>
                <c:pt idx="98">
                  <c:v>-0.82960917361137088</c:v>
                </c:pt>
                <c:pt idx="99">
                  <c:v>-0.83515104578509347</c:v>
                </c:pt>
                <c:pt idx="100">
                  <c:v>-0.84060940355019453</c:v>
                </c:pt>
                <c:pt idx="101">
                  <c:v>-0.84598370107544651</c:v>
                </c:pt>
                <c:pt idx="102">
                  <c:v>-0.85127340093557446</c:v>
                </c:pt>
                <c:pt idx="103">
                  <c:v>-0.85647797416500115</c:v>
                </c:pt>
                <c:pt idx="104">
                  <c:v>-0.86159690031074054</c:v>
                </c:pt>
                <c:pt idx="105">
                  <c:v>-0.86662966748444425</c:v>
                </c:pt>
                <c:pt idx="106">
                  <c:v>-0.87157577241358819</c:v>
                </c:pt>
                <c:pt idx="107">
                  <c:v>-0.87643472049180138</c:v>
                </c:pt>
                <c:pt idx="108">
                  <c:v>-0.8812060258283253</c:v>
                </c:pt>
                <c:pt idx="109">
                  <c:v>-0.8858892112966027</c:v>
                </c:pt>
                <c:pt idx="110">
                  <c:v>-0.8904838085819885</c:v>
                </c:pt>
                <c:pt idx="111">
                  <c:v>-0.8949893582285835</c:v>
                </c:pt>
                <c:pt idx="112">
                  <c:v>-0.89940540968517768</c:v>
                </c:pt>
                <c:pt idx="113">
                  <c:v>-0.90373152135030532</c:v>
                </c:pt>
                <c:pt idx="114">
                  <c:v>-0.90796726061640542</c:v>
                </c:pt>
                <c:pt idx="115">
                  <c:v>-0.91211220391308034</c:v>
                </c:pt>
                <c:pt idx="116">
                  <c:v>-0.9161659367494549</c:v>
                </c:pt>
                <c:pt idx="117">
                  <c:v>-0.92012805375562368</c:v>
                </c:pt>
                <c:pt idx="118">
                  <c:v>-0.92399815872318791</c:v>
                </c:pt>
                <c:pt idx="119">
                  <c:v>-0.92777586464487549</c:v>
                </c:pt>
                <c:pt idx="120">
                  <c:v>-0.93146079375324253</c:v>
                </c:pt>
                <c:pt idx="121">
                  <c:v>-0.93505257755844906</c:v>
                </c:pt>
                <c:pt idx="122">
                  <c:v>-0.93855085688510786</c:v>
                </c:pt>
                <c:pt idx="123">
                  <c:v>-0.94195528190820099</c:v>
                </c:pt>
                <c:pt idx="124">
                  <c:v>-0.94526551218806332</c:v>
                </c:pt>
                <c:pt idx="125">
                  <c:v>-0.94848121670442564</c:v>
                </c:pt>
                <c:pt idx="126">
                  <c:v>-0.95160207388951601</c:v>
                </c:pt>
                <c:pt idx="127">
                  <c:v>-0.9546277716602164</c:v>
                </c:pt>
                <c:pt idx="128">
                  <c:v>-0.95755800744927111</c:v>
                </c:pt>
                <c:pt idx="129">
                  <c:v>-0.96039248823554335</c:v>
                </c:pt>
                <c:pt idx="130">
                  <c:v>-0.96313093057331667</c:v>
                </c:pt>
                <c:pt idx="131">
                  <c:v>-0.96577306062063883</c:v>
                </c:pt>
                <c:pt idx="132">
                  <c:v>-0.96831861416670717</c:v>
                </c:pt>
                <c:pt idx="133">
                  <c:v>-0.97076733665828829</c:v>
                </c:pt>
                <c:pt idx="134">
                  <c:v>-0.97311898322517387</c:v>
                </c:pt>
                <c:pt idx="135">
                  <c:v>-0.97537331870466648</c:v>
                </c:pt>
                <c:pt idx="136">
                  <c:v>-0.97753011766509701</c:v>
                </c:pt>
                <c:pt idx="137">
                  <c:v>-0.97958916442836685</c:v>
                </c:pt>
                <c:pt idx="138">
                  <c:v>-0.98155025309151533</c:v>
                </c:pt>
                <c:pt idx="139">
                  <c:v>-0.98341318754731077</c:v>
                </c:pt>
                <c:pt idx="140">
                  <c:v>-0.98517778150385948</c:v>
                </c:pt>
                <c:pt idx="141">
                  <c:v>-0.98684385850323653</c:v>
                </c:pt>
                <c:pt idx="142">
                  <c:v>-0.98841125193913049</c:v>
                </c:pt>
                <c:pt idx="143">
                  <c:v>-0.98987980507350393</c:v>
                </c:pt>
                <c:pt idx="144">
                  <c:v>-0.99124937105226696</c:v>
                </c:pt>
                <c:pt idx="145">
                  <c:v>-0.99251981291996316</c:v>
                </c:pt>
                <c:pt idx="146">
                  <c:v>-0.99369100363346441</c:v>
                </c:pt>
                <c:pt idx="147">
                  <c:v>-0.99476282607467559</c:v>
                </c:pt>
                <c:pt idx="148">
                  <c:v>-0.99573517306224535</c:v>
                </c:pt>
                <c:pt idx="149">
                  <c:v>-0.99660794736228553</c:v>
                </c:pt>
                <c:pt idx="150">
                  <c:v>-0.99738106169809326</c:v>
                </c:pt>
                <c:pt idx="151">
                  <c:v>-0.99805443875887945</c:v>
                </c:pt>
                <c:pt idx="152">
                  <c:v>-0.99862801120749889</c:v>
                </c:pt>
                <c:pt idx="153">
                  <c:v>-0.99910172168718481</c:v>
                </c:pt>
                <c:pt idx="154">
                  <c:v>-0.99947552282728402</c:v>
                </c:pt>
                <c:pt idx="155">
                  <c:v>-0.99974937724799395</c:v>
                </c:pt>
                <c:pt idx="156">
                  <c:v>-0.99992325756410083</c:v>
                </c:pt>
                <c:pt idx="157">
                  <c:v>-0.99999714638771797</c:v>
                </c:pt>
                <c:pt idx="158">
                  <c:v>-0.99997103633002449</c:v>
                </c:pt>
                <c:pt idx="159">
                  <c:v>-0.99984493000200436</c:v>
                </c:pt>
                <c:pt idx="160">
                  <c:v>-0.99961884001418544</c:v>
                </c:pt>
                <c:pt idx="161">
                  <c:v>-0.99929278897537799</c:v>
                </c:pt>
                <c:pt idx="162">
                  <c:v>-0.99886680949041418</c:v>
                </c:pt>
                <c:pt idx="163">
                  <c:v>-0.99834094415688757</c:v>
                </c:pt>
                <c:pt idx="164">
                  <c:v>-0.9977152455608933</c:v>
                </c:pt>
                <c:pt idx="165">
                  <c:v>-0.99698977627176955</c:v>
                </c:pt>
                <c:pt idx="166">
                  <c:v>-0.99616460883584068</c:v>
                </c:pt>
                <c:pt idx="167">
                  <c:v>-0.9952398257691627</c:v>
                </c:pt>
                <c:pt idx="168">
                  <c:v>-0.99421551954927134</c:v>
                </c:pt>
                <c:pt idx="169">
                  <c:v>-0.99309179260593539</c:v>
                </c:pt>
                <c:pt idx="170">
                  <c:v>-0.99186875731091262</c:v>
                </c:pt>
                <c:pt idx="171">
                  <c:v>-0.99054653596671327</c:v>
                </c:pt>
                <c:pt idx="172">
                  <c:v>-0.9891252607943698</c:v>
                </c:pt>
                <c:pt idx="173">
                  <c:v>-0.98760507392021535</c:v>
                </c:pt>
                <c:pt idx="174">
                  <c:v>-0.98598612736167035</c:v>
                </c:pt>
                <c:pt idx="175">
                  <c:v>-0.98426858301204156</c:v>
                </c:pt>
                <c:pt idx="176">
                  <c:v>-0.98245261262433248</c:v>
                </c:pt>
                <c:pt idx="177">
                  <c:v>-0.98053839779406893</c:v>
                </c:pt>
                <c:pt idx="178">
                  <c:v>-0.97852612994113852</c:v>
                </c:pt>
                <c:pt idx="179">
                  <c:v>-0.97641601029064973</c:v>
                </c:pt>
                <c:pt idx="180">
                  <c:v>-0.97420824985280907</c:v>
                </c:pt>
                <c:pt idx="181">
                  <c:v>-0.97190306940182081</c:v>
                </c:pt>
                <c:pt idx="182">
                  <c:v>-0.96950069945380879</c:v>
                </c:pt>
                <c:pt idx="183">
                  <c:v>-0.96700138024376603</c:v>
                </c:pt>
                <c:pt idx="184">
                  <c:v>-0.96440536170153046</c:v>
                </c:pt>
                <c:pt idx="185">
                  <c:v>-0.96171290342679339</c:v>
                </c:pt>
                <c:pt idx="186">
                  <c:v>-0.95892427466313845</c:v>
                </c:pt>
                <c:pt idx="187">
                  <c:v>-0.95603975427111809</c:v>
                </c:pt>
                <c:pt idx="188">
                  <c:v>-0.9530596307003677</c:v>
                </c:pt>
                <c:pt idx="189">
                  <c:v>-0.94998420196076083</c:v>
                </c:pt>
                <c:pt idx="190">
                  <c:v>-0.94681377559260893</c:v>
                </c:pt>
                <c:pt idx="191">
                  <c:v>-0.94354866863590658</c:v>
                </c:pt>
                <c:pt idx="192">
                  <c:v>-0.94018920759862867</c:v>
                </c:pt>
                <c:pt idx="193">
                  <c:v>-0.93673572842407893</c:v>
                </c:pt>
                <c:pt idx="194">
                  <c:v>-0.93318857645729758</c:v>
                </c:pt>
                <c:pt idx="195">
                  <c:v>-0.9295481064105251</c:v>
                </c:pt>
                <c:pt idx="196">
                  <c:v>-0.92581468232773245</c:v>
                </c:pt>
                <c:pt idx="197">
                  <c:v>-0.92198867754821623</c:v>
                </c:pt>
                <c:pt idx="198">
                  <c:v>-0.91807047466926694</c:v>
                </c:pt>
                <c:pt idx="199">
                  <c:v>-0.91406046550790698</c:v>
                </c:pt>
                <c:pt idx="200">
                  <c:v>-0.9099590510617106</c:v>
                </c:pt>
                <c:pt idx="201">
                  <c:v>-0.90576664146870445</c:v>
                </c:pt>
                <c:pt idx="202">
                  <c:v>-0.90148365596635482</c:v>
                </c:pt>
                <c:pt idx="203">
                  <c:v>-0.89711052284964243</c:v>
                </c:pt>
                <c:pt idx="204">
                  <c:v>-0.89264767942823464</c:v>
                </c:pt>
                <c:pt idx="205">
                  <c:v>-0.88809557198275424</c:v>
                </c:pt>
                <c:pt idx="206">
                  <c:v>-0.88345465572015314</c:v>
                </c:pt>
                <c:pt idx="207">
                  <c:v>-0.87872539472818989</c:v>
                </c:pt>
                <c:pt idx="208">
                  <c:v>-0.87390826192902238</c:v>
                </c:pt>
                <c:pt idx="209">
                  <c:v>-0.86900373903191608</c:v>
                </c:pt>
                <c:pt idx="210">
                  <c:v>-0.86401231648507437</c:v>
                </c:pt>
                <c:pt idx="211">
                  <c:v>-0.85893449342659201</c:v>
                </c:pt>
                <c:pt idx="212">
                  <c:v>-0.85377077763454334</c:v>
                </c:pt>
                <c:pt idx="213">
                  <c:v>-0.84852168547620455</c:v>
                </c:pt>
                <c:pt idx="214">
                  <c:v>-0.84318774185641676</c:v>
                </c:pt>
                <c:pt idx="215">
                  <c:v>-0.83776948016509778</c:v>
                </c:pt>
                <c:pt idx="216">
                  <c:v>-0.83226744222390125</c:v>
                </c:pt>
                <c:pt idx="217">
                  <c:v>-0.82668217823203627</c:v>
                </c:pt>
                <c:pt idx="218">
                  <c:v>-0.82101424671124701</c:v>
                </c:pt>
                <c:pt idx="219">
                  <c:v>-0.81526421444996344</c:v>
                </c:pt>
                <c:pt idx="220">
                  <c:v>-0.80943265644661944</c:v>
                </c:pt>
                <c:pt idx="221">
                  <c:v>-0.80352015585215586</c:v>
                </c:pt>
                <c:pt idx="222">
                  <c:v>-0.79752730391170423</c:v>
                </c:pt>
                <c:pt idx="223">
                  <c:v>-0.79145469990546602</c:v>
                </c:pt>
                <c:pt idx="224">
                  <c:v>-0.78530295108878057</c:v>
                </c:pt>
                <c:pt idx="225">
                  <c:v>-0.77907267263140312</c:v>
                </c:pt>
                <c:pt idx="226">
                  <c:v>-0.77276448755598715</c:v>
                </c:pt>
                <c:pt idx="227">
                  <c:v>-0.76637902667578439</c:v>
                </c:pt>
                <c:pt idx="228">
                  <c:v>-0.75991692853156101</c:v>
                </c:pt>
                <c:pt idx="229">
                  <c:v>-0.75337883932774652</c:v>
                </c:pt>
                <c:pt idx="230">
                  <c:v>-0.74676541286781228</c:v>
                </c:pt>
                <c:pt idx="231">
                  <c:v>-0.74007731048889436</c:v>
                </c:pt>
                <c:pt idx="232">
                  <c:v>-0.7333152009956565</c:v>
                </c:pt>
                <c:pt idx="233">
                  <c:v>-0.72647976059341313</c:v>
                </c:pt>
                <c:pt idx="234">
                  <c:v>-0.71957167282050749</c:v>
                </c:pt>
                <c:pt idx="235">
                  <c:v>-0.71259162847996149</c:v>
                </c:pt>
                <c:pt idx="236">
                  <c:v>-0.70554032557039192</c:v>
                </c:pt>
                <c:pt idx="237">
                  <c:v>-0.69841846921621353</c:v>
                </c:pt>
                <c:pt idx="238">
                  <c:v>-0.69122677159712709</c:v>
                </c:pt>
                <c:pt idx="239">
                  <c:v>-0.68396595187690068</c:v>
                </c:pt>
                <c:pt idx="240">
                  <c:v>-0.67663673613145692</c:v>
                </c:pt>
                <c:pt idx="241">
                  <c:v>-0.66923985727626201</c:v>
                </c:pt>
                <c:pt idx="242">
                  <c:v>-0.6617760549930376</c:v>
                </c:pt>
                <c:pt idx="243">
                  <c:v>-0.6542460756557914</c:v>
                </c:pt>
                <c:pt idx="244">
                  <c:v>-0.64665067225618345</c:v>
                </c:pt>
                <c:pt idx="245">
                  <c:v>-0.63899060432822374</c:v>
                </c:pt>
                <c:pt idx="246">
                  <c:v>-0.63126663787232162</c:v>
                </c:pt>
                <c:pt idx="247">
                  <c:v>-0.62347954527868532</c:v>
                </c:pt>
                <c:pt idx="248">
                  <c:v>-0.61563010525008632</c:v>
                </c:pt>
                <c:pt idx="249">
                  <c:v>-0.60771910272398577</c:v>
                </c:pt>
                <c:pt idx="250">
                  <c:v>-0.5997473287940438</c:v>
                </c:pt>
                <c:pt idx="251">
                  <c:v>-0.59171558063100937</c:v>
                </c:pt>
                <c:pt idx="252">
                  <c:v>-0.58362466140300728</c:v>
                </c:pt>
                <c:pt idx="253">
                  <c:v>-0.57547538019521716</c:v>
                </c:pt>
                <c:pt idx="254">
                  <c:v>-0.56726855192896863</c:v>
                </c:pt>
                <c:pt idx="255">
                  <c:v>-0.55900499728024877</c:v>
                </c:pt>
                <c:pt idx="256">
                  <c:v>-0.55068554259763758</c:v>
                </c:pt>
                <c:pt idx="257">
                  <c:v>-0.54231101981966978</c:v>
                </c:pt>
                <c:pt idx="258">
                  <c:v>-0.53388226639164427</c:v>
                </c:pt>
                <c:pt idx="259">
                  <c:v>-0.52540012518187929</c:v>
                </c:pt>
                <c:pt idx="260">
                  <c:v>-0.51686544439742876</c:v>
                </c:pt>
                <c:pt idx="261">
                  <c:v>-0.50827907749925838</c:v>
                </c:pt>
                <c:pt idx="262">
                  <c:v>-0.49964188311690244</c:v>
                </c:pt>
                <c:pt idx="263">
                  <c:v>-0.49095472496260173</c:v>
                </c:pt>
                <c:pt idx="264">
                  <c:v>-0.48221847174493154</c:v>
                </c:pt>
                <c:pt idx="265">
                  <c:v>-0.47343399708193507</c:v>
                </c:pt>
                <c:pt idx="266">
                  <c:v>-0.46460217941375737</c:v>
                </c:pt>
                <c:pt idx="267">
                  <c:v>-0.4557239019148055</c:v>
                </c:pt>
                <c:pt idx="268">
                  <c:v>-0.44680005240543003</c:v>
                </c:pt>
                <c:pt idx="269">
                  <c:v>-0.43783152326314689</c:v>
                </c:pt>
                <c:pt idx="270">
                  <c:v>-0.4288192113333959</c:v>
                </c:pt>
                <c:pt idx="271">
                  <c:v>-0.41976401783985967</c:v>
                </c:pt>
                <c:pt idx="272">
                  <c:v>-0.41066684829434086</c:v>
                </c:pt>
                <c:pt idx="273">
                  <c:v>-0.40152861240621462</c:v>
                </c:pt>
                <c:pt idx="274">
                  <c:v>-0.39235022399145386</c:v>
                </c:pt>
                <c:pt idx="275">
                  <c:v>-0.38313260088125134</c:v>
                </c:pt>
                <c:pt idx="276">
                  <c:v>-0.37387666483023602</c:v>
                </c:pt>
                <c:pt idx="277">
                  <c:v>-0.36458334142430132</c:v>
                </c:pt>
                <c:pt idx="278">
                  <c:v>-0.35525355998804264</c:v>
                </c:pt>
                <c:pt idx="279">
                  <c:v>-0.34588825349182883</c:v>
                </c:pt>
                <c:pt idx="280">
                  <c:v>-0.33648835845850422</c:v>
                </c:pt>
                <c:pt idx="281">
                  <c:v>-0.32705481486974064</c:v>
                </c:pt>
                <c:pt idx="282">
                  <c:v>-0.31758856607203484</c:v>
                </c:pt>
                <c:pt idx="283">
                  <c:v>-0.30809055868237811</c:v>
                </c:pt>
                <c:pt idx="284">
                  <c:v>-0.29856174249359357</c:v>
                </c:pt>
                <c:pt idx="285">
                  <c:v>-0.28900307037936113</c:v>
                </c:pt>
                <c:pt idx="286">
                  <c:v>-0.27941549819892586</c:v>
                </c:pt>
                <c:pt idx="287">
                  <c:v>-0.26979998470151617</c:v>
                </c:pt>
                <c:pt idx="288">
                  <c:v>-0.2601574914304689</c:v>
                </c:pt>
                <c:pt idx="289">
                  <c:v>-0.25048898262707492</c:v>
                </c:pt>
                <c:pt idx="290">
                  <c:v>-0.24079542513415919</c:v>
                </c:pt>
                <c:pt idx="291">
                  <c:v>-0.23107778829939224</c:v>
                </c:pt>
                <c:pt idx="292">
                  <c:v>-0.22133704387835954</c:v>
                </c:pt>
                <c:pt idx="293">
                  <c:v>-0.21157416593738504</c:v>
                </c:pt>
                <c:pt idx="294">
                  <c:v>-0.20179013075612889</c:v>
                </c:pt>
                <c:pt idx="295">
                  <c:v>-0.19198591672995502</c:v>
                </c:pt>
                <c:pt idx="296">
                  <c:v>-0.18216250427209588</c:v>
                </c:pt>
                <c:pt idx="297">
                  <c:v>-0.17232087571561025</c:v>
                </c:pt>
                <c:pt idx="298">
                  <c:v>-0.16246201521515419</c:v>
                </c:pt>
                <c:pt idx="299">
                  <c:v>-0.15258690864856114</c:v>
                </c:pt>
                <c:pt idx="300">
                  <c:v>-0.14269654351825858</c:v>
                </c:pt>
                <c:pt idx="301">
                  <c:v>-0.13279190885251674</c:v>
                </c:pt>
                <c:pt idx="302">
                  <c:v>-0.12287399510655005</c:v>
                </c:pt>
                <c:pt idx="303">
                  <c:v>-0.11294379406346737</c:v>
                </c:pt>
                <c:pt idx="304">
                  <c:v>-0.10300229873509785</c:v>
                </c:pt>
                <c:pt idx="305">
                  <c:v>-9.3050503262688905E-2</c:v>
                </c:pt>
                <c:pt idx="306">
                  <c:v>-8.3089402817496397E-2</c:v>
                </c:pt>
                <c:pt idx="307">
                  <c:v>-7.3119993501263081E-2</c:v>
                </c:pt>
                <c:pt idx="308">
                  <c:v>-6.3143272246612772E-2</c:v>
                </c:pt>
                <c:pt idx="309">
                  <c:v>-5.3160236717356125E-2</c:v>
                </c:pt>
                <c:pt idx="310">
                  <c:v>-4.317188520872868E-2</c:v>
                </c:pt>
                <c:pt idx="311">
                  <c:v>-3.3179216547556817E-2</c:v>
                </c:pt>
                <c:pt idx="312">
                  <c:v>-2.3183229992379449E-2</c:v>
                </c:pt>
                <c:pt idx="313">
                  <c:v>-1.318492513352214E-2</c:v>
                </c:pt>
                <c:pt idx="314">
                  <c:v>-3.1853017931379904E-3</c:v>
                </c:pt>
                <c:pt idx="315">
                  <c:v>6.8146400747701756E-3</c:v>
                </c:pt>
                <c:pt idx="316">
                  <c:v>1.6813900484349713E-2</c:v>
                </c:pt>
                <c:pt idx="317">
                  <c:v>2.6811479517892353E-2</c:v>
                </c:pt>
                <c:pt idx="318">
                  <c:v>3.6806377425826917E-2</c:v>
                </c:pt>
                <c:pt idx="319">
                  <c:v>4.6797594726689887E-2</c:v>
                </c:pt>
                <c:pt idx="320">
                  <c:v>5.6784132307078052E-2</c:v>
                </c:pt>
                <c:pt idx="321">
                  <c:v>6.6764991521555461E-2</c:v>
                </c:pt>
                <c:pt idx="322">
                  <c:v>7.6739174292518919E-2</c:v>
                </c:pt>
                <c:pt idx="323">
                  <c:v>8.6705683210001327E-2</c:v>
                </c:pt>
                <c:pt idx="324">
                  <c:v>9.666352163141724E-2</c:v>
                </c:pt>
                <c:pt idx="325">
                  <c:v>0.10661169378122266</c:v>
                </c:pt>
                <c:pt idx="326">
                  <c:v>0.11654920485049364</c:v>
                </c:pt>
                <c:pt idx="327">
                  <c:v>0.12647506109640269</c:v>
                </c:pt>
                <c:pt idx="328">
                  <c:v>0.13638826994159764</c:v>
                </c:pt>
                <c:pt idx="329">
                  <c:v>0.14628784007345494</c:v>
                </c:pt>
                <c:pt idx="330">
                  <c:v>0.1561727815432119</c:v>
                </c:pt>
                <c:pt idx="331">
                  <c:v>0.16604210586495721</c:v>
                </c:pt>
                <c:pt idx="332">
                  <c:v>0.17589482611448401</c:v>
                </c:pt>
                <c:pt idx="333">
                  <c:v>0.18572995702797787</c:v>
                </c:pt>
                <c:pt idx="334">
                  <c:v>0.19554651510054424</c:v>
                </c:pt>
                <c:pt idx="335">
                  <c:v>0.20534351868455461</c:v>
                </c:pt>
                <c:pt idx="336">
                  <c:v>0.21511998808781552</c:v>
                </c:pt>
                <c:pt idx="337">
                  <c:v>0.22487494567153371</c:v>
                </c:pt>
                <c:pt idx="338">
                  <c:v>0.23460741594807993</c:v>
                </c:pt>
                <c:pt idx="339">
                  <c:v>0.24431642567853773</c:v>
                </c:pt>
                <c:pt idx="340">
                  <c:v>0.25400100397002312</c:v>
                </c:pt>
                <c:pt idx="341">
                  <c:v>0.26366018237277838</c:v>
                </c:pt>
                <c:pt idx="342">
                  <c:v>0.27329299497701237</c:v>
                </c:pt>
                <c:pt idx="343">
                  <c:v>0.28289847850949296</c:v>
                </c:pt>
                <c:pt idx="344">
                  <c:v>0.29247567242986972</c:v>
                </c:pt>
                <c:pt idx="345">
                  <c:v>0.30202361902673236</c:v>
                </c:pt>
                <c:pt idx="346">
                  <c:v>0.31154136351337786</c:v>
                </c:pt>
                <c:pt idx="347">
                  <c:v>0.32102795412328977</c:v>
                </c:pt>
                <c:pt idx="348">
                  <c:v>0.33048244220531092</c:v>
                </c:pt>
                <c:pt idx="349">
                  <c:v>0.33990388231851271</c:v>
                </c:pt>
                <c:pt idx="350">
                  <c:v>0.34929133232673487</c:v>
                </c:pt>
                <c:pt idx="351">
                  <c:v>0.35864385349280037</c:v>
                </c:pt>
                <c:pt idx="352">
                  <c:v>0.36796051057238466</c:v>
                </c:pt>
                <c:pt idx="353">
                  <c:v>0.37724037190754439</c:v>
                </c:pt>
                <c:pt idx="354">
                  <c:v>0.38648250951987934</c:v>
                </c:pt>
                <c:pt idx="355">
                  <c:v>0.39568599920333081</c:v>
                </c:pt>
                <c:pt idx="356">
                  <c:v>0.4048499206165983</c:v>
                </c:pt>
                <c:pt idx="357">
                  <c:v>0.41397335737517799</c:v>
                </c:pt>
                <c:pt idx="358">
                  <c:v>0.42305539714299684</c:v>
                </c:pt>
                <c:pt idx="359">
                  <c:v>0.43209513172364716</c:v>
                </c:pt>
                <c:pt idx="360">
                  <c:v>0.44109165715120235</c:v>
                </c:pt>
                <c:pt idx="361">
                  <c:v>0.45004407378061762</c:v>
                </c:pt>
                <c:pt idx="362">
                  <c:v>0.45895148637769029</c:v>
                </c:pt>
                <c:pt idx="363">
                  <c:v>0.46781300420858352</c:v>
                </c:pt>
                <c:pt idx="364">
                  <c:v>0.4766277411288995</c:v>
                </c:pt>
                <c:pt idx="365">
                  <c:v>0.48539481567229026</c:v>
                </c:pt>
                <c:pt idx="366">
                  <c:v>0.49411335113860816</c:v>
                </c:pt>
                <c:pt idx="367">
                  <c:v>0.50278247568157197</c:v>
                </c:pt>
                <c:pt idx="368">
                  <c:v>0.51140132239595237</c:v>
                </c:pt>
                <c:pt idx="369">
                  <c:v>0.51996902940425871</c:v>
                </c:pt>
                <c:pt idx="370">
                  <c:v>0.52848473994293077</c:v>
                </c:pt>
                <c:pt idx="371">
                  <c:v>0.53694760244801099</c:v>
                </c:pt>
                <c:pt idx="372">
                  <c:v>0.54535677064030197</c:v>
                </c:pt>
                <c:pt idx="373">
                  <c:v>0.55371140360999072</c:v>
                </c:pt>
                <c:pt idx="374">
                  <c:v>0.562010665900743</c:v>
                </c:pt>
                <c:pt idx="375">
                  <c:v>0.570253727593246</c:v>
                </c:pt>
                <c:pt idx="376">
                  <c:v>0.57843976438820011</c:v>
                </c:pt>
                <c:pt idx="377">
                  <c:v>0.58656795768874637</c:v>
                </c:pt>
                <c:pt idx="378">
                  <c:v>0.59463749468232863</c:v>
                </c:pt>
                <c:pt idx="379">
                  <c:v>0.60264756842197231</c:v>
                </c:pt>
                <c:pt idx="380">
                  <c:v>0.6105973779069791</c:v>
                </c:pt>
                <c:pt idx="381">
                  <c:v>0.61848612816302395</c:v>
                </c:pt>
                <c:pt idx="382">
                  <c:v>0.62631303032165586</c:v>
                </c:pt>
                <c:pt idx="383">
                  <c:v>0.63407730169918142</c:v>
                </c:pt>
                <c:pt idx="384">
                  <c:v>0.64177816587493375</c:v>
                </c:pt>
                <c:pt idx="385">
                  <c:v>0.6494148527689112</c:v>
                </c:pt>
                <c:pt idx="386">
                  <c:v>0.65698659871878906</c:v>
                </c:pt>
                <c:pt idx="387">
                  <c:v>0.66449264655628204</c:v>
                </c:pt>
                <c:pt idx="388">
                  <c:v>0.67193224568286147</c:v>
                </c:pt>
                <c:pt idx="389">
                  <c:v>0.67930465214481484</c:v>
                </c:pt>
                <c:pt idx="390">
                  <c:v>0.68660912870763846</c:v>
                </c:pt>
                <c:pt idx="391">
                  <c:v>0.69384494492976367</c:v>
                </c:pt>
                <c:pt idx="392">
                  <c:v>0.70101137723559814</c:v>
                </c:pt>
                <c:pt idx="393">
                  <c:v>0.70810770898788378</c:v>
                </c:pt>
                <c:pt idx="394">
                  <c:v>0.71513323055935785</c:v>
                </c:pt>
                <c:pt idx="395">
                  <c:v>0.72208723940371844</c:v>
                </c:pt>
                <c:pt idx="396">
                  <c:v>0.72896904012587593</c:v>
                </c:pt>
                <c:pt idx="397">
                  <c:v>0.73577794455149359</c:v>
                </c:pt>
                <c:pt idx="398">
                  <c:v>0.74251327179580184</c:v>
                </c:pt>
                <c:pt idx="399">
                  <c:v>0.74917434833168939</c:v>
                </c:pt>
                <c:pt idx="400">
                  <c:v>0.75576050805705375</c:v>
                </c:pt>
                <c:pt idx="401">
                  <c:v>0.76227109236141122</c:v>
                </c:pt>
                <c:pt idx="402">
                  <c:v>0.76870545019175585</c:v>
                </c:pt>
                <c:pt idx="403">
                  <c:v>0.77506293811766702</c:v>
                </c:pt>
                <c:pt idx="404">
                  <c:v>0.78134292039565001</c:v>
                </c:pt>
                <c:pt idx="405">
                  <c:v>0.78754476903271098</c:v>
                </c:pt>
                <c:pt idx="406">
                  <c:v>0.79366786384915311</c:v>
                </c:pt>
                <c:pt idx="407">
                  <c:v>0.7997115925405982</c:v>
                </c:pt>
                <c:pt idx="408">
                  <c:v>0.80567535073921326</c:v>
                </c:pt>
                <c:pt idx="409">
                  <c:v>0.81155854207414879</c:v>
                </c:pt>
                <c:pt idx="410">
                  <c:v>0.81736057823117292</c:v>
                </c:pt>
                <c:pt idx="411">
                  <c:v>0.82308087901150551</c:v>
                </c:pt>
                <c:pt idx="412">
                  <c:v>0.82871887238983533</c:v>
                </c:pt>
                <c:pt idx="413">
                  <c:v>0.83427399457152296</c:v>
                </c:pt>
                <c:pt idx="414">
                  <c:v>0.83974569004897992</c:v>
                </c:pt>
                <c:pt idx="415">
                  <c:v>0.84513341165721734</c:v>
                </c:pt>
                <c:pt idx="416">
                  <c:v>0.8504366206285644</c:v>
                </c:pt>
                <c:pt idx="417">
                  <c:v>0.85565478664654349</c:v>
                </c:pt>
                <c:pt idx="418">
                  <c:v>0.86078738789890163</c:v>
                </c:pt>
                <c:pt idx="419">
                  <c:v>0.86583391112978991</c:v>
                </c:pt>
                <c:pt idx="420">
                  <c:v>0.87079385169109114</c:v>
                </c:pt>
                <c:pt idx="421">
                  <c:v>0.87566671359288228</c:v>
                </c:pt>
                <c:pt idx="422">
                  <c:v>0.88045200955303438</c:v>
                </c:pt>
                <c:pt idx="423">
                  <c:v>0.88514926104593827</c:v>
                </c:pt>
                <c:pt idx="424">
                  <c:v>0.88975799835035962</c:v>
                </c:pt>
                <c:pt idx="425">
                  <c:v>0.8942777605964084</c:v>
                </c:pt>
                <c:pt idx="426">
                  <c:v>0.89870809581162692</c:v>
                </c:pt>
                <c:pt idx="427">
                  <c:v>0.9030485609661848</c:v>
                </c:pt>
                <c:pt idx="428">
                  <c:v>0.90729872201718398</c:v>
                </c:pt>
                <c:pt idx="429">
                  <c:v>0.91145815395206131</c:v>
                </c:pt>
                <c:pt idx="430">
                  <c:v>0.91552644083108958</c:v>
                </c:pt>
                <c:pt idx="431">
                  <c:v>0.91950317582897068</c:v>
                </c:pt>
                <c:pt idx="432">
                  <c:v>0.92338796127551892</c:v>
                </c:pt>
                <c:pt idx="433">
                  <c:v>0.92718040869542695</c:v>
                </c:pt>
                <c:pt idx="434">
                  <c:v>0.93088013884711363</c:v>
                </c:pt>
                <c:pt idx="435">
                  <c:v>0.93448678176064603</c:v>
                </c:pt>
                <c:pt idx="436">
                  <c:v>0.9379999767747389</c:v>
                </c:pt>
                <c:pt idx="437">
                  <c:v>0.94141937257281827</c:v>
                </c:pt>
                <c:pt idx="438">
                  <c:v>0.94474462721815378</c:v>
                </c:pt>
                <c:pt idx="439">
                  <c:v>0.94797540818805248</c:v>
                </c:pt>
                <c:pt idx="440">
                  <c:v>0.95111139240710896</c:v>
                </c:pt>
                <c:pt idx="441">
                  <c:v>0.95415226627951477</c:v>
                </c:pt>
                <c:pt idx="442">
                  <c:v>0.95709772572041696</c:v>
                </c:pt>
                <c:pt idx="443">
                  <c:v>0.95994747618632614</c:v>
                </c:pt>
                <c:pt idx="444">
                  <c:v>0.96270123270457009</c:v>
                </c:pt>
                <c:pt idx="445">
                  <c:v>0.96535871990179178</c:v>
                </c:pt>
                <c:pt idx="446">
                  <c:v>0.96791967203148632</c:v>
                </c:pt>
                <c:pt idx="447">
                  <c:v>0.97038383300057496</c:v>
                </c:pt>
                <c:pt idx="448">
                  <c:v>0.97275095639501374</c:v>
                </c:pt>
                <c:pt idx="449">
                  <c:v>0.97502080550443626</c:v>
                </c:pt>
                <c:pt idx="450">
                  <c:v>0.97719315334582291</c:v>
                </c:pt>
                <c:pt idx="451">
                  <c:v>0.97926778268619996</c:v>
                </c:pt>
                <c:pt idx="452">
                  <c:v>0.9812444860643621</c:v>
                </c:pt>
                <c:pt idx="453">
                  <c:v>0.98312306581161879</c:v>
                </c:pt>
                <c:pt idx="454">
                  <c:v>0.98490333407156083</c:v>
                </c:pt>
                <c:pt idx="455">
                  <c:v>0.98658511281884587</c:v>
                </c:pt>
                <c:pt idx="456">
                  <c:v>0.98816823387700037</c:v>
                </c:pt>
                <c:pt idx="457">
                  <c:v>0.98965253893523797</c:v>
                </c:pt>
                <c:pt idx="458">
                  <c:v>0.99103787956428979</c:v>
                </c:pt>
                <c:pt idx="459">
                  <c:v>0.99232411723124747</c:v>
                </c:pt>
                <c:pt idx="460">
                  <c:v>0.99351112331341584</c:v>
                </c:pt>
                <c:pt idx="461">
                  <c:v>0.99459877911117611</c:v>
                </c:pt>
                <c:pt idx="462">
                  <c:v>0.99558697585985478</c:v>
                </c:pt>
                <c:pt idx="463">
                  <c:v>0.99647561474060053</c:v>
                </c:pt>
                <c:pt idx="464">
                  <c:v>0.99726460689026586</c:v>
                </c:pt>
                <c:pt idx="465">
                  <c:v>0.99795387341029318</c:v>
                </c:pt>
                <c:pt idx="466">
                  <c:v>0.99854334537460498</c:v>
                </c:pt>
                <c:pt idx="467">
                  <c:v>0.99903296383649587</c:v>
                </c:pt>
                <c:pt idx="468">
                  <c:v>0.99942267983452793</c:v>
                </c:pt>
                <c:pt idx="469">
                  <c:v>0.99971245439742595</c:v>
                </c:pt>
                <c:pt idx="470">
                  <c:v>0.99990225854797521</c:v>
                </c:pt>
                <c:pt idx="471">
                  <c:v>0.99999207330591877</c:v>
                </c:pt>
                <c:pt idx="472">
                  <c:v>0.99998188968985557</c:v>
                </c:pt>
                <c:pt idx="473">
                  <c:v>0.99987170871813902</c:v>
                </c:pt>
                <c:pt idx="474">
                  <c:v>0.99966154140877417</c:v>
                </c:pt>
                <c:pt idx="475">
                  <c:v>0.99935140877831696</c:v>
                </c:pt>
                <c:pt idx="476">
                  <c:v>0.99894134183977201</c:v>
                </c:pt>
                <c:pt idx="477">
                  <c:v>0.99843138159949141</c:v>
                </c:pt>
                <c:pt idx="478">
                  <c:v>0.99782157905307434</c:v>
                </c:pt>
                <c:pt idx="479">
                  <c:v>0.99711199518026705</c:v>
                </c:pt>
                <c:pt idx="480">
                  <c:v>0.99630270093886564</c:v>
                </c:pt>
                <c:pt idx="481">
                  <c:v>0.99539377725761991</c:v>
                </c:pt>
                <c:pt idx="482">
                  <c:v>0.99438531502814043</c:v>
                </c:pt>
                <c:pt idx="483">
                  <c:v>0.9932774150958098</c:v>
                </c:pt>
                <c:pt idx="484">
                  <c:v>0.99207018824969795</c:v>
                </c:pt>
                <c:pt idx="485">
                  <c:v>0.99076375521148352</c:v>
                </c:pt>
                <c:pt idx="486">
                  <c:v>0.98935824662338179</c:v>
                </c:pt>
                <c:pt idx="487">
                  <c:v>0.98785380303508008</c:v>
                </c:pt>
                <c:pt idx="488">
                  <c:v>0.98625057488968371</c:v>
                </c:pt>
                <c:pt idx="489">
                  <c:v>0.98454872250867109</c:v>
                </c:pt>
                <c:pt idx="490">
                  <c:v>0.98274841607586216</c:v>
                </c:pt>
                <c:pt idx="491">
                  <c:v>0.98084983562039951</c:v>
                </c:pt>
                <c:pt idx="492">
                  <c:v>0.97885317099874736</c:v>
                </c:pt>
                <c:pt idx="493">
                  <c:v>0.97675862187570361</c:v>
                </c:pt>
                <c:pt idx="494">
                  <c:v>0.97456639770443498</c:v>
                </c:pt>
                <c:pt idx="495">
                  <c:v>0.97227671770553203</c:v>
                </c:pt>
                <c:pt idx="496">
                  <c:v>0.9698898108450863</c:v>
                </c:pt>
                <c:pt idx="497">
                  <c:v>0.96740591581179491</c:v>
                </c:pt>
                <c:pt idx="498">
                  <c:v>0.96482528099309128</c:v>
                </c:pt>
                <c:pt idx="499">
                  <c:v>0.96214816445030626</c:v>
                </c:pt>
                <c:pt idx="500">
                  <c:v>0.95937483389286415</c:v>
                </c:pt>
                <c:pt idx="501">
                  <c:v>0.9565055666515091</c:v>
                </c:pt>
                <c:pt idx="502">
                  <c:v>0.95354064965057428</c:v>
                </c:pt>
                <c:pt idx="503">
                  <c:v>0.95048037937928886</c:v>
                </c:pt>
                <c:pt idx="504">
                  <c:v>0.94732506186212995</c:v>
                </c:pt>
                <c:pt idx="505">
                  <c:v>0.94407501262821969</c:v>
                </c:pt>
                <c:pt idx="506">
                  <c:v>0.94073055667977312</c:v>
                </c:pt>
                <c:pt idx="507">
                  <c:v>0.93729202845959758</c:v>
                </c:pt>
                <c:pt idx="508">
                  <c:v>0.93375977181765069</c:v>
                </c:pt>
                <c:pt idx="509">
                  <c:v>0.93013413997665262</c:v>
                </c:pt>
                <c:pt idx="510">
                  <c:v>0.92641549549676616</c:v>
                </c:pt>
                <c:pt idx="511">
                  <c:v>0.92260421023934025</c:v>
                </c:pt>
                <c:pt idx="512">
                  <c:v>0.91870066532972472</c:v>
                </c:pt>
                <c:pt idx="513">
                  <c:v>0.91470525111915757</c:v>
                </c:pt>
                <c:pt idx="514">
                  <c:v>0.91061836714573041</c:v>
                </c:pt>
                <c:pt idx="515">
                  <c:v>0.90644042209443476</c:v>
                </c:pt>
                <c:pt idx="516">
                  <c:v>0.90217183375629328</c:v>
                </c:pt>
                <c:pt idx="517">
                  <c:v>0.89781302898658444</c:v>
                </c:pt>
                <c:pt idx="518">
                  <c:v>0.89336444366215195</c:v>
                </c:pt>
                <c:pt idx="519">
                  <c:v>0.88882652263782103</c:v>
                </c:pt>
                <c:pt idx="520">
                  <c:v>0.88419971970191269</c:v>
                </c:pt>
                <c:pt idx="521">
                  <c:v>0.87948449753086488</c:v>
                </c:pt>
                <c:pt idx="522">
                  <c:v>0.87468132764296525</c:v>
                </c:pt>
                <c:pt idx="523">
                  <c:v>0.86979069035119994</c:v>
                </c:pt>
                <c:pt idx="524">
                  <c:v>0.86481307471522184</c:v>
                </c:pt>
                <c:pt idx="525">
                  <c:v>0.85974897849244825</c:v>
                </c:pt>
                <c:pt idx="526">
                  <c:v>0.85459890808828043</c:v>
                </c:pt>
                <c:pt idx="527">
                  <c:v>0.84936337850546728</c:v>
                </c:pt>
                <c:pt idx="528">
                  <c:v>0.84404291329260406</c:v>
                </c:pt>
                <c:pt idx="529">
                  <c:v>0.83863804449177826</c:v>
                </c:pt>
                <c:pt idx="530">
                  <c:v>0.83314931258536595</c:v>
                </c:pt>
                <c:pt idx="531">
                  <c:v>0.82757726644198404</c:v>
                </c:pt>
                <c:pt idx="532">
                  <c:v>0.82192246326160223</c:v>
                </c:pt>
                <c:pt idx="533">
                  <c:v>0.81618546851982832</c:v>
                </c:pt>
                <c:pt idx="534">
                  <c:v>0.81036685591135482</c:v>
                </c:pt>
                <c:pt idx="535">
                  <c:v>0.80446720729259369</c:v>
                </c:pt>
                <c:pt idx="536">
                  <c:v>0.79848711262349026</c:v>
                </c:pt>
                <c:pt idx="537">
                  <c:v>0.79242716990852835</c:v>
                </c:pt>
                <c:pt idx="538">
                  <c:v>0.78628798513692921</c:v>
                </c:pt>
                <c:pt idx="539">
                  <c:v>0.78007017222205433</c:v>
                </c:pt>
                <c:pt idx="540">
                  <c:v>0.7737743529400134</c:v>
                </c:pt>
                <c:pt idx="541">
                  <c:v>0.76740115686748733</c:v>
                </c:pt>
                <c:pt idx="542">
                  <c:v>0.76095122131877435</c:v>
                </c:pt>
                <c:pt idx="543">
                  <c:v>0.75442519128205343</c:v>
                </c:pt>
                <c:pt idx="544">
                  <c:v>0.74782371935488978</c:v>
                </c:pt>
                <c:pt idx="545">
                  <c:v>0.74114746567897516</c:v>
                </c:pt>
                <c:pt idx="546">
                  <c:v>0.73439709787411334</c:v>
                </c:pt>
                <c:pt idx="547">
                  <c:v>0.72757329097145973</c:v>
                </c:pt>
                <c:pt idx="548">
                  <c:v>0.72067672734601806</c:v>
                </c:pt>
                <c:pt idx="549">
                  <c:v>0.7137080966484024</c:v>
                </c:pt>
                <c:pt idx="550">
                  <c:v>0.70666809573587797</c:v>
                </c:pt>
                <c:pt idx="551">
                  <c:v>0.69955742860266801</c:v>
                </c:pt>
                <c:pt idx="552">
                  <c:v>0.69237680630956044</c:v>
                </c:pt>
                <c:pt idx="553">
                  <c:v>0.68512694691280063</c:v>
                </c:pt>
                <c:pt idx="554">
                  <c:v>0.67780857539228678</c:v>
                </c:pt>
                <c:pt idx="555">
                  <c:v>0.67042242357907222</c:v>
                </c:pt>
                <c:pt idx="556">
                  <c:v>0.66296923008218334</c:v>
                </c:pt>
                <c:pt idx="557">
                  <c:v>0.65544974021475733</c:v>
                </c:pt>
                <c:pt idx="558">
                  <c:v>0.64786470591951761</c:v>
                </c:pt>
                <c:pt idx="559">
                  <c:v>0.64021488569357132</c:v>
                </c:pt>
                <c:pt idx="560">
                  <c:v>0.63250104451256628</c:v>
                </c:pt>
                <c:pt idx="561">
                  <c:v>0.62472395375419243</c:v>
                </c:pt>
                <c:pt idx="562">
                  <c:v>0.61688439112104476</c:v>
                </c:pt>
                <c:pt idx="563">
                  <c:v>0.60898314056285352</c:v>
                </c:pt>
                <c:pt idx="564">
                  <c:v>0.60102099219809035</c:v>
                </c:pt>
                <c:pt idx="565">
                  <c:v>0.59299874223495652</c:v>
                </c:pt>
                <c:pt idx="566">
                  <c:v>0.58491719289176169</c:v>
                </c:pt>
                <c:pt idx="567">
                  <c:v>0.57677715231670845</c:v>
                </c:pt>
                <c:pt idx="568">
                  <c:v>0.5685794345070696</c:v>
                </c:pt>
                <c:pt idx="569">
                  <c:v>0.56032485922779474</c:v>
                </c:pt>
                <c:pt idx="570">
                  <c:v>0.55201425192953291</c:v>
                </c:pt>
                <c:pt idx="571">
                  <c:v>0.54364844366608833</c:v>
                </c:pt>
                <c:pt idx="572">
                  <c:v>0.5352282710113162</c:v>
                </c:pt>
                <c:pt idx="573">
                  <c:v>0.52675457597546493</c:v>
                </c:pt>
                <c:pt idx="574">
                  <c:v>0.51822820592097518</c:v>
                </c:pt>
                <c:pt idx="575">
                  <c:v>0.50965001347775041</c:v>
                </c:pt>
                <c:pt idx="576">
                  <c:v>0.50102085645788463</c:v>
                </c:pt>
                <c:pt idx="577">
                  <c:v>0.49234159776988917</c:v>
                </c:pt>
                <c:pt idx="578">
                  <c:v>0.48361310533239998</c:v>
                </c:pt>
                <c:pt idx="579">
                  <c:v>0.47483625198738716</c:v>
                </c:pt>
                <c:pt idx="580">
                  <c:v>0.46601191541287112</c:v>
                </c:pt>
                <c:pt idx="581">
                  <c:v>0.4571409780351558</c:v>
                </c:pt>
                <c:pt idx="582">
                  <c:v>0.44822432694058489</c:v>
                </c:pt>
                <c:pt idx="583">
                  <c:v>0.43926285378684055</c:v>
                </c:pt>
                <c:pt idx="584">
                  <c:v>0.43025745471376869</c:v>
                </c:pt>
                <c:pt idx="585">
                  <c:v>0.42120903025377215</c:v>
                </c:pt>
                <c:pt idx="586">
                  <c:v>0.41211848524175659</c:v>
                </c:pt>
                <c:pt idx="587">
                  <c:v>0.40298672872464775</c:v>
                </c:pt>
                <c:pt idx="588">
                  <c:v>0.39381467387048763</c:v>
                </c:pt>
                <c:pt idx="589">
                  <c:v>0.38460323787711825</c:v>
                </c:pt>
                <c:pt idx="590">
                  <c:v>0.37535334188046277</c:v>
                </c:pt>
                <c:pt idx="591">
                  <c:v>0.36606591086241103</c:v>
                </c:pt>
                <c:pt idx="592">
                  <c:v>0.35674187355832859</c:v>
                </c:pt>
                <c:pt idx="593">
                  <c:v>0.34738216236417424</c:v>
                </c:pt>
                <c:pt idx="594">
                  <c:v>0.3379877132432676</c:v>
                </c:pt>
                <c:pt idx="595">
                  <c:v>0.32855946563269217</c:v>
                </c:pt>
                <c:pt idx="596">
                  <c:v>0.31909836234935213</c:v>
                </c:pt>
                <c:pt idx="597">
                  <c:v>0.30960534949569152</c:v>
                </c:pt>
                <c:pt idx="598">
                  <c:v>0.30008137636508497</c:v>
                </c:pt>
                <c:pt idx="599">
                  <c:v>0.29052739534690719</c:v>
                </c:pt>
                <c:pt idx="600">
                  <c:v>0.28094436183130178</c:v>
                </c:pt>
                <c:pt idx="601">
                  <c:v>0.27133323411363275</c:v>
                </c:pt>
                <c:pt idx="602">
                  <c:v>0.26169497329866259</c:v>
                </c:pt>
                <c:pt idx="603">
                  <c:v>0.25203054320444102</c:v>
                </c:pt>
                <c:pt idx="604">
                  <c:v>0.24234091026592378</c:v>
                </c:pt>
                <c:pt idx="605">
                  <c:v>0.23262704343833002</c:v>
                </c:pt>
                <c:pt idx="606">
                  <c:v>0.22288991410024764</c:v>
                </c:pt>
                <c:pt idx="607">
                  <c:v>0.2131304959564945</c:v>
                </c:pt>
                <c:pt idx="608">
                  <c:v>0.20334976494075557</c:v>
                </c:pt>
                <c:pt idx="609">
                  <c:v>0.19354869911798017</c:v>
                </c:pt>
                <c:pt idx="610">
                  <c:v>0.183728278586583</c:v>
                </c:pt>
                <c:pt idx="611">
                  <c:v>0.17388948538043356</c:v>
                </c:pt>
                <c:pt idx="612">
                  <c:v>0.1640333033706535</c:v>
                </c:pt>
                <c:pt idx="613">
                  <c:v>0.15416071816723032</c:v>
                </c:pt>
                <c:pt idx="614">
                  <c:v>0.14427271702045727</c:v>
                </c:pt>
                <c:pt idx="615">
                  <c:v>0.13437028872220905</c:v>
                </c:pt>
                <c:pt idx="616">
                  <c:v>0.12445442350706171</c:v>
                </c:pt>
                <c:pt idx="617">
                  <c:v>0.11452611295327708</c:v>
                </c:pt>
                <c:pt idx="618">
                  <c:v>0.10458634988363526</c:v>
                </c:pt>
                <c:pt idx="619">
                  <c:v>9.4636128266160052E-2</c:v>
                </c:pt>
                <c:pt idx="620">
                  <c:v>8.4676443114721417E-2</c:v>
                </c:pt>
                <c:pt idx="621">
                  <c:v>7.4708290389534776E-2</c:v>
                </c:pt>
                <c:pt idx="622">
                  <c:v>6.4732666897565891E-2</c:v>
                </c:pt>
                <c:pt idx="623">
                  <c:v>5.4750570192850956E-2</c:v>
                </c:pt>
                <c:pt idx="624">
                  <c:v>4.4762998476740277E-2</c:v>
                </c:pt>
                <c:pt idx="625">
                  <c:v>3.4770950498086081E-2</c:v>
                </c:pt>
                <c:pt idx="626">
                  <c:v>2.4775425453357765E-2</c:v>
                </c:pt>
                <c:pt idx="627">
                  <c:v>1.4777422886730236E-2</c:v>
                </c:pt>
                <c:pt idx="628">
                  <c:v>4.7779425901285115E-3</c:v>
                </c:pt>
                <c:pt idx="629">
                  <c:v>-5.2220154967506198E-3</c:v>
                </c:pt>
                <c:pt idx="630">
                  <c:v>-1.5221451386431743E-2</c:v>
                </c:pt>
                <c:pt idx="631">
                  <c:v>-2.5219365143658721E-2</c:v>
                </c:pt>
                <c:pt idx="632">
                  <c:v>-3.521475698538918E-2</c:v>
                </c:pt>
                <c:pt idx="633">
                  <c:v>-4.5206627380764856E-2</c:v>
                </c:pt>
                <c:pt idx="634">
                  <c:v>-5.5193977151074512E-2</c:v>
                </c:pt>
                <c:pt idx="635">
                  <c:v>-6.5175807569663902E-2</c:v>
                </c:pt>
                <c:pt idx="636">
                  <c:v>-7.5151120461809301E-2</c:v>
                </c:pt>
                <c:pt idx="637">
                  <c:v>-8.5118918304534261E-2</c:v>
                </c:pt>
                <c:pt idx="638">
                  <c:v>-9.5078204326360952E-2</c:v>
                </c:pt>
                <c:pt idx="639">
                  <c:v>-0.10502798260698659</c:v>
                </c:pt>
                <c:pt idx="640">
                  <c:v>-0.11496725817687455</c:v>
                </c:pt>
                <c:pt idx="641">
                  <c:v>-0.12489503711675232</c:v>
                </c:pt>
                <c:pt idx="642">
                  <c:v>-0.13481032665699549</c:v>
                </c:pt>
                <c:pt idx="643">
                  <c:v>-0.14471213527691454</c:v>
                </c:pt>
                <c:pt idx="644">
                  <c:v>-0.15459947280389894</c:v>
                </c:pt>
                <c:pt idx="645">
                  <c:v>-0.16447135051243542</c:v>
                </c:pt>
                <c:pt idx="646">
                  <c:v>-0.17432678122297965</c:v>
                </c:pt>
                <c:pt idx="647">
                  <c:v>-0.18416477940067341</c:v>
                </c:pt>
                <c:pt idx="648">
                  <c:v>-0.19398436125389723</c:v>
                </c:pt>
                <c:pt idx="649">
                  <c:v>-0.20378454483265052</c:v>
                </c:pt>
                <c:pt idx="650">
                  <c:v>-0.21356435012673869</c:v>
                </c:pt>
                <c:pt idx="651">
                  <c:v>-0.22332279916378389</c:v>
                </c:pt>
                <c:pt idx="652">
                  <c:v>-0.2330589161070144</c:v>
                </c:pt>
                <c:pt idx="653">
                  <c:v>-0.24277172735284935</c:v>
                </c:pt>
                <c:pt idx="654">
                  <c:v>-0.25246026162825808</c:v>
                </c:pt>
                <c:pt idx="655">
                  <c:v>-0.2621235500878869</c:v>
                </c:pt>
                <c:pt idx="656">
                  <c:v>-0.27176062641094245</c:v>
                </c:pt>
                <c:pt idx="657">
                  <c:v>-0.28137052689782505</c:v>
                </c:pt>
                <c:pt idx="658">
                  <c:v>-0.2909522905664908</c:v>
                </c:pt>
                <c:pt idx="659">
                  <c:v>-0.30050495924855936</c:v>
                </c:pt>
                <c:pt idx="660">
                  <c:v>-0.31002757768512301</c:v>
                </c:pt>
                <c:pt idx="661">
                  <c:v>-0.31951919362227366</c:v>
                </c:pt>
                <c:pt idx="662">
                  <c:v>-0.32897885790632714</c:v>
                </c:pt>
                <c:pt idx="663">
                  <c:v>-0.33840562457873813</c:v>
                </c:pt>
                <c:pt idx="664">
                  <c:v>-0.34779855097069501</c:v>
                </c:pt>
                <c:pt idx="665">
                  <c:v>-0.35715669779738596</c:v>
                </c:pt>
                <c:pt idx="666">
                  <c:v>-0.36647912925192838</c:v>
                </c:pt>
                <c:pt idx="667">
                  <c:v>-0.37576491309894228</c:v>
                </c:pt>
                <c:pt idx="668">
                  <c:v>-0.38501312076778266</c:v>
                </c:pt>
                <c:pt idx="669">
                  <c:v>-0.39422282744538945</c:v>
                </c:pt>
                <c:pt idx="670">
                  <c:v>-0.40339311216876961</c:v>
                </c:pt>
                <c:pt idx="671">
                  <c:v>-0.41252305791709271</c:v>
                </c:pt>
                <c:pt idx="672">
                  <c:v>-0.42161175170339216</c:v>
                </c:pt>
                <c:pt idx="673">
                  <c:v>-0.43065828466586326</c:v>
                </c:pt>
                <c:pt idx="674">
                  <c:v>-0.43966175215875003</c:v>
                </c:pt>
                <c:pt idx="675">
                  <c:v>-0.44862125384280294</c:v>
                </c:pt>
                <c:pt idx="676">
                  <c:v>-0.45753589377532133</c:v>
                </c:pt>
                <c:pt idx="677">
                  <c:v>-0.46640478049974088</c:v>
                </c:pt>
                <c:pt idx="678">
                  <c:v>-0.47522702713477982</c:v>
                </c:pt>
                <c:pt idx="679">
                  <c:v>-0.48400175146312646</c:v>
                </c:pt>
                <c:pt idx="680">
                  <c:v>-0.49272807601966023</c:v>
                </c:pt>
                <c:pt idx="681">
                  <c:v>-0.50140512817919736</c:v>
                </c:pt>
                <c:pt idx="682">
                  <c:v>-0.51003204024375437</c:v>
                </c:pt>
                <c:pt idx="683">
                  <c:v>-0.51860794952931077</c:v>
                </c:pt>
                <c:pt idx="684">
                  <c:v>-0.52713199845208603</c:v>
                </c:pt>
                <c:pt idx="685">
                  <c:v>-0.53560333461429133</c:v>
                </c:pt>
                <c:pt idx="686">
                  <c:v>-0.54402111088936977</c:v>
                </c:pt>
              </c:numCache>
            </c:numRef>
          </c:yVal>
          <c:smooth val="1"/>
          <c:extLst xmlns:c16r2="http://schemas.microsoft.com/office/drawing/2015/06/chart">
            <c:ext xmlns:c16="http://schemas.microsoft.com/office/drawing/2014/chart" uri="{C3380CC4-5D6E-409C-BE32-E72D297353CC}">
              <c16:uniqueId val="{00000001-A4DA-4149-BC61-BC4F25BC5DC3}"/>
            </c:ext>
          </c:extLst>
        </c:ser>
        <c:dLbls>
          <c:showLegendKey val="0"/>
          <c:showVal val="0"/>
          <c:showCatName val="0"/>
          <c:showSerName val="0"/>
          <c:showPercent val="0"/>
          <c:showBubbleSize val="0"/>
        </c:dLbls>
        <c:axId val="-1350862272"/>
        <c:axId val="-1350865536"/>
      </c:scatterChart>
      <c:valAx>
        <c:axId val="-1350862272"/>
        <c:scaling>
          <c:orientation val="minMax"/>
        </c:scaling>
        <c:delete val="1"/>
        <c:axPos val="b"/>
        <c:majorTickMark val="none"/>
        <c:minorTickMark val="none"/>
        <c:tickLblPos val="nextTo"/>
        <c:crossAx val="-1350865536"/>
        <c:crosses val="autoZero"/>
        <c:crossBetween val="midCat"/>
      </c:valAx>
      <c:valAx>
        <c:axId val="-1350865536"/>
        <c:scaling>
          <c:orientation val="minMax"/>
        </c:scaling>
        <c:delete val="1"/>
        <c:axPos val="l"/>
        <c:numFmt formatCode="General" sourceLinked="1"/>
        <c:majorTickMark val="none"/>
        <c:minorTickMark val="none"/>
        <c:tickLblPos val="nextTo"/>
        <c:crossAx val="-1350862272"/>
        <c:crosses val="autoZero"/>
        <c:crossBetween val="midCat"/>
      </c:valAx>
      <c:spPr>
        <a:noFill/>
        <a:ln w="25400">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991815404496995E-2"/>
          <c:y val="0"/>
          <c:w val="0.92147240275382492"/>
          <c:h val="1"/>
        </c:manualLayout>
      </c:layout>
      <c:scatterChart>
        <c:scatterStyle val="smoothMarker"/>
        <c:varyColors val="0"/>
        <c:ser>
          <c:idx val="0"/>
          <c:order val="0"/>
          <c:spPr>
            <a:ln w="19050" cap="rnd">
              <a:solidFill>
                <a:schemeClr val="accent1"/>
              </a:solidFill>
              <a:round/>
            </a:ln>
            <a:effectLst/>
          </c:spPr>
          <c:marker>
            <c:symbol val="none"/>
          </c:marker>
          <c:yVal>
            <c:numRef>
              <c:f>Sheet1!$C$1:$C$180</c:f>
              <c:numCache>
                <c:formatCode>General</c:formatCode>
                <c:ptCount val="180"/>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numCache>
            </c:numRef>
          </c:yVal>
          <c:smooth val="1"/>
          <c:extLst xmlns:c16r2="http://schemas.microsoft.com/office/drawing/2015/06/chart">
            <c:ext xmlns:c16="http://schemas.microsoft.com/office/drawing/2014/chart" uri="{C3380CC4-5D6E-409C-BE32-E72D297353CC}">
              <c16:uniqueId val="{00000000-273F-41A3-A888-F1914A37C61D}"/>
            </c:ext>
          </c:extLst>
        </c:ser>
        <c:dLbls>
          <c:showLegendKey val="0"/>
          <c:showVal val="0"/>
          <c:showCatName val="0"/>
          <c:showSerName val="0"/>
          <c:showPercent val="0"/>
          <c:showBubbleSize val="0"/>
        </c:dLbls>
        <c:axId val="-1350876416"/>
        <c:axId val="-1350875872"/>
      </c:scatterChart>
      <c:valAx>
        <c:axId val="-1350876416"/>
        <c:scaling>
          <c:orientation val="minMax"/>
        </c:scaling>
        <c:delete val="1"/>
        <c:axPos val="b"/>
        <c:majorTickMark val="none"/>
        <c:minorTickMark val="none"/>
        <c:tickLblPos val="nextTo"/>
        <c:crossAx val="-1350875872"/>
        <c:crosses val="autoZero"/>
        <c:crossBetween val="midCat"/>
      </c:valAx>
      <c:valAx>
        <c:axId val="-1350875872"/>
        <c:scaling>
          <c:orientation val="minMax"/>
        </c:scaling>
        <c:delete val="1"/>
        <c:axPos val="l"/>
        <c:numFmt formatCode="General" sourceLinked="1"/>
        <c:majorTickMark val="none"/>
        <c:minorTickMark val="none"/>
        <c:tickLblPos val="nextTo"/>
        <c:crossAx val="-1350876416"/>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5991805580610131E-2"/>
          <c:y val="0"/>
          <c:w val="0.92147240275382492"/>
          <c:h val="1"/>
        </c:manualLayout>
      </c:layout>
      <c:scatterChart>
        <c:scatterStyle val="smoothMarker"/>
        <c:varyColors val="0"/>
        <c:ser>
          <c:idx val="0"/>
          <c:order val="0"/>
          <c:spPr>
            <a:ln w="19050" cap="rnd">
              <a:solidFill>
                <a:schemeClr val="accent1"/>
              </a:solidFill>
              <a:prstDash val="lgDash"/>
              <a:round/>
            </a:ln>
            <a:effectLst/>
          </c:spPr>
          <c:marker>
            <c:symbol val="none"/>
          </c:marker>
          <c:yVal>
            <c:numRef>
              <c:f>Sheet1!$C$1:$C$180</c:f>
              <c:numCache>
                <c:formatCode>General</c:formatCode>
                <c:ptCount val="180"/>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numCache>
            </c:numRef>
          </c:yVal>
          <c:smooth val="1"/>
          <c:extLst xmlns:c16r2="http://schemas.microsoft.com/office/drawing/2015/06/chart">
            <c:ext xmlns:c16="http://schemas.microsoft.com/office/drawing/2014/chart" uri="{C3380CC4-5D6E-409C-BE32-E72D297353CC}">
              <c16:uniqueId val="{00000000-A422-4B3A-8338-80586AB693B7}"/>
            </c:ext>
          </c:extLst>
        </c:ser>
        <c:dLbls>
          <c:showLegendKey val="0"/>
          <c:showVal val="0"/>
          <c:showCatName val="0"/>
          <c:showSerName val="0"/>
          <c:showPercent val="0"/>
          <c:showBubbleSize val="0"/>
        </c:dLbls>
        <c:axId val="-1350869888"/>
        <c:axId val="-1350866080"/>
      </c:scatterChart>
      <c:valAx>
        <c:axId val="-1350869888"/>
        <c:scaling>
          <c:orientation val="minMax"/>
        </c:scaling>
        <c:delete val="1"/>
        <c:axPos val="b"/>
        <c:majorTickMark val="none"/>
        <c:minorTickMark val="none"/>
        <c:tickLblPos val="nextTo"/>
        <c:crossAx val="-1350866080"/>
        <c:crosses val="autoZero"/>
        <c:crossBetween val="midCat"/>
      </c:valAx>
      <c:valAx>
        <c:axId val="-1350866080"/>
        <c:scaling>
          <c:orientation val="minMax"/>
        </c:scaling>
        <c:delete val="1"/>
        <c:axPos val="l"/>
        <c:numFmt formatCode="General" sourceLinked="1"/>
        <c:majorTickMark val="none"/>
        <c:minorTickMark val="none"/>
        <c:tickLblPos val="nextTo"/>
        <c:crossAx val="-1350869888"/>
        <c:crosses val="autoZero"/>
        <c:crossBetween val="midCat"/>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867777777777779"/>
          <c:y val="2.748917748917749E-2"/>
          <c:w val="0.76739888888888885"/>
          <c:h val="0.79452633477633483"/>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'K3'!$D$3:$D$102</c:f>
              <c:numCache>
                <c:formatCode>General</c:formatCode>
                <c:ptCount val="100"/>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numCache>
            </c:numRef>
          </c:xVal>
          <c:yVal>
            <c:numRef>
              <c:f>'K3'!$F$3:$F$102</c:f>
              <c:numCache>
                <c:formatCode>General</c:formatCode>
                <c:ptCount val="10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0.27209122944400943</c:v>
                </c:pt>
                <c:pt idx="27">
                  <c:v>0.51028660924040725</c:v>
                </c:pt>
                <c:pt idx="28">
                  <c:v>0.64124784651527011</c:v>
                </c:pt>
                <c:pt idx="29">
                  <c:v>0.84585552075176207</c:v>
                </c:pt>
                <c:pt idx="30">
                  <c:v>1.1410575567736885</c:v>
                </c:pt>
                <c:pt idx="31">
                  <c:v>1.3524444009397025</c:v>
                </c:pt>
                <c:pt idx="32">
                  <c:v>1.5018942834768989</c:v>
                </c:pt>
                <c:pt idx="33">
                  <c:v>1.7764506656225529</c:v>
                </c:pt>
                <c:pt idx="34">
                  <c:v>2.0078668754894284</c:v>
                </c:pt>
                <c:pt idx="35">
                  <c:v>2.1708750978856699</c:v>
                </c:pt>
                <c:pt idx="36">
                  <c:v>2.4019831636648394</c:v>
                </c:pt>
                <c:pt idx="37">
                  <c:v>2.4485129209083794</c:v>
                </c:pt>
                <c:pt idx="38">
                  <c:v>2.6278527799530145</c:v>
                </c:pt>
                <c:pt idx="39">
                  <c:v>2.7652850430696949</c:v>
                </c:pt>
                <c:pt idx="40">
                  <c:v>2.9128860610806577</c:v>
                </c:pt>
                <c:pt idx="41">
                  <c:v>3.1255054815974943</c:v>
                </c:pt>
                <c:pt idx="42">
                  <c:v>3.1680293657008609</c:v>
                </c:pt>
                <c:pt idx="43">
                  <c:v>3.3381249021143304</c:v>
                </c:pt>
                <c:pt idx="44">
                  <c:v>3.3868116679718092</c:v>
                </c:pt>
                <c:pt idx="45">
                  <c:v>3.4524463586530936</c:v>
                </c:pt>
                <c:pt idx="46">
                  <c:v>3.5584479248238061</c:v>
                </c:pt>
                <c:pt idx="47">
                  <c:v>3.535028974158184</c:v>
                </c:pt>
                <c:pt idx="48">
                  <c:v>3.5217787783868442</c:v>
                </c:pt>
                <c:pt idx="49">
                  <c:v>3.4327251370399376</c:v>
                </c:pt>
                <c:pt idx="50">
                  <c:v>3.3680148786217701</c:v>
                </c:pt>
                <c:pt idx="51">
                  <c:v>2.9332217010856869</c:v>
                </c:pt>
                <c:pt idx="52">
                  <c:v>2.655731579210189</c:v>
                </c:pt>
                <c:pt idx="53">
                  <c:v>2.4296801261791829</c:v>
                </c:pt>
                <c:pt idx="54">
                  <c:v>2.1281949499431647</c:v>
                </c:pt>
                <c:pt idx="55">
                  <c:v>1.6817807034014938</c:v>
                </c:pt>
                <c:pt idx="56">
                  <c:v>1.4588714539239982</c:v>
                </c:pt>
                <c:pt idx="57">
                  <c:v>0.95110224202832883</c:v>
                </c:pt>
                <c:pt idx="58">
                  <c:v>0.77351957170577024</c:v>
                </c:pt>
                <c:pt idx="59">
                  <c:v>0.23556107455916347</c:v>
                </c:pt>
                <c:pt idx="60">
                  <c:v>5.8431893144687636E-2</c:v>
                </c:pt>
                <c:pt idx="61">
                  <c:v>-0.28172315902516332</c:v>
                </c:pt>
                <c:pt idx="62">
                  <c:v>-0.58081451756327285</c:v>
                </c:pt>
                <c:pt idx="63">
                  <c:v>-0.89886953217369747</c:v>
                </c:pt>
                <c:pt idx="64">
                  <c:v>-1.2447429864671387</c:v>
                </c:pt>
                <c:pt idx="65">
                  <c:v>-1.4109211242307276</c:v>
                </c:pt>
                <c:pt idx="66">
                  <c:v>-1.9760159308845042</c:v>
                </c:pt>
                <c:pt idx="67">
                  <c:v>-2.1282948464486684</c:v>
                </c:pt>
                <c:pt idx="68">
                  <c:v>-2.4558674118327128</c:v>
                </c:pt>
                <c:pt idx="69">
                  <c:v>-2.8033037090067356</c:v>
                </c:pt>
                <c:pt idx="70">
                  <c:v>-3.085166703395819</c:v>
                </c:pt>
                <c:pt idx="71">
                  <c:v>-3.1942230187253569</c:v>
                </c:pt>
                <c:pt idx="72">
                  <c:v>-3.4785464026277269</c:v>
                </c:pt>
                <c:pt idx="73">
                  <c:v>-3.6876275592450964</c:v>
                </c:pt>
                <c:pt idx="74">
                  <c:v>-3.6456653705737914</c:v>
                </c:pt>
                <c:pt idx="75">
                  <c:v>-3.5760189658823274</c:v>
                </c:pt>
                <c:pt idx="76">
                  <c:v>-3.153196844435064</c:v>
                </c:pt>
                <c:pt idx="77">
                  <c:v>-3.0891879956216095</c:v>
                </c:pt>
                <c:pt idx="78">
                  <c:v>-3.0601617921384787</c:v>
                </c:pt>
                <c:pt idx="79">
                  <c:v>-2.9173254351887619</c:v>
                </c:pt>
                <c:pt idx="80">
                  <c:v>-2.6649662946264954</c:v>
                </c:pt>
                <c:pt idx="81">
                  <c:v>-2.4895545153453806</c:v>
                </c:pt>
                <c:pt idx="82">
                  <c:v>-2.3623462733315765</c:v>
                </c:pt>
                <c:pt idx="83">
                  <c:v>-2.1018478512310028</c:v>
                </c:pt>
                <c:pt idx="84">
                  <c:v>-1.8639068772848717</c:v>
                </c:pt>
                <c:pt idx="85">
                  <c:v>-1.7005035900399414</c:v>
                </c:pt>
                <c:pt idx="86">
                  <c:v>-1.4235861057210832</c:v>
                </c:pt>
                <c:pt idx="87">
                  <c:v>-1.3077166081401064</c:v>
                </c:pt>
                <c:pt idx="88">
                  <c:v>-0.88865149371336161</c:v>
                </c:pt>
                <c:pt idx="89">
                  <c:v>-0.78680172722659691</c:v>
                </c:pt>
                <c:pt idx="90">
                  <c:v>-0.4234618354185839</c:v>
                </c:pt>
                <c:pt idx="91">
                  <c:v>-5.3778565184198018E-2</c:v>
                </c:pt>
                <c:pt idx="92">
                  <c:v>0.1494168196706456</c:v>
                </c:pt>
                <c:pt idx="93">
                  <c:v>0.48659618825775935</c:v>
                </c:pt>
                <c:pt idx="94">
                  <c:v>0.7130455780607553</c:v>
                </c:pt>
                <c:pt idx="95">
                  <c:v>0.94583880233258411</c:v>
                </c:pt>
                <c:pt idx="96">
                  <c:v>1.2313876788704765</c:v>
                </c:pt>
                <c:pt idx="97">
                  <c:v>1.3303314670878348</c:v>
                </c:pt>
                <c:pt idx="98">
                  <c:v>1.5017480247728745</c:v>
                </c:pt>
                <c:pt idx="99">
                  <c:v>1.6759872187927445</c:v>
                </c:pt>
              </c:numCache>
            </c:numRef>
          </c:yVal>
          <c:smooth val="0"/>
          <c:extLst xmlns:c16r2="http://schemas.microsoft.com/office/drawing/2015/06/chart">
            <c:ext xmlns:c16="http://schemas.microsoft.com/office/drawing/2014/chart" uri="{C3380CC4-5D6E-409C-BE32-E72D297353CC}">
              <c16:uniqueId val="{00000000-F6CF-4FE0-9BEF-ECA4835BFF1F}"/>
            </c:ext>
          </c:extLst>
        </c:ser>
        <c:dLbls>
          <c:showLegendKey val="0"/>
          <c:showVal val="0"/>
          <c:showCatName val="0"/>
          <c:showSerName val="0"/>
          <c:showPercent val="0"/>
          <c:showBubbleSize val="0"/>
        </c:dLbls>
        <c:axId val="-1350881312"/>
        <c:axId val="-1350881856"/>
      </c:scatterChart>
      <c:valAx>
        <c:axId val="-1350881312"/>
        <c:scaling>
          <c:orientation val="minMax"/>
          <c:max val="250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altLang="ja-JP" sz="1200" dirty="0"/>
                  <a:t>Time</a:t>
                </a:r>
                <a:r>
                  <a:rPr lang="en-US" altLang="ja-JP" sz="1200" baseline="0" dirty="0"/>
                  <a:t> [nsec]</a:t>
                </a:r>
                <a:endParaRPr lang="ja-JP" altLang="en-US" sz="1200" dirty="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350881856"/>
        <c:crosses val="autoZero"/>
        <c:crossBetween val="midCat"/>
        <c:majorUnit val="624"/>
      </c:valAx>
      <c:valAx>
        <c:axId val="-13508818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altLang="ja-JP" sz="1200" dirty="0" err="1"/>
                  <a:t>Xpos</a:t>
                </a:r>
                <a:r>
                  <a:rPr lang="en-US" altLang="ja-JP" sz="1200" dirty="0"/>
                  <a:t>[mm]</a:t>
                </a:r>
                <a:endParaRPr lang="ja-JP" altLang="en-US" sz="1200" dirty="0"/>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35088131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709166666666668"/>
          <c:y val="5.0396825396825398E-2"/>
          <c:w val="0.75192944444444443"/>
          <c:h val="0.77743512136836823"/>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'[Microsoft PowerPoint 内のグラフ]K3-U02'!$J$3:$J$102</c:f>
              <c:numCache>
                <c:formatCode>General</c:formatCode>
                <c:ptCount val="100"/>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numCache>
            </c:numRef>
          </c:xVal>
          <c:yVal>
            <c:numRef>
              <c:f>'[Microsoft PowerPoint 内のグラフ]K3-U02'!$I$3:$I$103</c:f>
              <c:numCache>
                <c:formatCode>General</c:formatCode>
                <c:ptCount val="101"/>
                <c:pt idx="0">
                  <c:v>0</c:v>
                </c:pt>
                <c:pt idx="1">
                  <c:v>-8.5356303837118251E-3</c:v>
                </c:pt>
                <c:pt idx="2">
                  <c:v>-3.0187940485512921E-2</c:v>
                </c:pt>
                <c:pt idx="3">
                  <c:v>-4.5262333594361791E-2</c:v>
                </c:pt>
                <c:pt idx="4">
                  <c:v>-7.3531714956930297E-2</c:v>
                </c:pt>
                <c:pt idx="5">
                  <c:v>-9.6711041503523873E-2</c:v>
                </c:pt>
                <c:pt idx="6">
                  <c:v>-0.11464369616288175</c:v>
                </c:pt>
                <c:pt idx="7">
                  <c:v>-0.13007047768206736</c:v>
                </c:pt>
                <c:pt idx="8">
                  <c:v>-0.15861393891934222</c:v>
                </c:pt>
                <c:pt idx="9">
                  <c:v>-0.18230227094753332</c:v>
                </c:pt>
                <c:pt idx="10">
                  <c:v>-0.19945184025058729</c:v>
                </c:pt>
                <c:pt idx="11">
                  <c:v>-0.22960062646828508</c:v>
                </c:pt>
                <c:pt idx="12">
                  <c:v>-0.23621769772905249</c:v>
                </c:pt>
                <c:pt idx="13">
                  <c:v>-0.27815191855912297</c:v>
                </c:pt>
                <c:pt idx="14">
                  <c:v>-0.28026624902114328</c:v>
                </c:pt>
                <c:pt idx="15">
                  <c:v>-0.30023492560689119</c:v>
                </c:pt>
                <c:pt idx="16">
                  <c:v>-0.32462803445575572</c:v>
                </c:pt>
                <c:pt idx="17">
                  <c:v>-0.32885669537979645</c:v>
                </c:pt>
                <c:pt idx="18">
                  <c:v>-0.34475332811276427</c:v>
                </c:pt>
                <c:pt idx="19">
                  <c:v>-0.36018010963194996</c:v>
                </c:pt>
                <c:pt idx="20">
                  <c:v>-0.37118245888801882</c:v>
                </c:pt>
                <c:pt idx="21">
                  <c:v>-0.39291307752545029</c:v>
                </c:pt>
                <c:pt idx="22">
                  <c:v>-0.39498825371965551</c:v>
                </c:pt>
                <c:pt idx="23">
                  <c:v>-0.40888801879404857</c:v>
                </c:pt>
                <c:pt idx="24">
                  <c:v>-0.40849647611589662</c:v>
                </c:pt>
                <c:pt idx="25">
                  <c:v>-0.40368050117462806</c:v>
                </c:pt>
                <c:pt idx="26">
                  <c:v>-0.4181371938562447</c:v>
                </c:pt>
                <c:pt idx="27">
                  <c:v>-0.43692851847241332</c:v>
                </c:pt>
                <c:pt idx="28">
                  <c:v>-0.42446366992921569</c:v>
                </c:pt>
                <c:pt idx="29">
                  <c:v>-0.4355079893716246</c:v>
                </c:pt>
                <c:pt idx="30">
                  <c:v>-0.42769376150175781</c:v>
                </c:pt>
                <c:pt idx="31">
                  <c:v>-0.41462962760826594</c:v>
                </c:pt>
                <c:pt idx="32">
                  <c:v>-0.39964831188995842</c:v>
                </c:pt>
                <c:pt idx="33">
                  <c:v>-0.41077140101144949</c:v>
                </c:pt>
                <c:pt idx="34">
                  <c:v>-0.40527372481877738</c:v>
                </c:pt>
                <c:pt idx="35">
                  <c:v>-0.39823243714927486</c:v>
                </c:pt>
                <c:pt idx="36">
                  <c:v>-0.40384306895872951</c:v>
                </c:pt>
                <c:pt idx="37">
                  <c:v>-0.37185957200736602</c:v>
                </c:pt>
                <c:pt idx="38">
                  <c:v>-0.36676176360388507</c:v>
                </c:pt>
                <c:pt idx="39">
                  <c:v>-0.36094252202542543</c:v>
                </c:pt>
                <c:pt idx="40">
                  <c:v>-0.34986190102708659</c:v>
                </c:pt>
                <c:pt idx="41">
                  <c:v>-0.34461711663924532</c:v>
                </c:pt>
                <c:pt idx="42">
                  <c:v>-0.3145761276091858</c:v>
                </c:pt>
                <c:pt idx="43">
                  <c:v>-0.30031156617684479</c:v>
                </c:pt>
                <c:pt idx="44">
                  <c:v>-0.28188467489080038</c:v>
                </c:pt>
                <c:pt idx="45">
                  <c:v>-0.2624770762033421</c:v>
                </c:pt>
                <c:pt idx="46">
                  <c:v>-0.26747504337017375</c:v>
                </c:pt>
                <c:pt idx="47">
                  <c:v>-0.24028309915381407</c:v>
                </c:pt>
                <c:pt idx="48">
                  <c:v>-0.2340138355299991</c:v>
                </c:pt>
                <c:pt idx="49">
                  <c:v>-0.21280834399829762</c:v>
                </c:pt>
                <c:pt idx="50">
                  <c:v>-0.20800663997512764</c:v>
                </c:pt>
                <c:pt idx="51">
                  <c:v>-0.21773286834732697</c:v>
                </c:pt>
                <c:pt idx="52">
                  <c:v>-0.21253295434855574</c:v>
                </c:pt>
                <c:pt idx="53">
                  <c:v>-0.17502151445411884</c:v>
                </c:pt>
                <c:pt idx="54">
                  <c:v>-0.16854196917351599</c:v>
                </c:pt>
                <c:pt idx="55">
                  <c:v>-0.14053690363625304</c:v>
                </c:pt>
                <c:pt idx="56">
                  <c:v>-0.10870893097523643</c:v>
                </c:pt>
                <c:pt idx="57">
                  <c:v>-7.5431682429499214E-2</c:v>
                </c:pt>
                <c:pt idx="58">
                  <c:v>-7.6034356775627698E-2</c:v>
                </c:pt>
                <c:pt idx="59">
                  <c:v>-5.4118690526819391E-2</c:v>
                </c:pt>
                <c:pt idx="60">
                  <c:v>-3.6630745582276636E-2</c:v>
                </c:pt>
                <c:pt idx="61">
                  <c:v>-3.2159306284127886E-2</c:v>
                </c:pt>
                <c:pt idx="62">
                  <c:v>9.5906815069702889E-3</c:v>
                </c:pt>
                <c:pt idx="63">
                  <c:v>1.2509336758089934E-2</c:v>
                </c:pt>
                <c:pt idx="64">
                  <c:v>2.306575432149649E-2</c:v>
                </c:pt>
                <c:pt idx="65">
                  <c:v>2.6884662294849343E-2</c:v>
                </c:pt>
                <c:pt idx="66">
                  <c:v>3.0898060755602252E-2</c:v>
                </c:pt>
                <c:pt idx="67">
                  <c:v>5.8849107504334225E-2</c:v>
                </c:pt>
                <c:pt idx="68">
                  <c:v>6.7661222870269461E-2</c:v>
                </c:pt>
                <c:pt idx="69">
                  <c:v>8.3302474263812876E-2</c:v>
                </c:pt>
                <c:pt idx="70">
                  <c:v>9.9904507443890039E-2</c:v>
                </c:pt>
                <c:pt idx="71">
                  <c:v>8.6011339947088233E-2</c:v>
                </c:pt>
                <c:pt idx="72">
                  <c:v>0.11020873516349389</c:v>
                </c:pt>
                <c:pt idx="73">
                  <c:v>0.106956603313584</c:v>
                </c:pt>
                <c:pt idx="74">
                  <c:v>0.11189244272710466</c:v>
                </c:pt>
                <c:pt idx="75">
                  <c:v>0.11879460562047547</c:v>
                </c:pt>
                <c:pt idx="76">
                  <c:v>0.1061709567612856</c:v>
                </c:pt>
                <c:pt idx="77">
                  <c:v>9.3960025079428189E-2</c:v>
                </c:pt>
                <c:pt idx="78">
                  <c:v>0.10194536694523182</c:v>
                </c:pt>
                <c:pt idx="79">
                  <c:v>8.2291633747501702E-2</c:v>
                </c:pt>
                <c:pt idx="80">
                  <c:v>8.0700533642649286E-2</c:v>
                </c:pt>
                <c:pt idx="81">
                  <c:v>8.449945157351596E-2</c:v>
                </c:pt>
                <c:pt idx="82">
                  <c:v>9.0750258286655228E-2</c:v>
                </c:pt>
                <c:pt idx="83">
                  <c:v>6.5137783537261351E-2</c:v>
                </c:pt>
                <c:pt idx="84">
                  <c:v>6.0609756525387692E-2</c:v>
                </c:pt>
                <c:pt idx="85">
                  <c:v>5.6938603956549039E-2</c:v>
                </c:pt>
                <c:pt idx="86">
                  <c:v>3.6998218015795059E-2</c:v>
                </c:pt>
                <c:pt idx="87">
                  <c:v>5.1319682268855638E-2</c:v>
                </c:pt>
                <c:pt idx="88">
                  <c:v>1.7999166905873332E-2</c:v>
                </c:pt>
                <c:pt idx="89">
                  <c:v>2.2557356272819573E-2</c:v>
                </c:pt>
                <c:pt idx="90">
                  <c:v>2.2841776428368932E-3</c:v>
                </c:pt>
                <c:pt idx="91">
                  <c:v>-1.2447582121718093E-2</c:v>
                </c:pt>
                <c:pt idx="92">
                  <c:v>-6.0415592252219263E-3</c:v>
                </c:pt>
                <c:pt idx="93">
                  <c:v>-1.4469067015222714E-2</c:v>
                </c:pt>
                <c:pt idx="94">
                  <c:v>-2.3200127586871427E-2</c:v>
                </c:pt>
                <c:pt idx="95">
                  <c:v>-2.4442524796944198E-2</c:v>
                </c:pt>
                <c:pt idx="96">
                  <c:v>-5.5084738349299472E-2</c:v>
                </c:pt>
                <c:pt idx="97">
                  <c:v>-4.5399752604288135E-2</c:v>
                </c:pt>
                <c:pt idx="98">
                  <c:v>-6.0064719882021722E-2</c:v>
                </c:pt>
                <c:pt idx="99">
                  <c:v>-6.0142573938949118E-2</c:v>
                </c:pt>
              </c:numCache>
            </c:numRef>
          </c:yVal>
          <c:smooth val="0"/>
          <c:extLst xmlns:c16r2="http://schemas.microsoft.com/office/drawing/2015/06/chart">
            <c:ext xmlns:c16="http://schemas.microsoft.com/office/drawing/2014/chart" uri="{C3380CC4-5D6E-409C-BE32-E72D297353CC}">
              <c16:uniqueId val="{00000000-80D4-412B-AA89-9537704E9EAF}"/>
            </c:ext>
          </c:extLst>
        </c:ser>
        <c:dLbls>
          <c:showLegendKey val="0"/>
          <c:showVal val="0"/>
          <c:showCatName val="0"/>
          <c:showSerName val="0"/>
          <c:showPercent val="0"/>
          <c:showBubbleSize val="0"/>
        </c:dLbls>
        <c:axId val="-1350861728"/>
        <c:axId val="-1350874784"/>
      </c:scatterChart>
      <c:valAx>
        <c:axId val="-1350861728"/>
        <c:scaling>
          <c:orientation val="minMax"/>
          <c:max val="2500"/>
          <c:min val="0"/>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altLang="ja-JP" sz="1200" dirty="0"/>
                  <a:t>Time [nsec]</a:t>
                </a:r>
                <a:endParaRPr lang="ja-JP" altLang="en-US" sz="1200" dirty="0"/>
              </a:p>
            </c:rich>
          </c:tx>
          <c:layout>
            <c:manualLayout>
              <c:xMode val="edge"/>
              <c:yMode val="edge"/>
              <c:x val="0.43745111111111112"/>
              <c:y val="0.8939245388015884"/>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high"/>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350874784"/>
        <c:crosses val="autoZero"/>
        <c:crossBetween val="midCat"/>
        <c:majorUnit val="624"/>
      </c:valAx>
      <c:valAx>
        <c:axId val="-1350874784"/>
        <c:scaling>
          <c:orientation val="maxMin"/>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altLang="ja-JP" sz="1200" dirty="0" err="1"/>
                  <a:t>Xangle</a:t>
                </a:r>
                <a:r>
                  <a:rPr lang="en-US" altLang="ja-JP" sz="1200" dirty="0"/>
                  <a:t> [mrad]</a:t>
                </a:r>
                <a:endParaRPr lang="ja-JP" altLang="en-US" sz="1200" dirty="0"/>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35086172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4278154" cy="338277"/>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2223" y="1"/>
            <a:ext cx="4278154" cy="338277"/>
          </a:xfrm>
          <a:prstGeom prst="rect">
            <a:avLst/>
          </a:prstGeom>
        </p:spPr>
        <p:txBody>
          <a:bodyPr vert="horz" lIns="91440" tIns="45720" rIns="91440" bIns="45720" rtlCol="0"/>
          <a:lstStyle>
            <a:lvl1pPr algn="r">
              <a:defRPr sz="1200"/>
            </a:lvl1pPr>
          </a:lstStyle>
          <a:p>
            <a:fld id="{5DDC04EC-C537-4917-A281-7FA13356B499}" type="datetimeFigureOut">
              <a:rPr kumimoji="1" lang="ja-JP" altLang="en-US" smtClean="0"/>
              <a:t>2019/1/9</a:t>
            </a:fld>
            <a:endParaRPr kumimoji="1" lang="ja-JP" altLang="en-US"/>
          </a:p>
        </p:txBody>
      </p:sp>
      <p:sp>
        <p:nvSpPr>
          <p:cNvPr id="4" name="フッター プレースホルダー 3"/>
          <p:cNvSpPr>
            <a:spLocks noGrp="1"/>
          </p:cNvSpPr>
          <p:nvPr>
            <p:ph type="ftr" sz="quarter" idx="2"/>
          </p:nvPr>
        </p:nvSpPr>
        <p:spPr>
          <a:xfrm>
            <a:off x="0" y="6403837"/>
            <a:ext cx="4278154" cy="338276"/>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2223" y="6403837"/>
            <a:ext cx="4278154" cy="338276"/>
          </a:xfrm>
          <a:prstGeom prst="rect">
            <a:avLst/>
          </a:prstGeom>
        </p:spPr>
        <p:txBody>
          <a:bodyPr vert="horz" lIns="91440" tIns="45720" rIns="91440" bIns="45720" rtlCol="0" anchor="b"/>
          <a:lstStyle>
            <a:lvl1pPr algn="r">
              <a:defRPr sz="1200"/>
            </a:lvl1pPr>
          </a:lstStyle>
          <a:p>
            <a:fld id="{04765DD4-8D6F-44AB-81B0-0EB9A67A2899}" type="slidenum">
              <a:rPr kumimoji="1" lang="ja-JP" altLang="en-US" smtClean="0"/>
              <a:t>‹#›</a:t>
            </a:fld>
            <a:endParaRPr kumimoji="1" lang="ja-JP" altLang="en-US"/>
          </a:p>
        </p:txBody>
      </p:sp>
    </p:spTree>
    <p:extLst>
      <p:ext uri="{BB962C8B-B14F-4D97-AF65-F5344CB8AC3E}">
        <p14:creationId xmlns:p14="http://schemas.microsoft.com/office/powerpoint/2010/main" val="23794344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4278154" cy="338277"/>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2223" y="1"/>
            <a:ext cx="4278154" cy="338277"/>
          </a:xfrm>
          <a:prstGeom prst="rect">
            <a:avLst/>
          </a:prstGeom>
        </p:spPr>
        <p:txBody>
          <a:bodyPr vert="horz" lIns="91440" tIns="45720" rIns="91440" bIns="45720" rtlCol="0"/>
          <a:lstStyle>
            <a:lvl1pPr algn="r">
              <a:defRPr sz="1200"/>
            </a:lvl1pPr>
          </a:lstStyle>
          <a:p>
            <a:fld id="{46207755-4B0A-41AC-981B-DCEAFD3073D8}" type="datetimeFigureOut">
              <a:rPr kumimoji="1" lang="ja-JP" altLang="en-US" smtClean="0"/>
              <a:t>2019/1/9</a:t>
            </a:fld>
            <a:endParaRPr kumimoji="1" lang="ja-JP" altLang="en-US"/>
          </a:p>
        </p:txBody>
      </p:sp>
      <p:sp>
        <p:nvSpPr>
          <p:cNvPr id="4" name="スライド イメージ プレースホルダー 3"/>
          <p:cNvSpPr>
            <a:spLocks noGrp="1" noRot="1" noChangeAspect="1"/>
          </p:cNvSpPr>
          <p:nvPr>
            <p:ph type="sldImg" idx="2"/>
          </p:nvPr>
        </p:nvSpPr>
        <p:spPr>
          <a:xfrm>
            <a:off x="3419475" y="842963"/>
            <a:ext cx="3033713" cy="22748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87267" y="3244643"/>
            <a:ext cx="7898130" cy="265470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403837"/>
            <a:ext cx="4278154" cy="338276"/>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2223" y="6403837"/>
            <a:ext cx="4278154" cy="338276"/>
          </a:xfrm>
          <a:prstGeom prst="rect">
            <a:avLst/>
          </a:prstGeom>
        </p:spPr>
        <p:txBody>
          <a:bodyPr vert="horz" lIns="91440" tIns="45720" rIns="91440" bIns="45720" rtlCol="0" anchor="b"/>
          <a:lstStyle>
            <a:lvl1pPr algn="r">
              <a:defRPr sz="1200"/>
            </a:lvl1pPr>
          </a:lstStyle>
          <a:p>
            <a:fld id="{1BE57186-1B9E-4FC3-AA72-307209268365}" type="slidenum">
              <a:rPr kumimoji="1" lang="ja-JP" altLang="en-US" smtClean="0"/>
              <a:t>‹#›</a:t>
            </a:fld>
            <a:endParaRPr kumimoji="1" lang="ja-JP" altLang="en-US"/>
          </a:p>
        </p:txBody>
      </p:sp>
    </p:spTree>
    <p:extLst>
      <p:ext uri="{BB962C8B-B14F-4D97-AF65-F5344CB8AC3E}">
        <p14:creationId xmlns:p14="http://schemas.microsoft.com/office/powerpoint/2010/main" val="387342761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KEK</a:t>
            </a:r>
            <a:r>
              <a:rPr lang="en-US" altLang="ja-JP" sz="1200" dirty="0"/>
              <a:t>-</a:t>
            </a:r>
            <a:r>
              <a:rPr kumimoji="1" lang="en-US" altLang="ja-JP" sz="1200" dirty="0"/>
              <a:t>PF</a:t>
            </a:r>
            <a:r>
              <a:rPr lang="ja-JP" altLang="en-US" sz="1200" dirty="0"/>
              <a:t>におけるビームベース測定を用いた入射効率改善のための研究</a:t>
            </a:r>
            <a:endParaRPr lang="en-US" altLang="ja-JP" sz="1200" dirty="0"/>
          </a:p>
          <a:p>
            <a:r>
              <a:rPr kumimoji="1" lang="ja-JP" altLang="en-US" dirty="0"/>
              <a:t>という題目で広島大学の平野広太が発表させていただきます。</a:t>
            </a:r>
            <a:endParaRPr kumimoji="1" lang="en-US" altLang="ja-JP" dirty="0"/>
          </a:p>
          <a:p>
            <a:r>
              <a:rPr kumimoji="1" lang="en-US" altLang="ja-JP" dirty="0"/>
              <a:t>Time</a:t>
            </a:r>
            <a:r>
              <a:rPr kumimoji="1" lang="ja-JP" altLang="en-US" dirty="0"/>
              <a:t>：</a:t>
            </a:r>
            <a:r>
              <a:rPr kumimoji="1" lang="en-US" altLang="ja-JP" dirty="0"/>
              <a:t>20sec</a:t>
            </a:r>
            <a:r>
              <a:rPr kumimoji="1" lang="ja-JP" altLang="en-US" dirty="0"/>
              <a:t>　累計：</a:t>
            </a:r>
            <a:r>
              <a:rPr kumimoji="1" lang="en-US" altLang="ja-JP" dirty="0"/>
              <a:t>20sec</a:t>
            </a:r>
            <a:endParaRPr kumimoji="1" lang="ja-JP" altLang="en-US"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a:t>
            </a:fld>
            <a:endParaRPr kumimoji="1" lang="ja-JP" altLang="en-US"/>
          </a:p>
        </p:txBody>
      </p:sp>
    </p:spTree>
    <p:extLst>
      <p:ext uri="{BB962C8B-B14F-4D97-AF65-F5344CB8AC3E}">
        <p14:creationId xmlns:p14="http://schemas.microsoft.com/office/powerpoint/2010/main" val="376993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はじめに研究背景と目的を示し、</a:t>
            </a:r>
            <a:endParaRPr kumimoji="1" lang="en-US" altLang="ja-JP" dirty="0"/>
          </a:p>
          <a:p>
            <a:r>
              <a:rPr kumimoji="1" lang="ja-JP" altLang="en-US" dirty="0"/>
              <a:t>入射パラメータの測定では、測定の概要、測定した入射パラメータを説明します。</a:t>
            </a:r>
            <a:endParaRPr kumimoji="1" lang="en-US" altLang="ja-JP" dirty="0"/>
          </a:p>
          <a:p>
            <a:r>
              <a:rPr kumimoji="1" lang="ja-JP" altLang="en-US" dirty="0"/>
              <a:t>入射シミュレーションでは、実際のオプティックスと測定した入射パラメータと用いて計算を行いました結果を発表します。</a:t>
            </a:r>
            <a:endParaRPr kumimoji="1" lang="en-US" altLang="ja-JP" dirty="0"/>
          </a:p>
          <a:p>
            <a:endParaRPr kumimoji="1" lang="en-US" altLang="ja-JP" dirty="0"/>
          </a:p>
          <a:p>
            <a:r>
              <a:rPr kumimoji="1" lang="en-US" altLang="ja-JP" dirty="0"/>
              <a:t>Time</a:t>
            </a:r>
            <a:r>
              <a:rPr kumimoji="1" lang="ja-JP" altLang="en-US" dirty="0"/>
              <a:t>：</a:t>
            </a:r>
            <a:r>
              <a:rPr kumimoji="1" lang="en-US" altLang="ja-JP" dirty="0"/>
              <a:t>40sec</a:t>
            </a:r>
            <a:r>
              <a:rPr kumimoji="1" lang="ja-JP" altLang="en-US" dirty="0"/>
              <a:t>　累計：</a:t>
            </a:r>
            <a:r>
              <a:rPr kumimoji="1" lang="en-US" altLang="ja-JP" dirty="0"/>
              <a:t>1min</a:t>
            </a:r>
            <a:endParaRPr kumimoji="1" lang="ja-JP" altLang="en-US" dirty="0"/>
          </a:p>
          <a:p>
            <a:endParaRPr kumimoji="1" lang="en-US" altLang="ja-JP"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2</a:t>
            </a:fld>
            <a:endParaRPr kumimoji="1" lang="ja-JP" altLang="en-US"/>
          </a:p>
        </p:txBody>
      </p:sp>
    </p:spTree>
    <p:extLst>
      <p:ext uri="{BB962C8B-B14F-4D97-AF65-F5344CB8AC3E}">
        <p14:creationId xmlns:p14="http://schemas.microsoft.com/office/powerpoint/2010/main" val="650094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kumimoji="1" lang="en-US" altLang="ja-JP" dirty="0"/>
              <a:t>KEK</a:t>
            </a:r>
            <a:r>
              <a:rPr kumimoji="1" lang="ja-JP" altLang="en-US" dirty="0"/>
              <a:t>では模式図のような、キッカー電磁石とセプタム電磁石を利用した従来の入射方式を採用しています。</a:t>
            </a:r>
            <a:endParaRPr kumimoji="1" lang="en-US" altLang="ja-JP" dirty="0"/>
          </a:p>
          <a:p>
            <a:pPr algn="just"/>
            <a:endParaRPr kumimoji="1" lang="en-US" altLang="ja-JP" dirty="0"/>
          </a:p>
          <a:p>
            <a:pPr algn="just"/>
            <a:r>
              <a:rPr kumimoji="1" lang="ja-JP" altLang="en-US" dirty="0"/>
              <a:t>キッカー電磁石の誤差</a:t>
            </a:r>
            <a:r>
              <a:rPr kumimoji="1" lang="en-US" altLang="ja-JP" baseline="0" dirty="0"/>
              <a:t>         </a:t>
            </a:r>
            <a:r>
              <a:rPr kumimoji="1" lang="ja-JP" altLang="en-US" dirty="0"/>
              <a:t>→ 　蹴り角やタイミングの誤差などによって設計バンプからずれている</a:t>
            </a:r>
            <a:endParaRPr kumimoji="1" lang="en-US" altLang="ja-JP" dirty="0"/>
          </a:p>
          <a:p>
            <a:pPr algn="just"/>
            <a:r>
              <a:rPr kumimoji="1" lang="ja-JP" altLang="en-US" dirty="0"/>
              <a:t>セプタム電磁石の設置誤差 </a:t>
            </a:r>
            <a:r>
              <a:rPr kumimoji="1" lang="ja-JP" altLang="en-US" baseline="0" dirty="0"/>
              <a:t>  </a:t>
            </a:r>
            <a:r>
              <a:rPr kumimoji="1" lang="ja-JP" altLang="en-US" dirty="0"/>
              <a:t>→　セプタム壁の正確な位置測定が困難</a:t>
            </a:r>
            <a:endParaRPr kumimoji="1" lang="en-US" altLang="ja-JP" dirty="0"/>
          </a:p>
          <a:p>
            <a:pPr algn="just"/>
            <a:endParaRPr kumimoji="1" lang="en-US" altLang="ja-JP" dirty="0"/>
          </a:p>
          <a:p>
            <a:r>
              <a:rPr kumimoji="1" lang="ja-JP" altLang="en-US" dirty="0"/>
              <a:t>入射効率の低下やビームロスによる放射線の発生が問題</a:t>
            </a:r>
            <a:endParaRPr kumimoji="1" lang="en-US" altLang="ja-JP" dirty="0"/>
          </a:p>
          <a:p>
            <a:endParaRPr kumimoji="1" lang="en-US" altLang="ja-JP" dirty="0"/>
          </a:p>
          <a:p>
            <a:r>
              <a:rPr kumimoji="1" lang="ja-JP" altLang="en-US" dirty="0"/>
              <a:t>本研究の目的は、ビームベース測定から入射パラメーターの測定と調整、またシミュレーションによる最適な入射パラメータの探索によって問題の解決</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＊再測量やアライメントで達成可能な設置精度にも限界がある　→　ビームベース測定で振る舞いを調べる</a:t>
            </a:r>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3</a:t>
            </a:fld>
            <a:endParaRPr kumimoji="1" lang="ja-JP" altLang="en-US"/>
          </a:p>
        </p:txBody>
      </p:sp>
    </p:spTree>
    <p:extLst>
      <p:ext uri="{BB962C8B-B14F-4D97-AF65-F5344CB8AC3E}">
        <p14:creationId xmlns:p14="http://schemas.microsoft.com/office/powerpoint/2010/main" val="41142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r>
              <a:rPr kumimoji="1" lang="en-US" altLang="ja-JP" dirty="0"/>
              <a:t>KEK</a:t>
            </a:r>
            <a:r>
              <a:rPr kumimoji="1" lang="ja-JP" altLang="en-US" dirty="0"/>
              <a:t>では模式図のような、キッカー電磁石とセプタム電磁石を利用した従来の入射方式を採用しています。</a:t>
            </a:r>
            <a:endParaRPr kumimoji="1" lang="en-US" altLang="ja-JP" dirty="0"/>
          </a:p>
          <a:p>
            <a:pPr algn="just"/>
            <a:endParaRPr kumimoji="1" lang="en-US" altLang="ja-JP" dirty="0"/>
          </a:p>
          <a:p>
            <a:pPr algn="just"/>
            <a:r>
              <a:rPr kumimoji="1" lang="ja-JP" altLang="en-US" dirty="0"/>
              <a:t>キッカー電磁石の誤差</a:t>
            </a:r>
            <a:r>
              <a:rPr kumimoji="1" lang="en-US" altLang="ja-JP" baseline="0" dirty="0"/>
              <a:t>         </a:t>
            </a:r>
            <a:r>
              <a:rPr kumimoji="1" lang="ja-JP" altLang="en-US" dirty="0"/>
              <a:t>→ 　蹴り角やタイミングの誤差などによって設計バンプからずれている</a:t>
            </a:r>
            <a:endParaRPr kumimoji="1" lang="en-US" altLang="ja-JP" dirty="0"/>
          </a:p>
          <a:p>
            <a:pPr algn="just"/>
            <a:r>
              <a:rPr kumimoji="1" lang="ja-JP" altLang="en-US" dirty="0"/>
              <a:t>セプタム電磁石の設置誤差 </a:t>
            </a:r>
            <a:r>
              <a:rPr kumimoji="1" lang="ja-JP" altLang="en-US" baseline="0" dirty="0"/>
              <a:t>  </a:t>
            </a:r>
            <a:r>
              <a:rPr kumimoji="1" lang="ja-JP" altLang="en-US" dirty="0"/>
              <a:t>→　セプタム壁の正確な位置測定が困難</a:t>
            </a:r>
            <a:endParaRPr kumimoji="1" lang="en-US" altLang="ja-JP" dirty="0"/>
          </a:p>
          <a:p>
            <a:pPr algn="just"/>
            <a:endParaRPr kumimoji="1" lang="en-US" altLang="ja-JP" dirty="0"/>
          </a:p>
          <a:p>
            <a:r>
              <a:rPr kumimoji="1" lang="ja-JP" altLang="en-US" dirty="0"/>
              <a:t>入射効率の低下やビームロスによる放射線の発生が問題</a:t>
            </a:r>
            <a:endParaRPr kumimoji="1" lang="en-US" altLang="ja-JP" dirty="0"/>
          </a:p>
          <a:p>
            <a:endParaRPr kumimoji="1" lang="en-US" altLang="ja-JP" dirty="0"/>
          </a:p>
          <a:p>
            <a:r>
              <a:rPr kumimoji="1" lang="ja-JP" altLang="en-US" dirty="0"/>
              <a:t>本研究の目的は、ビームベース測定から入射パラメーターの測定と調整、またシミュレーションによる最適な入射パラメータの探索によって問題の解決</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＊再測量やアライメントで達成可能な設置精度にも限界がある　→　ビームベース測定で振る舞いを調べる</a:t>
            </a:r>
          </a:p>
          <a:p>
            <a:endParaRPr kumimoji="1" lang="en-US" altLang="ja-JP" dirty="0"/>
          </a:p>
          <a:p>
            <a:endParaRPr kumimoji="1" lang="ja-JP" altLang="en-US"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4</a:t>
            </a:fld>
            <a:endParaRPr kumimoji="1" lang="ja-JP" altLang="en-US"/>
          </a:p>
        </p:txBody>
      </p:sp>
    </p:spTree>
    <p:extLst>
      <p:ext uri="{BB962C8B-B14F-4D97-AF65-F5344CB8AC3E}">
        <p14:creationId xmlns:p14="http://schemas.microsoft.com/office/powerpoint/2010/main" val="3820615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入射パラメータの測定はビームベースで行いました。測定は、直線部両端のダクトの電極に位置検出回路を接続してドリフトスペースを挟んだ</a:t>
            </a:r>
            <a:r>
              <a:rPr kumimoji="1" lang="en-US" altLang="ja-JP" dirty="0"/>
              <a:t>2</a:t>
            </a:r>
            <a:r>
              <a:rPr kumimoji="1" lang="ja-JP" altLang="en-US" dirty="0"/>
              <a:t>点の位置情報から、 中心の位相空間情報を計算し、上流の入射点に転送して求めています。</a:t>
            </a:r>
            <a:endParaRPr kumimoji="1" lang="en-US" altLang="ja-JP" dirty="0"/>
          </a:p>
          <a:p>
            <a:endParaRPr kumimoji="1" lang="en-US" altLang="ja-JP" dirty="0"/>
          </a:p>
          <a:p>
            <a:r>
              <a:rPr kumimoji="1" lang="ja-JP" altLang="en-US" dirty="0"/>
              <a:t>転送行列の値は設計モデルの計算値を使用しました。これは結果と共に結んで後から説明します。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Time</a:t>
            </a:r>
            <a:r>
              <a:rPr kumimoji="1" lang="ja-JP" altLang="en-US" dirty="0"/>
              <a:t>：</a:t>
            </a:r>
            <a:r>
              <a:rPr kumimoji="1" lang="en-US" altLang="ja-JP" dirty="0"/>
              <a:t>40sec</a:t>
            </a:r>
            <a:r>
              <a:rPr kumimoji="1" lang="ja-JP" altLang="en-US" dirty="0"/>
              <a:t>　累計：</a:t>
            </a:r>
            <a:r>
              <a:rPr kumimoji="1" lang="en-US" altLang="ja-JP" dirty="0"/>
              <a:t>2min40sec</a:t>
            </a:r>
            <a:endParaRPr kumimoji="1" lang="ja-JP" altLang="en-US"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5</a:t>
            </a:fld>
            <a:endParaRPr kumimoji="1" lang="ja-JP" altLang="en-US"/>
          </a:p>
        </p:txBody>
      </p:sp>
    </p:spTree>
    <p:extLst>
      <p:ext uri="{BB962C8B-B14F-4D97-AF65-F5344CB8AC3E}">
        <p14:creationId xmlns:p14="http://schemas.microsoft.com/office/powerpoint/2010/main" val="1326343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測定に使用した</a:t>
            </a:r>
            <a:r>
              <a:rPr kumimoji="1" lang="en-US" altLang="ja-JP" dirty="0"/>
              <a:t>BPM</a:t>
            </a:r>
            <a:r>
              <a:rPr kumimoji="1" lang="ja-JP" altLang="en-US" dirty="0"/>
              <a:t>ダクトの電極間距離は水平で</a:t>
            </a:r>
            <a:r>
              <a:rPr kumimoji="1" lang="en-US" altLang="ja-JP" dirty="0"/>
              <a:t>22mm</a:t>
            </a:r>
            <a:r>
              <a:rPr kumimoji="1" lang="ja-JP" altLang="en-US" dirty="0" err="1"/>
              <a:t>、</a:t>
            </a:r>
            <a:r>
              <a:rPr kumimoji="1" lang="ja-JP" altLang="en-US" dirty="0"/>
              <a:t>垂直で</a:t>
            </a:r>
            <a:r>
              <a:rPr kumimoji="1" lang="en-US" altLang="ja-JP" dirty="0"/>
              <a:t>38mm</a:t>
            </a:r>
            <a:r>
              <a:rPr kumimoji="1" lang="ja-JP" altLang="en-US" dirty="0"/>
              <a:t>です。</a:t>
            </a:r>
            <a:endParaRPr kumimoji="1" lang="en-US" altLang="ja-JP" dirty="0"/>
          </a:p>
          <a:p>
            <a:r>
              <a:rPr kumimoji="1" lang="ja-JP" altLang="en-US" dirty="0"/>
              <a:t>入射バンチを使用したビーム応答測定では、</a:t>
            </a:r>
            <a:endParaRPr kumimoji="1" lang="en-US" altLang="ja-JP" dirty="0"/>
          </a:p>
          <a:p>
            <a:r>
              <a:rPr kumimoji="1" lang="ja-JP" altLang="en-US" dirty="0"/>
              <a:t>電極間距離近くの振動を測定するための信号の非線形応答に対応した多項式によるフィッティングと</a:t>
            </a:r>
            <a:endParaRPr kumimoji="1" lang="en-US" altLang="ja-JP" dirty="0"/>
          </a:p>
          <a:p>
            <a:r>
              <a:rPr kumimoji="1" lang="en-US" altLang="ja-JP" dirty="0"/>
              <a:t>Turn-by-turn</a:t>
            </a:r>
            <a:r>
              <a:rPr kumimoji="1" lang="ja-JP" altLang="en-US" dirty="0"/>
              <a:t>で測定するためのサンプリング周波数をもった検出回路を使用しています。</a:t>
            </a:r>
            <a:endParaRPr kumimoji="1" lang="en-US" altLang="ja-JP" dirty="0"/>
          </a:p>
          <a:p>
            <a:endParaRPr kumimoji="1" lang="en-US" altLang="ja-JP" dirty="0"/>
          </a:p>
          <a:p>
            <a:r>
              <a:rPr kumimoji="1" lang="ja-JP" altLang="en-US" dirty="0"/>
              <a:t>図は検出回路で測定される蓄積ビームの振動です。</a:t>
            </a:r>
            <a:endParaRPr kumimoji="1" lang="en-US" altLang="ja-JP" dirty="0"/>
          </a:p>
          <a:p>
            <a:r>
              <a:rPr kumimoji="1" lang="ja-JP" altLang="en-US" dirty="0"/>
              <a:t>位置情報の導出は、</a:t>
            </a:r>
            <a:r>
              <a:rPr kumimoji="1" lang="en-US" altLang="ja-JP" dirty="0"/>
              <a:t>turn-by-turn</a:t>
            </a:r>
            <a:r>
              <a:rPr kumimoji="1" lang="ja-JP" altLang="en-US" dirty="0"/>
              <a:t>にデータを切り分けて、</a:t>
            </a:r>
            <a:r>
              <a:rPr kumimoji="1" lang="en-US" altLang="ja-JP" dirty="0"/>
              <a:t>DC</a:t>
            </a:r>
            <a:r>
              <a:rPr kumimoji="1" lang="ja-JP" altLang="en-US" dirty="0"/>
              <a:t>成分を取り除いた振幅の大きさを電極からの信号としました。</a:t>
            </a:r>
            <a:endParaRPr kumimoji="1" lang="en-US" altLang="ja-JP" dirty="0"/>
          </a:p>
          <a:p>
            <a:endParaRPr kumimoji="1" lang="en-US" altLang="ja-JP"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6</a:t>
            </a:fld>
            <a:endParaRPr kumimoji="1" lang="ja-JP" altLang="en-US"/>
          </a:p>
        </p:txBody>
      </p:sp>
    </p:spTree>
    <p:extLst>
      <p:ext uri="{BB962C8B-B14F-4D97-AF65-F5344CB8AC3E}">
        <p14:creationId xmlns:p14="http://schemas.microsoft.com/office/powerpoint/2010/main" val="2330094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図は先ほどの切り出された信号を使いビーム位置と電荷量を横軸に</a:t>
            </a:r>
            <a:r>
              <a:rPr kumimoji="1" lang="en-US" altLang="ja-JP" dirty="0"/>
              <a:t>turn</a:t>
            </a:r>
            <a:r>
              <a:rPr kumimoji="1" lang="ja-JP" altLang="en-US" dirty="0"/>
              <a:t>で並べたものです。</a:t>
            </a:r>
            <a:endParaRPr kumimoji="1" lang="en-US" altLang="ja-JP" dirty="0"/>
          </a:p>
          <a:p>
            <a:r>
              <a:rPr kumimoji="1" lang="ja-JP" altLang="en-US" dirty="0"/>
              <a:t>ビーム位置の情報は、以下の式を用いて位相空間情報に計算し、転送行列を用いて入射点に転送します。</a:t>
            </a:r>
            <a:endParaRPr kumimoji="1" lang="en-US" altLang="ja-JP" dirty="0"/>
          </a:p>
          <a:p>
            <a:r>
              <a:rPr kumimoji="1" lang="ja-JP" altLang="en-US" dirty="0"/>
              <a:t>入射バンチの判断条件や電荷量の少ないデータの除去に電荷量の値を使いました。</a:t>
            </a:r>
            <a:endParaRPr kumimoji="1" lang="en-US" altLang="ja-JP" dirty="0"/>
          </a:p>
          <a:p>
            <a:endParaRPr kumimoji="1" lang="en-US" altLang="ja-JP" dirty="0"/>
          </a:p>
          <a:p>
            <a:r>
              <a:rPr kumimoji="1" lang="ja-JP" altLang="en-US" dirty="0"/>
              <a:t>次に入射バンチに対して同様の手順を行った結果を示します。</a:t>
            </a:r>
            <a:endParaRPr kumimoji="1" lang="en-US" altLang="ja-JP" dirty="0"/>
          </a:p>
          <a:p>
            <a:endParaRPr kumimoji="1" lang="en-US" altLang="ja-JP" dirty="0"/>
          </a:p>
          <a:p>
            <a:r>
              <a:rPr kumimoji="1" lang="ja-JP" altLang="en-US" dirty="0"/>
              <a:t>＊入射ビームの図を挿入する</a:t>
            </a:r>
            <a:endParaRPr kumimoji="1" lang="en-US" altLang="ja-JP"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7</a:t>
            </a:fld>
            <a:endParaRPr kumimoji="1" lang="ja-JP" altLang="en-US"/>
          </a:p>
        </p:txBody>
      </p:sp>
    </p:spTree>
    <p:extLst>
      <p:ext uri="{BB962C8B-B14F-4D97-AF65-F5344CB8AC3E}">
        <p14:creationId xmlns:p14="http://schemas.microsoft.com/office/powerpoint/2010/main" val="403996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測定は</a:t>
            </a:r>
            <a:r>
              <a:rPr kumimoji="1" lang="en-US" altLang="ja-JP" dirty="0"/>
              <a:t>1Hz</a:t>
            </a:r>
            <a:r>
              <a:rPr kumimoji="1" lang="ja-JP" altLang="en-US" dirty="0"/>
              <a:t>入射、</a:t>
            </a:r>
            <a:r>
              <a:rPr kumimoji="1" lang="en-US" altLang="ja-JP" dirty="0"/>
              <a:t>1nC</a:t>
            </a:r>
            <a:r>
              <a:rPr kumimoji="1" lang="ja-JP" altLang="en-US" dirty="0"/>
              <a:t>の電荷量をもったビームで行いました。</a:t>
            </a:r>
            <a:endParaRPr kumimoji="1" lang="en-US" altLang="ja-JP" dirty="0"/>
          </a:p>
          <a:p>
            <a:r>
              <a:rPr kumimoji="1" lang="ja-JP" altLang="en-US" dirty="0"/>
              <a:t>図は、入射点のバンチを</a:t>
            </a:r>
            <a:r>
              <a:rPr kumimoji="1" lang="en-US" altLang="ja-JP" dirty="0"/>
              <a:t>100</a:t>
            </a:r>
            <a:r>
              <a:rPr kumimoji="1" lang="ja-JP" altLang="en-US" dirty="0"/>
              <a:t>点、位相空間にプロットしたものです。</a:t>
            </a:r>
            <a:endParaRPr kumimoji="1" lang="en-US" altLang="ja-JP" dirty="0"/>
          </a:p>
          <a:p>
            <a:r>
              <a:rPr kumimoji="1" lang="ja-JP" altLang="en-US" dirty="0"/>
              <a:t>入射ビームの応答測定では、初期振幅が電極間距離まであり非線形応答が大きくなること、電荷のばらつきが蓄積ビームの振動測定に比べて大きくなること、から分布のばらつきは大きいですが平均値は観測されました。</a:t>
            </a:r>
            <a:endParaRPr kumimoji="1" lang="en-US" altLang="ja-JP"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8</a:t>
            </a:fld>
            <a:endParaRPr kumimoji="1" lang="ja-JP" altLang="en-US"/>
          </a:p>
        </p:txBody>
      </p:sp>
    </p:spTree>
    <p:extLst>
      <p:ext uri="{BB962C8B-B14F-4D97-AF65-F5344CB8AC3E}">
        <p14:creationId xmlns:p14="http://schemas.microsoft.com/office/powerpoint/2010/main" val="15236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次に、ビームベース測定結果と測量の結果を比較します。</a:t>
            </a:r>
            <a:endParaRPr kumimoji="1" lang="en-US" altLang="ja-JP" dirty="0"/>
          </a:p>
          <a:p>
            <a:r>
              <a:rPr kumimoji="1" lang="ja-JP" altLang="en-US" dirty="0"/>
              <a:t>図のビーム位置関係は、真空漕の中にあるセプタム電磁石を、真空漕の外側の位置を測量して図面と比較し、位置を推定したものです。</a:t>
            </a:r>
            <a:endParaRPr kumimoji="1" lang="en-US" altLang="ja-JP" dirty="0"/>
          </a:p>
          <a:p>
            <a:r>
              <a:rPr kumimoji="1" lang="ja-JP" altLang="en-US" dirty="0"/>
              <a:t>先ほどの入射ビームの測定結果を、蓄積ビームの相対座標に直すと表の値になります。</a:t>
            </a:r>
            <a:endParaRPr kumimoji="1" lang="en-US" altLang="ja-JP" dirty="0"/>
          </a:p>
          <a:p>
            <a:r>
              <a:rPr kumimoji="1" lang="ja-JP" altLang="en-US" dirty="0"/>
              <a:t>分布の関係から入射バンプの高さは約</a:t>
            </a:r>
            <a:r>
              <a:rPr kumimoji="1" lang="en-US" altLang="ja-JP" dirty="0"/>
              <a:t>18</a:t>
            </a:r>
            <a:r>
              <a:rPr kumimoji="1" lang="ja-JP" altLang="en-US" dirty="0"/>
              <a:t>ｍｍと予測され、測量の結果を使ったバンプの高さの推定値とほぼ一致しています。</a:t>
            </a:r>
            <a:endParaRPr kumimoji="1" lang="en-US" altLang="ja-JP" dirty="0"/>
          </a:p>
          <a:p>
            <a:r>
              <a:rPr kumimoji="1" lang="ja-JP" altLang="en-US" dirty="0"/>
              <a:t>相対座標の入射ビームの位相空間情報は設計モデルから</a:t>
            </a:r>
            <a:r>
              <a:rPr kumimoji="1" lang="en-US" altLang="ja-JP" dirty="0"/>
              <a:t>3mm</a:t>
            </a:r>
            <a:r>
              <a:rPr kumimoji="1" lang="ja-JP" altLang="en-US" dirty="0"/>
              <a:t>離れ、</a:t>
            </a:r>
            <a:r>
              <a:rPr kumimoji="1" lang="en-US" altLang="ja-JP" dirty="0"/>
              <a:t>1mrad</a:t>
            </a:r>
            <a:r>
              <a:rPr kumimoji="1" lang="ja-JP" altLang="en-US" dirty="0"/>
              <a:t>大きく蹴っているため初期振幅が大きくなっていることがわかります。</a:t>
            </a:r>
            <a:endParaRPr kumimoji="1" lang="en-US" altLang="ja-JP" dirty="0"/>
          </a:p>
          <a:p>
            <a:endParaRPr kumimoji="1" lang="en-US" altLang="ja-JP" dirty="0"/>
          </a:p>
          <a:p>
            <a:r>
              <a:rPr kumimoji="1" lang="en-US" altLang="ja-JP" dirty="0"/>
              <a:t>Time:430sec</a:t>
            </a:r>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9</a:t>
            </a:fld>
            <a:endParaRPr kumimoji="1" lang="ja-JP" altLang="en-US"/>
          </a:p>
        </p:txBody>
      </p:sp>
    </p:spTree>
    <p:extLst>
      <p:ext uri="{BB962C8B-B14F-4D97-AF65-F5344CB8AC3E}">
        <p14:creationId xmlns:p14="http://schemas.microsoft.com/office/powerpoint/2010/main" val="2954706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10</a:t>
            </a:fld>
            <a:endParaRPr kumimoji="1" lang="ja-JP" altLang="en-US"/>
          </a:p>
        </p:txBody>
      </p:sp>
    </p:spTree>
    <p:extLst>
      <p:ext uri="{BB962C8B-B14F-4D97-AF65-F5344CB8AC3E}">
        <p14:creationId xmlns:p14="http://schemas.microsoft.com/office/powerpoint/2010/main" val="1640870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キッカーパルスの測定は、各キッカー電磁石を励磁したときの蓄積ビームの振動を測定して行った。</a:t>
            </a:r>
            <a:endParaRPr kumimoji="1" lang="en-US" altLang="ja-JP" dirty="0"/>
          </a:p>
          <a:p>
            <a:r>
              <a:rPr kumimoji="1" lang="ja-JP" altLang="en-US" dirty="0"/>
              <a:t>位相空間情報の導出は、入射ビームの応答測定と同様に行い、パルスの励磁タイミングをずらしながら、振動をパルス波形に直しました。</a:t>
            </a:r>
            <a:endParaRPr kumimoji="1" lang="en-US" altLang="ja-JP" dirty="0"/>
          </a:p>
          <a:p>
            <a:r>
              <a:rPr kumimoji="1" lang="ja-JP" altLang="en-US" dirty="0"/>
              <a:t>計算は以下の式を使い、一周の転送行列から離れた値をキッカー電磁石の蹴り角</a:t>
            </a:r>
            <a:r>
              <a:rPr kumimoji="1" lang="en-US" altLang="ja-JP" dirty="0"/>
              <a:t>θ</a:t>
            </a:r>
            <a:r>
              <a:rPr kumimoji="1" lang="ja-JP" altLang="en-US" dirty="0"/>
              <a:t>でフィッティングしています。</a:t>
            </a:r>
            <a:endParaRPr kumimoji="1" lang="en-US" altLang="ja-JP" dirty="0"/>
          </a:p>
          <a:p>
            <a:r>
              <a:rPr kumimoji="1" lang="ja-JP" altLang="en-US" dirty="0"/>
              <a:t>左図はキッカー電磁石</a:t>
            </a:r>
            <a:r>
              <a:rPr kumimoji="1" lang="en-US" altLang="ja-JP" dirty="0"/>
              <a:t>K3</a:t>
            </a:r>
            <a:r>
              <a:rPr kumimoji="1" lang="ja-JP" altLang="en-US" dirty="0"/>
              <a:t>で測定したビーム位置を表し、右図は上記の計算によって蹴り角に再構築した様子を示しています。</a:t>
            </a:r>
            <a:endParaRPr kumimoji="1" lang="en-US" altLang="ja-JP" dirty="0"/>
          </a:p>
          <a:p>
            <a:r>
              <a:rPr kumimoji="1" lang="ja-JP" altLang="en-US" dirty="0"/>
              <a:t>キッカー電磁石の蹴り角は</a:t>
            </a:r>
            <a:r>
              <a:rPr kumimoji="1" lang="en-US" altLang="ja-JP" dirty="0"/>
              <a:t>0.4mrad</a:t>
            </a:r>
            <a:r>
              <a:rPr kumimoji="1" lang="ja-JP" altLang="en-US" dirty="0"/>
              <a:t>与えて蓄積ビームを振動させています。</a:t>
            </a:r>
            <a:endParaRPr kumimoji="1" lang="en-US" altLang="ja-JP" dirty="0"/>
          </a:p>
          <a:p>
            <a:r>
              <a:rPr kumimoji="1" lang="ja-JP" altLang="en-US" dirty="0"/>
              <a:t>横軸の時間はパルス励磁のタイミングを</a:t>
            </a:r>
            <a:r>
              <a:rPr kumimoji="1" lang="en-US" altLang="ja-JP" dirty="0"/>
              <a:t>25sec</a:t>
            </a:r>
            <a:r>
              <a:rPr kumimoji="1" lang="ja-JP" altLang="en-US" dirty="0"/>
              <a:t>ずつ、遅延させて</a:t>
            </a:r>
            <a:r>
              <a:rPr kumimoji="1" lang="en-US" altLang="ja-JP" dirty="0"/>
              <a:t>2500nsec</a:t>
            </a:r>
            <a:r>
              <a:rPr kumimoji="1" lang="ja-JP" altLang="en-US" dirty="0" err="1"/>
              <a:t>まで</a:t>
            </a:r>
            <a:r>
              <a:rPr kumimoji="1" lang="ja-JP" altLang="en-US" dirty="0"/>
              <a:t>取りました。</a:t>
            </a:r>
            <a:endParaRPr kumimoji="1" lang="en-US" altLang="ja-JP" dirty="0"/>
          </a:p>
          <a:p>
            <a:endParaRPr kumimoji="1" lang="en-US" altLang="ja-JP" dirty="0"/>
          </a:p>
          <a:p>
            <a:r>
              <a:rPr kumimoji="1" lang="ja-JP" altLang="en-US" dirty="0"/>
              <a:t>キッカーパルスが１</a:t>
            </a:r>
            <a:r>
              <a:rPr kumimoji="1" lang="en-US" altLang="ja-JP" dirty="0"/>
              <a:t>Turn</a:t>
            </a:r>
            <a:r>
              <a:rPr kumimoji="1" lang="ja-JP" altLang="en-US" dirty="0"/>
              <a:t>よりも長い</a:t>
            </a:r>
            <a:endParaRPr kumimoji="1" lang="en-US" altLang="ja-JP" dirty="0"/>
          </a:p>
          <a:p>
            <a:r>
              <a:rPr kumimoji="1" lang="en-US" altLang="ja-JP" sz="1200" kern="1200" dirty="0">
                <a:solidFill>
                  <a:schemeClr val="tx1"/>
                </a:solidFill>
                <a:effectLst/>
                <a:latin typeface="+mn-lt"/>
                <a:ea typeface="+mn-ea"/>
                <a:cs typeface="+mn-cs"/>
              </a:rPr>
              <a:t>* </a:t>
            </a:r>
            <a:r>
              <a:rPr kumimoji="1" lang="ja-JP" altLang="ja-JP" sz="1200" kern="1200" dirty="0">
                <a:solidFill>
                  <a:schemeClr val="tx1"/>
                </a:solidFill>
                <a:effectLst/>
                <a:latin typeface="+mn-lt"/>
                <a:ea typeface="+mn-ea"/>
                <a:cs typeface="+mn-cs"/>
              </a:rPr>
              <a:t>キッカー電磁石の応答測定には「蓄積ビーム」を使ったことを説明したい。</a:t>
            </a:r>
          </a:p>
          <a:p>
            <a:r>
              <a:rPr kumimoji="1" lang="en-US" altLang="ja-JP" sz="1200" kern="1200" dirty="0">
                <a:solidFill>
                  <a:schemeClr val="tx1"/>
                </a:solidFill>
                <a:effectLst/>
                <a:latin typeface="+mn-lt"/>
                <a:ea typeface="+mn-ea"/>
                <a:cs typeface="+mn-cs"/>
              </a:rPr>
              <a:t>   * </a:t>
            </a:r>
            <a:r>
              <a:rPr kumimoji="1" lang="ja-JP" altLang="ja-JP" sz="1200" kern="1200" dirty="0">
                <a:solidFill>
                  <a:schemeClr val="tx1"/>
                </a:solidFill>
                <a:effectLst/>
                <a:latin typeface="+mn-lt"/>
                <a:ea typeface="+mn-ea"/>
                <a:cs typeface="+mn-cs"/>
              </a:rPr>
              <a:t>入射ビームは電荷が低く、精度に限界</a:t>
            </a:r>
          </a:p>
          <a:p>
            <a:r>
              <a:rPr kumimoji="1" lang="en-US" altLang="ja-JP" sz="1200" kern="1200" dirty="0">
                <a:solidFill>
                  <a:schemeClr val="tx1"/>
                </a:solidFill>
                <a:effectLst/>
                <a:latin typeface="+mn-lt"/>
                <a:ea typeface="+mn-ea"/>
                <a:cs typeface="+mn-cs"/>
              </a:rPr>
              <a:t>   * </a:t>
            </a:r>
            <a:r>
              <a:rPr kumimoji="1" lang="ja-JP" altLang="ja-JP" sz="1200" kern="1200" dirty="0">
                <a:solidFill>
                  <a:schemeClr val="tx1"/>
                </a:solidFill>
                <a:effectLst/>
                <a:latin typeface="+mn-lt"/>
                <a:ea typeface="+mn-ea"/>
                <a:cs typeface="+mn-cs"/>
              </a:rPr>
              <a:t>蓄積ビームを使えば精度</a:t>
            </a:r>
            <a:r>
              <a:rPr kumimoji="1" lang="en-US" altLang="ja-JP" sz="1200" kern="1200" dirty="0">
                <a:solidFill>
                  <a:schemeClr val="tx1"/>
                </a:solidFill>
                <a:effectLst/>
                <a:latin typeface="+mn-lt"/>
                <a:ea typeface="+mn-ea"/>
                <a:cs typeface="+mn-cs"/>
              </a:rPr>
              <a:t>S/N</a:t>
            </a:r>
            <a:r>
              <a:rPr kumimoji="1" lang="ja-JP" altLang="ja-JP" sz="1200" kern="1200" dirty="0">
                <a:solidFill>
                  <a:schemeClr val="tx1"/>
                </a:solidFill>
                <a:effectLst/>
                <a:latin typeface="+mn-lt"/>
                <a:ea typeface="+mn-ea"/>
                <a:cs typeface="+mn-cs"/>
              </a:rPr>
              <a:t>は良くなる。</a:t>
            </a:r>
            <a:r>
              <a:rPr kumimoji="1" lang="ja-JP" altLang="ja-JP" sz="1200" u="sng" kern="1200" dirty="0">
                <a:solidFill>
                  <a:schemeClr val="tx1"/>
                </a:solidFill>
                <a:effectLst/>
                <a:latin typeface="+mn-lt"/>
                <a:ea typeface="+mn-ea"/>
                <a:cs typeface="+mn-cs"/>
              </a:rPr>
              <a:t>欠点としては複数回キックすること</a:t>
            </a:r>
          </a:p>
          <a:p>
            <a:r>
              <a:rPr kumimoji="1" lang="en-US" altLang="ja-JP" sz="1200" kern="1200" dirty="0">
                <a:solidFill>
                  <a:schemeClr val="tx1"/>
                </a:solidFill>
                <a:effectLst/>
                <a:latin typeface="+mn-lt"/>
                <a:ea typeface="+mn-ea"/>
                <a:cs typeface="+mn-cs"/>
              </a:rPr>
              <a:t>   * </a:t>
            </a:r>
            <a:r>
              <a:rPr kumimoji="1" lang="ja-JP" altLang="ja-JP" sz="1200" kern="1200" dirty="0">
                <a:solidFill>
                  <a:schemeClr val="tx1"/>
                </a:solidFill>
                <a:effectLst/>
                <a:latin typeface="+mn-lt"/>
                <a:ea typeface="+mn-ea"/>
                <a:cs typeface="+mn-cs"/>
              </a:rPr>
              <a:t>ここで、蓄積ビームとキッカー波形の模式図が欲しい</a:t>
            </a:r>
          </a:p>
          <a:p>
            <a:endParaRPr kumimoji="1" lang="en-US" altLang="ja-JP"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11</a:t>
            </a:fld>
            <a:endParaRPr kumimoji="1" lang="ja-JP" altLang="en-US"/>
          </a:p>
        </p:txBody>
      </p:sp>
    </p:spTree>
    <p:extLst>
      <p:ext uri="{BB962C8B-B14F-4D97-AF65-F5344CB8AC3E}">
        <p14:creationId xmlns:p14="http://schemas.microsoft.com/office/powerpoint/2010/main" val="1942192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図は</a:t>
            </a:r>
            <a:r>
              <a:rPr kumimoji="1" lang="en-US" altLang="ja-JP" dirty="0"/>
              <a:t>K1</a:t>
            </a:r>
            <a:r>
              <a:rPr kumimoji="1" lang="ja-JP" altLang="en-US" dirty="0"/>
              <a:t>から</a:t>
            </a:r>
            <a:r>
              <a:rPr kumimoji="1" lang="en-US" altLang="ja-JP" dirty="0"/>
              <a:t>K4</a:t>
            </a:r>
            <a:r>
              <a:rPr kumimoji="1" lang="ja-JP" altLang="en-US" dirty="0"/>
              <a:t>のパルス波形を測定した結果をプロットしたものです。</a:t>
            </a:r>
            <a:endParaRPr kumimoji="1" lang="en-US" altLang="ja-JP" dirty="0"/>
          </a:p>
          <a:p>
            <a:r>
              <a:rPr kumimoji="1" lang="en-US" altLang="ja-JP" dirty="0"/>
              <a:t>K1</a:t>
            </a:r>
            <a:r>
              <a:rPr kumimoji="1" lang="ja-JP" altLang="en-US" dirty="0"/>
              <a:t>のパルス波形は同時に測定していた、</a:t>
            </a:r>
            <a:r>
              <a:rPr kumimoji="1" lang="en-US" altLang="ja-JP" dirty="0"/>
              <a:t>ID1</a:t>
            </a:r>
            <a:r>
              <a:rPr kumimoji="1" lang="ja-JP" altLang="en-US" dirty="0"/>
              <a:t>の応答から求めましたが、位相進みの関係から節に近いこと</a:t>
            </a:r>
            <a:r>
              <a:rPr kumimoji="1" lang="ja-JP" altLang="en-US" dirty="0" err="1"/>
              <a:t>、、</a:t>
            </a:r>
            <a:r>
              <a:rPr kumimoji="1" lang="ja-JP" altLang="en-US" dirty="0"/>
              <a:t>データにばらつきが観測されています。</a:t>
            </a:r>
            <a:endParaRPr kumimoji="1" lang="en-US" altLang="ja-JP" dirty="0"/>
          </a:p>
          <a:p>
            <a:r>
              <a:rPr kumimoji="1" lang="ja-JP" altLang="en-US" dirty="0"/>
              <a:t>ビームベース測定によるキッカー電磁石のパルス波形の直接、測定することによってモニター系から電磁石の環境によらない調整を行うことができ</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a:solidFill>
                  <a:schemeClr val="tx1"/>
                </a:solidFill>
                <a:effectLst/>
                <a:latin typeface="+mn-lt"/>
                <a:ea typeface="+mn-ea"/>
                <a:cs typeface="+mn-cs"/>
              </a:rPr>
              <a:t>* </a:t>
            </a:r>
            <a:r>
              <a:rPr kumimoji="1" lang="ja-JP" altLang="ja-JP" sz="1200" kern="1200" dirty="0">
                <a:solidFill>
                  <a:schemeClr val="tx1"/>
                </a:solidFill>
                <a:effectLst/>
                <a:latin typeface="+mn-lt"/>
                <a:ea typeface="+mn-ea"/>
                <a:cs typeface="+mn-cs"/>
              </a:rPr>
              <a:t>聞いている人が置いて行かれないように、適切に説明。（ここは丁寧に）</a:t>
            </a:r>
          </a:p>
          <a:p>
            <a:endParaRPr kumimoji="1" lang="en-US" altLang="ja-JP"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12</a:t>
            </a:fld>
            <a:endParaRPr kumimoji="1" lang="ja-JP" altLang="en-US"/>
          </a:p>
        </p:txBody>
      </p:sp>
    </p:spTree>
    <p:extLst>
      <p:ext uri="{BB962C8B-B14F-4D97-AF65-F5344CB8AC3E}">
        <p14:creationId xmlns:p14="http://schemas.microsoft.com/office/powerpoint/2010/main" val="3295340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r>
              <a:rPr kumimoji="1" lang="ja-JP" altLang="en-US" dirty="0"/>
              <a:t>アンダーシュートについては、ずれの原因（の可能性）をどこまで詳しく言うか、全体とのバランスで。</a:t>
            </a:r>
            <a:endParaRPr kumimoji="1" lang="en-US" altLang="ja-JP" dirty="0"/>
          </a:p>
          <a:p>
            <a:pPr marL="171450" indent="-171450">
              <a:buFont typeface="Arial" panose="020B0604020202020204" pitchFamily="34" charset="0"/>
              <a:buChar char="•"/>
            </a:pPr>
            <a:endParaRPr kumimoji="1" lang="ja-JP" altLang="en-US"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13</a:t>
            </a:fld>
            <a:endParaRPr kumimoji="1" lang="ja-JP" altLang="en-US"/>
          </a:p>
        </p:txBody>
      </p:sp>
    </p:spTree>
    <p:extLst>
      <p:ext uri="{BB962C8B-B14F-4D97-AF65-F5344CB8AC3E}">
        <p14:creationId xmlns:p14="http://schemas.microsoft.com/office/powerpoint/2010/main" val="1377029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14</a:t>
            </a:fld>
            <a:endParaRPr kumimoji="1" lang="ja-JP" altLang="en-US"/>
          </a:p>
        </p:txBody>
      </p:sp>
    </p:spTree>
    <p:extLst>
      <p:ext uri="{BB962C8B-B14F-4D97-AF65-F5344CB8AC3E}">
        <p14:creationId xmlns:p14="http://schemas.microsoft.com/office/powerpoint/2010/main" val="1612372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p14: </a:t>
            </a:r>
            <a:r>
              <a:rPr kumimoji="1" lang="ja-JP" altLang="en-US" dirty="0"/>
              <a:t>入射シミュレーション </a:t>
            </a:r>
            <a:r>
              <a:rPr kumimoji="1" lang="en-US" altLang="ja-JP" dirty="0"/>
              <a:t>: Optics</a:t>
            </a:r>
            <a:r>
              <a:rPr kumimoji="1" lang="ja-JP" altLang="en-US" dirty="0"/>
              <a:t>推定の話</a:t>
            </a:r>
          </a:p>
          <a:p>
            <a:r>
              <a:rPr kumimoji="1" lang="ja-JP" altLang="en-US" dirty="0"/>
              <a:t>* </a:t>
            </a:r>
            <a:r>
              <a:rPr kumimoji="1" lang="en-US" altLang="ja-JP" dirty="0"/>
              <a:t>LOCO</a:t>
            </a:r>
            <a:r>
              <a:rPr kumimoji="1" lang="ja-JP" altLang="en-US" dirty="0" err="1"/>
              <a:t>への</a:t>
            </a:r>
            <a:r>
              <a:rPr kumimoji="1" lang="ja-JP" altLang="en-US" dirty="0"/>
              <a:t> </a:t>
            </a:r>
            <a:r>
              <a:rPr kumimoji="1" lang="en-US" altLang="ja-JP" dirty="0"/>
              <a:t>reference </a:t>
            </a:r>
            <a:r>
              <a:rPr kumimoji="1" lang="ja-JP" altLang="en-US" dirty="0"/>
              <a:t>をページ下の方に。（小さくて良い）</a:t>
            </a:r>
          </a:p>
          <a:p>
            <a:r>
              <a:rPr kumimoji="1" lang="ja-JP" altLang="en-US" dirty="0"/>
              <a:t>* 何をフリーパラメータにしているのか、簡単に説明した方が良い</a:t>
            </a:r>
          </a:p>
          <a:p>
            <a:r>
              <a:rPr kumimoji="1" lang="ja-JP" altLang="en-US" dirty="0"/>
              <a:t>   * 設計との差がでたときに、</a:t>
            </a:r>
            <a:r>
              <a:rPr kumimoji="1" lang="en-US" altLang="ja-JP" dirty="0"/>
              <a:t>QM</a:t>
            </a:r>
            <a:r>
              <a:rPr kumimoji="1" lang="ja-JP" altLang="en-US" dirty="0"/>
              <a:t>に押し付けるのか、</a:t>
            </a:r>
            <a:r>
              <a:rPr kumimoji="1" lang="en-US" altLang="ja-JP" dirty="0"/>
              <a:t>BPM</a:t>
            </a:r>
            <a:r>
              <a:rPr kumimoji="1" lang="ja-JP" altLang="en-US" dirty="0"/>
              <a:t>誤差に押し付けるのか、その他いろいろある</a:t>
            </a:r>
          </a:p>
          <a:p>
            <a:endParaRPr kumimoji="1" lang="ja-JP" altLang="en-US"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15</a:t>
            </a:fld>
            <a:endParaRPr kumimoji="1" lang="ja-JP" altLang="en-US"/>
          </a:p>
        </p:txBody>
      </p:sp>
    </p:spTree>
    <p:extLst>
      <p:ext uri="{BB962C8B-B14F-4D97-AF65-F5344CB8AC3E}">
        <p14:creationId xmlns:p14="http://schemas.microsoft.com/office/powerpoint/2010/main" val="2305656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p15: </a:t>
            </a:r>
            <a:r>
              <a:rPr kumimoji="1" lang="ja-JP" altLang="en-US" dirty="0"/>
              <a:t>入射シミュレーション：トラッキングの話</a:t>
            </a:r>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16</a:t>
            </a:fld>
            <a:endParaRPr kumimoji="1" lang="ja-JP" altLang="en-US"/>
          </a:p>
        </p:txBody>
      </p:sp>
    </p:spTree>
    <p:extLst>
      <p:ext uri="{BB962C8B-B14F-4D97-AF65-F5344CB8AC3E}">
        <p14:creationId xmlns:p14="http://schemas.microsoft.com/office/powerpoint/2010/main" val="39940515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BE57186-1B9E-4FC3-AA72-307209268365}" type="slidenum">
              <a:rPr kumimoji="1" lang="ja-JP" altLang="en-US" smtClean="0"/>
              <a:t>17</a:t>
            </a:fld>
            <a:endParaRPr kumimoji="1" lang="ja-JP" altLang="en-US"/>
          </a:p>
        </p:txBody>
      </p:sp>
    </p:spTree>
    <p:extLst>
      <p:ext uri="{BB962C8B-B14F-4D97-AF65-F5344CB8AC3E}">
        <p14:creationId xmlns:p14="http://schemas.microsoft.com/office/powerpoint/2010/main" val="2234381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5CAB492-5CC0-424C-BE31-1911577A19F1}" type="datetime1">
              <a:rPr kumimoji="1" lang="ja-JP" altLang="en-US" smtClean="0"/>
              <a:t>2019/1/9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3107726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8DFF2E2-0B9D-4FEA-86F0-312AE70ADCE3}" type="datetime1">
              <a:rPr kumimoji="1" lang="ja-JP" altLang="en-US" smtClean="0"/>
              <a:t>2019/1/9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3736291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D94F9D2-F952-4D2C-BB19-169EABA9B647}" type="datetime1">
              <a:rPr kumimoji="1" lang="ja-JP" altLang="en-US" smtClean="0"/>
              <a:t>2019/1/9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321686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BD9ED233-0FCE-4CA9-965A-6E9DAAA35D56}" type="datetime1">
              <a:rPr kumimoji="1" lang="ja-JP" altLang="en-US" smtClean="0"/>
              <a:t>2019/1/9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3329264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6B2F820-AC0C-4B09-AE4A-ADC929DC07E6}" type="datetime1">
              <a:rPr kumimoji="1" lang="ja-JP" altLang="en-US" smtClean="0"/>
              <a:t>2019/1/9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1133844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D8A65FF-65BA-4159-99E0-F4B9C9C8D97E}" type="datetime1">
              <a:rPr kumimoji="1" lang="ja-JP" altLang="en-US" smtClean="0"/>
              <a:t>2019/1/9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3531542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1C9527-DF7B-4B4D-95D8-910731D26C42}" type="datetime1">
              <a:rPr kumimoji="1" lang="ja-JP" altLang="en-US" smtClean="0"/>
              <a:t>2019/1/9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572841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8AE78112-32A9-43E7-A4DE-7F4885B1101D}" type="datetime1">
              <a:rPr kumimoji="1" lang="ja-JP" altLang="en-US" smtClean="0"/>
              <a:t>2019/1/9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379002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9C766FD-C80F-465B-BD3F-4F60F8F8D1DA}" type="datetime1">
              <a:rPr kumimoji="1" lang="ja-JP" altLang="en-US" smtClean="0"/>
              <a:t>2019/1/9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3049391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D1A521F-5C1B-4DE1-A20B-B62BF241F449}" type="datetime1">
              <a:rPr kumimoji="1" lang="ja-JP" altLang="en-US" smtClean="0"/>
              <a:t>2019/1/9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181656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6A35D77-A794-46F3-86C1-0664A5B74255}" type="datetime1">
              <a:rPr kumimoji="1" lang="ja-JP" altLang="en-US" smtClean="0"/>
              <a:t>2019/1/9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4055010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C6B47E-45EF-42B7-AEAF-C932AA9981B3}" type="datetime1">
              <a:rPr kumimoji="1" lang="ja-JP" altLang="en-US" smtClean="0"/>
              <a:t>2019/1/9</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42C4F-1ABF-421A-9D5F-F691A5F6974A}" type="slidenum">
              <a:rPr kumimoji="1" lang="ja-JP" altLang="en-US" smtClean="0"/>
              <a:t>‹#›</a:t>
            </a:fld>
            <a:endParaRPr kumimoji="1" lang="ja-JP" altLang="en-US"/>
          </a:p>
        </p:txBody>
      </p:sp>
    </p:spTree>
    <p:extLst>
      <p:ext uri="{BB962C8B-B14F-4D97-AF65-F5344CB8AC3E}">
        <p14:creationId xmlns:p14="http://schemas.microsoft.com/office/powerpoint/2010/main" val="35288555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7"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0.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2.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20040" y="2059394"/>
            <a:ext cx="8503920" cy="2739211"/>
          </a:xfrm>
          <a:prstGeom prst="rect">
            <a:avLst/>
          </a:prstGeom>
          <a:noFill/>
        </p:spPr>
        <p:txBody>
          <a:bodyPr wrap="square" rtlCol="0" anchor="ctr" anchorCtr="1">
            <a:spAutoFit/>
          </a:bodyPr>
          <a:lstStyle/>
          <a:p>
            <a:pPr algn="ctr"/>
            <a:r>
              <a:rPr kumimoji="1" lang="en-US" altLang="ja-JP" sz="3600" dirty="0"/>
              <a:t>KEK</a:t>
            </a:r>
            <a:r>
              <a:rPr lang="en-US" altLang="ja-JP" sz="3600" dirty="0"/>
              <a:t>-</a:t>
            </a:r>
            <a:r>
              <a:rPr kumimoji="1" lang="en-US" altLang="ja-JP" sz="3600" dirty="0"/>
              <a:t>PF</a:t>
            </a:r>
            <a:r>
              <a:rPr lang="ja-JP" altLang="en-US" sz="3600" dirty="0"/>
              <a:t>に</a:t>
            </a:r>
            <a:r>
              <a:rPr lang="ja-JP" altLang="en-US" sz="3600" dirty="0" smtClean="0"/>
              <a:t>おける</a:t>
            </a:r>
            <a:endParaRPr lang="en-US" altLang="ja-JP" sz="3600" dirty="0" smtClean="0"/>
          </a:p>
          <a:p>
            <a:pPr algn="ctr"/>
            <a:r>
              <a:rPr lang="ja-JP" altLang="en-US" sz="3600" dirty="0" smtClean="0"/>
              <a:t>入射</a:t>
            </a:r>
            <a:r>
              <a:rPr lang="ja-JP" altLang="en-US" sz="3600" dirty="0"/>
              <a:t>効率改善のための研究</a:t>
            </a:r>
            <a:endParaRPr lang="en-US" altLang="ja-JP" sz="3600" dirty="0"/>
          </a:p>
          <a:p>
            <a:pPr algn="ctr"/>
            <a:endParaRPr kumimoji="1" lang="en-US" altLang="ja-JP" sz="2000" dirty="0"/>
          </a:p>
          <a:p>
            <a:pPr algn="ctr"/>
            <a:endParaRPr lang="en-US" altLang="ja-JP" sz="2000" dirty="0"/>
          </a:p>
          <a:p>
            <a:pPr algn="ctr"/>
            <a:r>
              <a:rPr lang="ja-JP" altLang="en-US" sz="2000" u="sng" dirty="0"/>
              <a:t>平野広</a:t>
            </a:r>
            <a:r>
              <a:rPr lang="ja-JP" altLang="en-US" sz="2000" u="sng" dirty="0" smtClean="0"/>
              <a:t>太</a:t>
            </a:r>
            <a:endParaRPr kumimoji="1" lang="en-US" altLang="ja-JP" sz="2000" dirty="0"/>
          </a:p>
          <a:p>
            <a:pPr algn="ctr"/>
            <a:r>
              <a:rPr lang="en-US" altLang="ja-JP" sz="2000" dirty="0" smtClean="0"/>
              <a:t>2019</a:t>
            </a:r>
            <a:r>
              <a:rPr lang="ja-JP" altLang="en-US" sz="2000" dirty="0" smtClean="0"/>
              <a:t>年</a:t>
            </a:r>
            <a:r>
              <a:rPr lang="en-US" altLang="ja-JP" sz="2000" dirty="0" smtClean="0"/>
              <a:t>2</a:t>
            </a:r>
            <a:r>
              <a:rPr lang="ja-JP" altLang="en-US" sz="2000" dirty="0" smtClean="0"/>
              <a:t>月</a:t>
            </a:r>
            <a:r>
              <a:rPr lang="en-US" altLang="ja-JP" sz="2000" dirty="0" smtClean="0"/>
              <a:t>14</a:t>
            </a:r>
            <a:r>
              <a:rPr lang="ja-JP" altLang="en-US" sz="2000" dirty="0" smtClean="0"/>
              <a:t>日（木）</a:t>
            </a:r>
            <a:endParaRPr lang="en-US" altLang="ja-JP" sz="2000" dirty="0" smtClean="0"/>
          </a:p>
          <a:p>
            <a:pPr algn="ctr"/>
            <a:r>
              <a:rPr lang="ja-JP" altLang="en-US" sz="2000" dirty="0"/>
              <a:t>修士</a:t>
            </a:r>
            <a:r>
              <a:rPr lang="ja-JP" altLang="en-US" sz="2000" dirty="0" smtClean="0"/>
              <a:t>論文発表会</a:t>
            </a:r>
            <a:endParaRPr lang="en-US" altLang="ja-JP" sz="2000" dirty="0"/>
          </a:p>
        </p:txBody>
      </p:sp>
      <p:sp>
        <p:nvSpPr>
          <p:cNvPr id="2" name="スライド番号プレースホルダー 1"/>
          <p:cNvSpPr>
            <a:spLocks noGrp="1"/>
          </p:cNvSpPr>
          <p:nvPr>
            <p:ph type="sldNum" sz="quarter" idx="12"/>
          </p:nvPr>
        </p:nvSpPr>
        <p:spPr/>
        <p:txBody>
          <a:bodyPr/>
          <a:lstStyle/>
          <a:p>
            <a:fld id="{26B42C4F-1ABF-421A-9D5F-F691A5F6974A}" type="slidenum">
              <a:rPr kumimoji="1" lang="ja-JP" altLang="en-US" smtClean="0"/>
              <a:t>1</a:t>
            </a:fld>
            <a:endParaRPr kumimoji="1" lang="ja-JP" altLang="en-US"/>
          </a:p>
        </p:txBody>
      </p:sp>
    </p:spTree>
    <p:extLst>
      <p:ext uri="{BB962C8B-B14F-4D97-AF65-F5344CB8AC3E}">
        <p14:creationId xmlns:p14="http://schemas.microsoft.com/office/powerpoint/2010/main" val="142215229"/>
      </p:ext>
    </p:extLst>
  </p:cSld>
  <p:clrMapOvr>
    <a:masterClrMapping/>
  </p:clrMapOvr>
  <mc:AlternateContent xmlns:mc="http://schemas.openxmlformats.org/markup-compatibility/2006" xmlns:p14="http://schemas.microsoft.com/office/powerpoint/2010/main">
    <mc:Choice Requires="p14">
      <p:transition spd="slow" p14:dur="2000" advTm="894"/>
    </mc:Choice>
    <mc:Fallback xmlns="">
      <p:transition spd="slow" advTm="89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p:cNvSpPr/>
          <p:nvPr/>
        </p:nvSpPr>
        <p:spPr>
          <a:xfrm>
            <a:off x="162000" y="1295566"/>
            <a:ext cx="8820000" cy="438113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p:cNvSpPr txBox="1"/>
          <p:nvPr/>
        </p:nvSpPr>
        <p:spPr>
          <a:xfrm>
            <a:off x="0" y="0"/>
            <a:ext cx="4175760" cy="646331"/>
          </a:xfrm>
          <a:prstGeom prst="rect">
            <a:avLst/>
          </a:prstGeom>
          <a:noFill/>
        </p:spPr>
        <p:txBody>
          <a:bodyPr wrap="square" rtlCol="0">
            <a:spAutoFit/>
          </a:bodyPr>
          <a:lstStyle/>
          <a:p>
            <a:r>
              <a:rPr kumimoji="1" lang="en-US" altLang="ja-JP" sz="3600" dirty="0">
                <a:solidFill>
                  <a:schemeClr val="accent1">
                    <a:lumMod val="75000"/>
                  </a:schemeClr>
                </a:solidFill>
              </a:rPr>
              <a:t>Contents</a:t>
            </a:r>
            <a:endParaRPr lang="ja-JP" altLang="ja-JP" sz="2000" dirty="0">
              <a:solidFill>
                <a:schemeClr val="accent1">
                  <a:lumMod val="75000"/>
                </a:schemeClr>
              </a:solidFill>
            </a:endParaRPr>
          </a:p>
        </p:txBody>
      </p:sp>
      <p:sp>
        <p:nvSpPr>
          <p:cNvPr id="7" name="正方形/長方形 6"/>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320040" y="1276114"/>
            <a:ext cx="8503920" cy="4401205"/>
          </a:xfrm>
          <a:prstGeom prst="rect">
            <a:avLst/>
          </a:prstGeom>
          <a:noFill/>
        </p:spPr>
        <p:txBody>
          <a:bodyPr wrap="square" rtlCol="0">
            <a:spAutoFit/>
          </a:bodyPr>
          <a:lstStyle/>
          <a:p>
            <a:r>
              <a:rPr lang="ja-JP" altLang="en-US" sz="2800" dirty="0"/>
              <a:t>１．はじめに</a:t>
            </a:r>
            <a:endParaRPr lang="en-US" altLang="ja-JP" sz="2800" dirty="0"/>
          </a:p>
          <a:p>
            <a:r>
              <a:rPr lang="en-US" altLang="ja-JP" sz="2800" dirty="0"/>
              <a:t>	</a:t>
            </a:r>
            <a:r>
              <a:rPr lang="ja-JP" altLang="en-US" sz="2800" dirty="0"/>
              <a:t>・研究背景・目的</a:t>
            </a:r>
            <a:endParaRPr lang="en-US" altLang="ja-JP" sz="2800" dirty="0"/>
          </a:p>
          <a:p>
            <a:r>
              <a:rPr lang="ja-JP" altLang="en-US" sz="2800" dirty="0"/>
              <a:t>２．入射パラメータの測定</a:t>
            </a:r>
            <a:endParaRPr lang="en-US" altLang="ja-JP" sz="2800" dirty="0"/>
          </a:p>
          <a:p>
            <a:r>
              <a:rPr lang="en-US" altLang="ja-JP" sz="2800" dirty="0"/>
              <a:t>	</a:t>
            </a:r>
            <a:r>
              <a:rPr lang="ja-JP" altLang="en-US" sz="2800" dirty="0"/>
              <a:t>・ビームベース測定の概要</a:t>
            </a:r>
            <a:endParaRPr lang="en-US" altLang="ja-JP" sz="2800" dirty="0"/>
          </a:p>
          <a:p>
            <a:r>
              <a:rPr lang="en-US" altLang="ja-JP" sz="2800" dirty="0"/>
              <a:t>	</a:t>
            </a:r>
            <a:r>
              <a:rPr lang="ja-JP" altLang="en-US" sz="2800" dirty="0"/>
              <a:t>・入射ビームの測定</a:t>
            </a:r>
            <a:endParaRPr lang="en-US" altLang="ja-JP" sz="2800" dirty="0"/>
          </a:p>
          <a:p>
            <a:r>
              <a:rPr lang="en-US" altLang="ja-JP" sz="2800" dirty="0"/>
              <a:t>	</a:t>
            </a:r>
            <a:r>
              <a:rPr lang="ja-JP" altLang="en-US" sz="2800" dirty="0"/>
              <a:t>・キッカー電磁石の応答測定</a:t>
            </a:r>
            <a:endParaRPr lang="en-US" altLang="ja-JP" sz="2800" dirty="0"/>
          </a:p>
          <a:p>
            <a:r>
              <a:rPr lang="ja-JP" altLang="en-US" sz="2800" dirty="0"/>
              <a:t>３．入射シミュレーション</a:t>
            </a:r>
            <a:endParaRPr lang="en-US" altLang="ja-JP" sz="2800" dirty="0"/>
          </a:p>
          <a:p>
            <a:r>
              <a:rPr lang="en-US" altLang="ja-JP" sz="2800" dirty="0"/>
              <a:t>	</a:t>
            </a:r>
            <a:r>
              <a:rPr lang="ja-JP" altLang="en-US" sz="2800" dirty="0"/>
              <a:t>・オプティックスの測定</a:t>
            </a:r>
            <a:endParaRPr lang="en-US" altLang="ja-JP" sz="2800" dirty="0"/>
          </a:p>
          <a:p>
            <a:r>
              <a:rPr lang="en-US" altLang="ja-JP" sz="2800" dirty="0"/>
              <a:t>	</a:t>
            </a:r>
            <a:r>
              <a:rPr lang="ja-JP" altLang="en-US" sz="2800" dirty="0"/>
              <a:t>・入射効率の計算</a:t>
            </a:r>
            <a:endParaRPr lang="en-US" altLang="ja-JP" sz="2800" dirty="0"/>
          </a:p>
          <a:p>
            <a:r>
              <a:rPr lang="ja-JP" altLang="en-US" sz="2800" dirty="0"/>
              <a:t>４．まとめ</a:t>
            </a:r>
            <a:endParaRPr lang="ja-JP" altLang="ja-JP" sz="2800" dirty="0"/>
          </a:p>
        </p:txBody>
      </p:sp>
      <p:sp>
        <p:nvSpPr>
          <p:cNvPr id="2" name="スライド番号プレースホルダー 1"/>
          <p:cNvSpPr>
            <a:spLocks noGrp="1"/>
          </p:cNvSpPr>
          <p:nvPr>
            <p:ph type="sldNum" sz="quarter" idx="12"/>
          </p:nvPr>
        </p:nvSpPr>
        <p:spPr/>
        <p:txBody>
          <a:bodyPr/>
          <a:lstStyle/>
          <a:p>
            <a:fld id="{26B42C4F-1ABF-421A-9D5F-F691A5F6974A}" type="slidenum">
              <a:rPr kumimoji="1" lang="ja-JP" altLang="en-US" smtClean="0"/>
              <a:t>2</a:t>
            </a:fld>
            <a:endParaRPr kumimoji="1" lang="ja-JP" altLang="en-US"/>
          </a:p>
        </p:txBody>
      </p:sp>
    </p:spTree>
    <p:extLst>
      <p:ext uri="{BB962C8B-B14F-4D97-AF65-F5344CB8AC3E}">
        <p14:creationId xmlns:p14="http://schemas.microsoft.com/office/powerpoint/2010/main" val="1369229273"/>
      </p:ext>
    </p:extLst>
  </p:cSld>
  <p:clrMapOvr>
    <a:masterClrMapping/>
  </p:clrMapOvr>
  <mc:AlternateContent xmlns:mc="http://schemas.openxmlformats.org/markup-compatibility/2006" xmlns:p14="http://schemas.microsoft.com/office/powerpoint/2010/main">
    <mc:Choice Requires="p14">
      <p:transition spd="slow" p14:dur="2000" advTm="248"/>
    </mc:Choice>
    <mc:Fallback xmlns="">
      <p:transition spd="slow" advTm="24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0" y="0"/>
            <a:ext cx="3433172" cy="646331"/>
          </a:xfrm>
          <a:prstGeom prst="rect">
            <a:avLst/>
          </a:prstGeom>
          <a:noFill/>
        </p:spPr>
        <p:txBody>
          <a:bodyPr wrap="square" rtlCol="0" anchor="ctr">
            <a:spAutoFit/>
          </a:bodyPr>
          <a:lstStyle/>
          <a:p>
            <a:r>
              <a:rPr lang="en-US" altLang="ja-JP" sz="3600" dirty="0">
                <a:solidFill>
                  <a:schemeClr val="accent1">
                    <a:lumMod val="75000"/>
                  </a:schemeClr>
                </a:solidFill>
              </a:rPr>
              <a:t>1-1</a:t>
            </a:r>
            <a:r>
              <a:rPr lang="ja-JP" altLang="en-US" sz="3600" dirty="0">
                <a:solidFill>
                  <a:schemeClr val="accent1">
                    <a:lumMod val="75000"/>
                  </a:schemeClr>
                </a:solidFill>
              </a:rPr>
              <a:t>　背景と目的</a:t>
            </a:r>
            <a:endParaRPr lang="ja-JP" altLang="ja-JP" sz="2800" dirty="0">
              <a:solidFill>
                <a:schemeClr val="accent1">
                  <a:lumMod val="75000"/>
                </a:schemeClr>
              </a:solidFill>
            </a:endParaRPr>
          </a:p>
        </p:txBody>
      </p:sp>
      <p:grpSp>
        <p:nvGrpSpPr>
          <p:cNvPr id="11" name="グループ化 10"/>
          <p:cNvGrpSpPr/>
          <p:nvPr/>
        </p:nvGrpSpPr>
        <p:grpSpPr>
          <a:xfrm>
            <a:off x="1641303" y="3834662"/>
            <a:ext cx="5861394" cy="2658213"/>
            <a:chOff x="2558779" y="2510508"/>
            <a:chExt cx="5861394" cy="2658213"/>
          </a:xfrm>
        </p:grpSpPr>
        <p:graphicFrame>
          <p:nvGraphicFramePr>
            <p:cNvPr id="13" name="グラフ 12"/>
            <p:cNvGraphicFramePr>
              <a:graphicFrameLocks/>
            </p:cNvGraphicFramePr>
            <p:nvPr>
              <p:extLst/>
            </p:nvPr>
          </p:nvGraphicFramePr>
          <p:xfrm>
            <a:off x="4640173" y="2609347"/>
            <a:ext cx="3780000" cy="2402542"/>
          </p:xfrm>
          <a:graphic>
            <a:graphicData uri="http://schemas.openxmlformats.org/drawingml/2006/chart">
              <c:chart xmlns:c="http://schemas.openxmlformats.org/drawingml/2006/chart" xmlns:r="http://schemas.openxmlformats.org/officeDocument/2006/relationships" r:id="rId3"/>
            </a:graphicData>
          </a:graphic>
        </p:graphicFrame>
        <p:grpSp>
          <p:nvGrpSpPr>
            <p:cNvPr id="14" name="グループ化 13"/>
            <p:cNvGrpSpPr/>
            <p:nvPr/>
          </p:nvGrpSpPr>
          <p:grpSpPr>
            <a:xfrm>
              <a:off x="2558779" y="2510508"/>
              <a:ext cx="5575652" cy="2658213"/>
              <a:chOff x="2558779" y="2510508"/>
              <a:chExt cx="5575652" cy="2658213"/>
            </a:xfrm>
          </p:grpSpPr>
          <p:cxnSp>
            <p:nvCxnSpPr>
              <p:cNvPr id="16" name="直線コネクタ 15"/>
              <p:cNvCxnSpPr/>
              <p:nvPr/>
            </p:nvCxnSpPr>
            <p:spPr>
              <a:xfrm flipH="1">
                <a:off x="5160613" y="2840170"/>
                <a:ext cx="0" cy="1872000"/>
              </a:xfrm>
              <a:prstGeom prst="line">
                <a:avLst/>
              </a:prstGeom>
              <a:ln w="28575">
                <a:solidFill>
                  <a:srgbClr val="FF0000"/>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nvGrpSpPr>
              <p:cNvPr id="17" name="グループ化 16"/>
              <p:cNvGrpSpPr/>
              <p:nvPr/>
            </p:nvGrpSpPr>
            <p:grpSpPr>
              <a:xfrm>
                <a:off x="2558779" y="2510508"/>
                <a:ext cx="5575652" cy="2658213"/>
                <a:chOff x="2558779" y="2510508"/>
                <a:chExt cx="5575652" cy="2658213"/>
              </a:xfrm>
            </p:grpSpPr>
            <p:grpSp>
              <p:nvGrpSpPr>
                <p:cNvPr id="18" name="グループ化 17"/>
                <p:cNvGrpSpPr/>
                <p:nvPr/>
              </p:nvGrpSpPr>
              <p:grpSpPr>
                <a:xfrm>
                  <a:off x="2558779" y="2510508"/>
                  <a:ext cx="5575652" cy="2658213"/>
                  <a:chOff x="2558779" y="2714834"/>
                  <a:chExt cx="5575652" cy="2467683"/>
                </a:xfrm>
              </p:grpSpPr>
              <p:cxnSp>
                <p:nvCxnSpPr>
                  <p:cNvPr id="20" name="直線コネクタ 19"/>
                  <p:cNvCxnSpPr/>
                  <p:nvPr/>
                </p:nvCxnSpPr>
                <p:spPr>
                  <a:xfrm flipH="1" flipV="1">
                    <a:off x="5353370" y="3825561"/>
                    <a:ext cx="108000" cy="36000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graphicFrame>
                <p:nvGraphicFramePr>
                  <p:cNvPr id="21" name="グラフ 20"/>
                  <p:cNvGraphicFramePr>
                    <a:graphicFrameLocks/>
                  </p:cNvGraphicFramePr>
                  <p:nvPr>
                    <p:extLst/>
                  </p:nvPr>
                </p:nvGraphicFramePr>
                <p:xfrm>
                  <a:off x="5006864" y="2914678"/>
                  <a:ext cx="900000" cy="144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グラフ 21"/>
                  <p:cNvGraphicFramePr>
                    <a:graphicFrameLocks/>
                  </p:cNvGraphicFramePr>
                  <p:nvPr>
                    <p:extLst/>
                  </p:nvPr>
                </p:nvGraphicFramePr>
                <p:xfrm>
                  <a:off x="5414799" y="3311015"/>
                  <a:ext cx="2719632" cy="1871502"/>
                </p:xfrm>
                <a:graphic>
                  <a:graphicData uri="http://schemas.openxmlformats.org/drawingml/2006/chart">
                    <c:chart xmlns:c="http://schemas.openxmlformats.org/drawingml/2006/chart" xmlns:r="http://schemas.openxmlformats.org/officeDocument/2006/relationships" r:id="rId5"/>
                  </a:graphicData>
                </a:graphic>
              </p:graphicFrame>
              <p:sp>
                <p:nvSpPr>
                  <p:cNvPr id="23" name="正方形/長方形 22"/>
                  <p:cNvSpPr/>
                  <p:nvPr/>
                </p:nvSpPr>
                <p:spPr>
                  <a:xfrm>
                    <a:off x="4173844" y="3357400"/>
                    <a:ext cx="915251" cy="1274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cxnSp>
                <p:nvCxnSpPr>
                  <p:cNvPr id="24" name="直線矢印コネクタ 23"/>
                  <p:cNvCxnSpPr/>
                  <p:nvPr/>
                </p:nvCxnSpPr>
                <p:spPr>
                  <a:xfrm flipV="1">
                    <a:off x="3967682" y="4211770"/>
                    <a:ext cx="3816000" cy="0"/>
                  </a:xfrm>
                  <a:prstGeom prst="straightConnector1">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2558779" y="3143852"/>
                    <a:ext cx="1558236" cy="342860"/>
                  </a:xfrm>
                  <a:prstGeom prst="rect">
                    <a:avLst/>
                  </a:prstGeom>
                  <a:noFill/>
                </p:spPr>
                <p:txBody>
                  <a:bodyPr wrap="square" rtlCol="0">
                    <a:spAutoFit/>
                  </a:bodyPr>
                  <a:lstStyle/>
                  <a:p>
                    <a:r>
                      <a:rPr kumimoji="1" lang="en-US" altLang="ja-JP" b="1" dirty="0">
                        <a:latin typeface="+mn-ea"/>
                      </a:rPr>
                      <a:t>Septum </a:t>
                    </a:r>
                    <a:r>
                      <a:rPr lang="en-US" altLang="ja-JP" b="1" dirty="0">
                        <a:latin typeface="+mn-ea"/>
                      </a:rPr>
                      <a:t>Wall</a:t>
                    </a:r>
                    <a:endParaRPr kumimoji="1" lang="ja-JP" altLang="en-US" b="1" dirty="0">
                      <a:latin typeface="+mn-ea"/>
                    </a:endParaRPr>
                  </a:p>
                </p:txBody>
              </p:sp>
              <p:sp>
                <p:nvSpPr>
                  <p:cNvPr id="26" name="テキスト ボックス 25"/>
                  <p:cNvSpPr txBox="1"/>
                  <p:nvPr/>
                </p:nvSpPr>
                <p:spPr>
                  <a:xfrm>
                    <a:off x="2558779" y="4032119"/>
                    <a:ext cx="1512000" cy="342860"/>
                  </a:xfrm>
                  <a:prstGeom prst="rect">
                    <a:avLst/>
                  </a:prstGeom>
                  <a:noFill/>
                </p:spPr>
                <p:txBody>
                  <a:bodyPr wrap="square" rtlCol="0">
                    <a:spAutoFit/>
                  </a:bodyPr>
                  <a:lstStyle/>
                  <a:p>
                    <a:r>
                      <a:rPr lang="en-US" altLang="ja-JP" b="1" dirty="0">
                        <a:latin typeface="+mn-ea"/>
                      </a:rPr>
                      <a:t>Stored Beam</a:t>
                    </a:r>
                    <a:endParaRPr kumimoji="1" lang="ja-JP" altLang="en-US" b="1" dirty="0">
                      <a:latin typeface="+mn-ea"/>
                    </a:endParaRPr>
                  </a:p>
                </p:txBody>
              </p:sp>
              <p:sp>
                <p:nvSpPr>
                  <p:cNvPr id="27" name="テキスト ボックス 26"/>
                  <p:cNvSpPr txBox="1"/>
                  <p:nvPr/>
                </p:nvSpPr>
                <p:spPr>
                  <a:xfrm>
                    <a:off x="2558779" y="2714834"/>
                    <a:ext cx="1650322" cy="342860"/>
                  </a:xfrm>
                  <a:prstGeom prst="rect">
                    <a:avLst/>
                  </a:prstGeom>
                  <a:noFill/>
                </p:spPr>
                <p:txBody>
                  <a:bodyPr wrap="square" rtlCol="0">
                    <a:spAutoFit/>
                  </a:bodyPr>
                  <a:lstStyle/>
                  <a:p>
                    <a:r>
                      <a:rPr lang="en-US" altLang="ja-JP" b="1" dirty="0">
                        <a:latin typeface="+mn-ea"/>
                      </a:rPr>
                      <a:t>Injected Beam</a:t>
                    </a:r>
                    <a:endParaRPr kumimoji="1" lang="ja-JP" altLang="en-US" b="1" dirty="0">
                      <a:latin typeface="+mn-ea"/>
                    </a:endParaRPr>
                  </a:p>
                </p:txBody>
              </p:sp>
              <p:cxnSp>
                <p:nvCxnSpPr>
                  <p:cNvPr id="28" name="直線コネクタ 27"/>
                  <p:cNvCxnSpPr/>
                  <p:nvPr/>
                </p:nvCxnSpPr>
                <p:spPr>
                  <a:xfrm flipH="1" flipV="1">
                    <a:off x="4044613" y="2889874"/>
                    <a:ext cx="1116000" cy="3458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9" name="テキスト ボックス 28"/>
                  <p:cNvSpPr txBox="1"/>
                  <p:nvPr/>
                </p:nvSpPr>
                <p:spPr>
                  <a:xfrm>
                    <a:off x="3678011" y="4698748"/>
                    <a:ext cx="2228853" cy="342860"/>
                  </a:xfrm>
                  <a:prstGeom prst="rect">
                    <a:avLst/>
                  </a:prstGeom>
                  <a:noFill/>
                </p:spPr>
                <p:txBody>
                  <a:bodyPr wrap="square" rtlCol="0">
                    <a:spAutoFit/>
                  </a:bodyPr>
                  <a:lstStyle/>
                  <a:p>
                    <a:pPr algn="ctr"/>
                    <a:r>
                      <a:rPr kumimoji="1" lang="en-US" altLang="ja-JP" b="1" dirty="0">
                        <a:latin typeface="+mn-ea"/>
                      </a:rPr>
                      <a:t>Four</a:t>
                    </a:r>
                    <a:r>
                      <a:rPr lang="en-US" altLang="ja-JP" b="1" dirty="0">
                        <a:latin typeface="+mn-ea"/>
                      </a:rPr>
                      <a:t>-K</a:t>
                    </a:r>
                    <a:r>
                      <a:rPr kumimoji="1" lang="en-US" altLang="ja-JP" b="1" dirty="0">
                        <a:latin typeface="+mn-ea"/>
                      </a:rPr>
                      <a:t>icker</a:t>
                    </a:r>
                    <a:r>
                      <a:rPr kumimoji="1" lang="en-US" altLang="ja-JP" sz="1400" b="1" dirty="0">
                        <a:latin typeface="+mn-ea"/>
                      </a:rPr>
                      <a:t> </a:t>
                    </a:r>
                    <a:r>
                      <a:rPr lang="en-US" altLang="ja-JP" b="1" dirty="0">
                        <a:latin typeface="+mn-ea"/>
                      </a:rPr>
                      <a:t>M</a:t>
                    </a:r>
                    <a:r>
                      <a:rPr kumimoji="1" lang="en-US" altLang="ja-JP" b="1" dirty="0">
                        <a:latin typeface="+mn-ea"/>
                      </a:rPr>
                      <a:t>agnets</a:t>
                    </a:r>
                    <a:endParaRPr kumimoji="1" lang="ja-JP" altLang="en-US" sz="1400" b="1" dirty="0">
                      <a:latin typeface="+mn-ea"/>
                    </a:endParaRPr>
                  </a:p>
                </p:txBody>
              </p:sp>
              <p:cxnSp>
                <p:nvCxnSpPr>
                  <p:cNvPr id="30" name="直線コネクタ 29"/>
                  <p:cNvCxnSpPr/>
                  <p:nvPr/>
                </p:nvCxnSpPr>
                <p:spPr>
                  <a:xfrm flipV="1">
                    <a:off x="4160162" y="3843736"/>
                    <a:ext cx="162000" cy="36000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flipH="1" flipV="1">
                    <a:off x="5298339" y="3786692"/>
                    <a:ext cx="0" cy="972000"/>
                  </a:xfrm>
                  <a:prstGeom prst="straightConnector1">
                    <a:avLst/>
                  </a:prstGeom>
                  <a:ln w="28575">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V="1">
                    <a:off x="4350648" y="3774683"/>
                    <a:ext cx="996339"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flipH="1" flipV="1">
                    <a:off x="4390562" y="3787383"/>
                    <a:ext cx="0" cy="972000"/>
                  </a:xfrm>
                  <a:prstGeom prst="straightConnector1">
                    <a:avLst/>
                  </a:prstGeom>
                  <a:ln w="28575">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p:cNvCxnSpPr/>
                  <p:nvPr/>
                </p:nvCxnSpPr>
                <p:spPr>
                  <a:xfrm flipH="1" flipV="1">
                    <a:off x="5480534" y="4219383"/>
                    <a:ext cx="0" cy="540000"/>
                  </a:xfrm>
                  <a:prstGeom prst="straightConnector1">
                    <a:avLst/>
                  </a:prstGeom>
                  <a:ln w="28575">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p:cNvCxnSpPr/>
                  <p:nvPr/>
                </p:nvCxnSpPr>
                <p:spPr>
                  <a:xfrm flipH="1" flipV="1">
                    <a:off x="4173844" y="4219383"/>
                    <a:ext cx="0" cy="540000"/>
                  </a:xfrm>
                  <a:prstGeom prst="straightConnector1">
                    <a:avLst/>
                  </a:prstGeom>
                  <a:ln w="28575">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p:cNvSpPr txBox="1"/>
                  <p:nvPr/>
                </p:nvSpPr>
                <p:spPr>
                  <a:xfrm>
                    <a:off x="2558779" y="3587986"/>
                    <a:ext cx="1800000" cy="342860"/>
                  </a:xfrm>
                  <a:prstGeom prst="rect">
                    <a:avLst/>
                  </a:prstGeom>
                  <a:noFill/>
                </p:spPr>
                <p:txBody>
                  <a:bodyPr wrap="square" rtlCol="0">
                    <a:spAutoFit/>
                  </a:bodyPr>
                  <a:lstStyle/>
                  <a:p>
                    <a:r>
                      <a:rPr lang="en-US" altLang="ja-JP" b="1" dirty="0">
                        <a:latin typeface="+mn-ea"/>
                      </a:rPr>
                      <a:t>Injection Bump</a:t>
                    </a:r>
                  </a:p>
                </p:txBody>
              </p:sp>
            </p:grpSp>
            <p:sp>
              <p:nvSpPr>
                <p:cNvPr id="19" name="正方形/長方形 18"/>
                <p:cNvSpPr/>
                <p:nvPr/>
              </p:nvSpPr>
              <p:spPr>
                <a:xfrm>
                  <a:off x="4661095" y="2510508"/>
                  <a:ext cx="1592103" cy="369332"/>
                </a:xfrm>
                <a:prstGeom prst="rect">
                  <a:avLst/>
                </a:prstGeom>
              </p:spPr>
              <p:txBody>
                <a:bodyPr wrap="none">
                  <a:spAutoFit/>
                </a:bodyPr>
                <a:lstStyle/>
                <a:p>
                  <a:r>
                    <a:rPr lang="en-US" altLang="ja-JP" b="1" dirty="0">
                      <a:latin typeface="+mn-ea"/>
                    </a:rPr>
                    <a:t>Injection Point</a:t>
                  </a:r>
                  <a:endParaRPr lang="ja-JP" altLang="en-US" sz="2400" b="1" dirty="0"/>
                </a:p>
              </p:txBody>
            </p:sp>
          </p:grpSp>
        </p:grpSp>
        <p:sp>
          <p:nvSpPr>
            <p:cNvPr id="15" name="テキスト ボックス 14"/>
            <p:cNvSpPr txBox="1"/>
            <p:nvPr/>
          </p:nvSpPr>
          <p:spPr>
            <a:xfrm>
              <a:off x="5170330" y="3245001"/>
              <a:ext cx="1968526" cy="369332"/>
            </a:xfrm>
            <a:prstGeom prst="rect">
              <a:avLst/>
            </a:prstGeom>
            <a:noFill/>
          </p:spPr>
          <p:txBody>
            <a:bodyPr wrap="square" rtlCol="0">
              <a:spAutoFit/>
            </a:bodyPr>
            <a:lstStyle/>
            <a:p>
              <a:r>
                <a:rPr kumimoji="1" lang="en-US" altLang="ja-JP" b="1" dirty="0">
                  <a:latin typeface="+mn-ea"/>
                </a:rPr>
                <a:t>Initial Amplitude</a:t>
              </a:r>
              <a:endParaRPr kumimoji="1" lang="ja-JP" altLang="en-US" b="1" dirty="0">
                <a:latin typeface="+mn-ea"/>
              </a:endParaRPr>
            </a:p>
          </p:txBody>
        </p:sp>
      </p:grpSp>
      <p:cxnSp>
        <p:nvCxnSpPr>
          <p:cNvPr id="12" name="直線矢印コネクタ 11"/>
          <p:cNvCxnSpPr/>
          <p:nvPr/>
        </p:nvCxnSpPr>
        <p:spPr>
          <a:xfrm>
            <a:off x="4243137" y="4398490"/>
            <a:ext cx="0" cy="539997"/>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p:cNvSpPr txBox="1"/>
          <p:nvPr/>
        </p:nvSpPr>
        <p:spPr>
          <a:xfrm>
            <a:off x="2445230" y="6251826"/>
            <a:ext cx="3595814" cy="369332"/>
          </a:xfrm>
          <a:prstGeom prst="rect">
            <a:avLst/>
          </a:prstGeom>
          <a:noFill/>
        </p:spPr>
        <p:txBody>
          <a:bodyPr wrap="square" rtlCol="0">
            <a:spAutoFit/>
          </a:bodyPr>
          <a:lstStyle/>
          <a:p>
            <a:pPr algn="ctr"/>
            <a:r>
              <a:rPr kumimoji="1" lang="ja-JP" altLang="en-US" dirty="0"/>
              <a:t>キッカー入射方式</a:t>
            </a:r>
          </a:p>
        </p:txBody>
      </p:sp>
      <p:grpSp>
        <p:nvGrpSpPr>
          <p:cNvPr id="3" name="グループ化 2">
            <a:extLst>
              <a:ext uri="{FF2B5EF4-FFF2-40B4-BE49-F238E27FC236}">
                <a16:creationId xmlns="" xmlns:a16="http://schemas.microsoft.com/office/drawing/2014/main" id="{A2B6A14B-E4E9-44DF-BB80-AEF0C3D60FDC}"/>
              </a:ext>
            </a:extLst>
          </p:cNvPr>
          <p:cNvGrpSpPr/>
          <p:nvPr/>
        </p:nvGrpSpPr>
        <p:grpSpPr>
          <a:xfrm>
            <a:off x="0" y="629783"/>
            <a:ext cx="9144000" cy="2910743"/>
            <a:chOff x="0" y="629783"/>
            <a:chExt cx="9144000" cy="2910743"/>
          </a:xfrm>
        </p:grpSpPr>
        <p:sp>
          <p:nvSpPr>
            <p:cNvPr id="2" name="正方形/長方形 1"/>
            <p:cNvSpPr/>
            <p:nvPr/>
          </p:nvSpPr>
          <p:spPr>
            <a:xfrm>
              <a:off x="0" y="779457"/>
              <a:ext cx="902811" cy="523220"/>
            </a:xfrm>
            <a:prstGeom prst="rect">
              <a:avLst/>
            </a:prstGeom>
          </p:spPr>
          <p:txBody>
            <a:bodyPr wrap="none">
              <a:spAutoFit/>
            </a:bodyPr>
            <a:lstStyle/>
            <a:p>
              <a:r>
                <a:rPr lang="ja-JP" altLang="en-US" sz="2800" dirty="0"/>
                <a:t>背景</a:t>
              </a:r>
              <a:endParaRPr lang="en-US" altLang="ja-JP" sz="2800" dirty="0"/>
            </a:p>
          </p:txBody>
        </p:sp>
        <p:sp>
          <p:nvSpPr>
            <p:cNvPr id="65" name="テキスト ボックス 64"/>
            <p:cNvSpPr txBox="1"/>
            <p:nvPr/>
          </p:nvSpPr>
          <p:spPr>
            <a:xfrm>
              <a:off x="144102" y="1299704"/>
              <a:ext cx="8820000" cy="707886"/>
            </a:xfrm>
            <a:prstGeom prst="rect">
              <a:avLst/>
            </a:prstGeom>
            <a:noFill/>
          </p:spPr>
          <p:txBody>
            <a:bodyPr wrap="square" rtlCol="0">
              <a:spAutoFit/>
            </a:bodyPr>
            <a:lstStyle/>
            <a:p>
              <a:pPr algn="just"/>
              <a:r>
                <a:rPr lang="ja-JP" altLang="en-US" sz="2000" dirty="0"/>
                <a:t>セプタム電磁石のずれ、キッカー電磁石の誤差</a:t>
              </a:r>
              <a:endParaRPr lang="en-US" altLang="ja-JP" sz="2000" dirty="0"/>
            </a:p>
            <a:p>
              <a:pPr algn="just"/>
              <a:r>
                <a:rPr lang="ja-JP" altLang="en-US" sz="2000" dirty="0"/>
                <a:t>などが原因となって入射効率の低下の問題となっている</a:t>
              </a:r>
              <a:endParaRPr kumimoji="1" lang="en-US" altLang="ja-JP" sz="2000" dirty="0"/>
            </a:p>
          </p:txBody>
        </p:sp>
        <p:sp>
          <p:nvSpPr>
            <p:cNvPr id="37" name="正方形/長方形 36"/>
            <p:cNvSpPr/>
            <p:nvPr/>
          </p:nvSpPr>
          <p:spPr>
            <a:xfrm>
              <a:off x="0" y="2004617"/>
              <a:ext cx="902811" cy="523220"/>
            </a:xfrm>
            <a:prstGeom prst="rect">
              <a:avLst/>
            </a:prstGeom>
          </p:spPr>
          <p:txBody>
            <a:bodyPr wrap="none">
              <a:spAutoFit/>
            </a:bodyPr>
            <a:lstStyle/>
            <a:p>
              <a:r>
                <a:rPr lang="ja-JP" altLang="en-US" sz="2800" dirty="0"/>
                <a:t>目的</a:t>
              </a:r>
              <a:endParaRPr lang="en-US" altLang="ja-JP" sz="2800" dirty="0"/>
            </a:p>
          </p:txBody>
        </p:sp>
        <p:sp>
          <p:nvSpPr>
            <p:cNvPr id="38" name="テキスト ボックス 37"/>
            <p:cNvSpPr txBox="1"/>
            <p:nvPr/>
          </p:nvSpPr>
          <p:spPr>
            <a:xfrm>
              <a:off x="144102" y="2524863"/>
              <a:ext cx="8820000" cy="1015663"/>
            </a:xfrm>
            <a:prstGeom prst="rect">
              <a:avLst/>
            </a:prstGeom>
            <a:noFill/>
          </p:spPr>
          <p:txBody>
            <a:bodyPr wrap="square" rtlCol="0">
              <a:spAutoFit/>
            </a:bodyPr>
            <a:lstStyle/>
            <a:p>
              <a:pPr algn="just"/>
              <a:r>
                <a:rPr lang="ja-JP" altLang="ja-JP" sz="2000" dirty="0"/>
                <a:t>ビームベース測定による</a:t>
              </a:r>
              <a:r>
                <a:rPr lang="ja-JP" altLang="en-US" sz="2000" dirty="0"/>
                <a:t>、</a:t>
              </a:r>
              <a:endParaRPr lang="en-US" altLang="ja-JP" sz="2000" dirty="0"/>
            </a:p>
            <a:p>
              <a:pPr algn="just"/>
              <a:r>
                <a:rPr lang="ja-JP" altLang="en-US" sz="2000" dirty="0"/>
                <a:t>・</a:t>
              </a:r>
              <a:r>
                <a:rPr lang="ja-JP" altLang="ja-JP" sz="2000" dirty="0"/>
                <a:t>入射パラメータの</a:t>
              </a:r>
              <a:r>
                <a:rPr lang="ja-JP" altLang="en-US" sz="2000" dirty="0"/>
                <a:t>測定と調整</a:t>
              </a:r>
              <a:endParaRPr lang="en-US" altLang="ja-JP" sz="2000" dirty="0"/>
            </a:p>
            <a:p>
              <a:pPr algn="just"/>
              <a:r>
                <a:rPr lang="ja-JP" altLang="en-US" sz="2000" dirty="0"/>
                <a:t>・入射</a:t>
              </a:r>
              <a:r>
                <a:rPr lang="ja-JP" altLang="ja-JP" sz="2000" dirty="0"/>
                <a:t>シミュレーションによる最適なパラメータの探索</a:t>
              </a:r>
              <a:endParaRPr kumimoji="1" lang="en-US" altLang="ja-JP" sz="2000" dirty="0"/>
            </a:p>
          </p:txBody>
        </p:sp>
        <p:sp>
          <p:nvSpPr>
            <p:cNvPr id="39" name="正方形/長方形 38"/>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 name="スライド番号プレースホルダー 4"/>
          <p:cNvSpPr>
            <a:spLocks noGrp="1"/>
          </p:cNvSpPr>
          <p:nvPr>
            <p:ph type="sldNum" sz="quarter" idx="12"/>
          </p:nvPr>
        </p:nvSpPr>
        <p:spPr/>
        <p:txBody>
          <a:bodyPr/>
          <a:lstStyle/>
          <a:p>
            <a:fld id="{26B42C4F-1ABF-421A-9D5F-F691A5F6974A}" type="slidenum">
              <a:rPr kumimoji="1" lang="ja-JP" altLang="en-US" smtClean="0"/>
              <a:t>3</a:t>
            </a:fld>
            <a:endParaRPr kumimoji="1" lang="ja-JP" altLang="en-US"/>
          </a:p>
        </p:txBody>
      </p:sp>
    </p:spTree>
    <p:extLst>
      <p:ext uri="{BB962C8B-B14F-4D97-AF65-F5344CB8AC3E}">
        <p14:creationId xmlns:p14="http://schemas.microsoft.com/office/powerpoint/2010/main" val="2693038909"/>
      </p:ext>
    </p:extLst>
  </p:cSld>
  <p:clrMapOvr>
    <a:masterClrMapping/>
  </p:clrMapOvr>
  <mc:AlternateContent xmlns:mc="http://schemas.openxmlformats.org/markup-compatibility/2006" xmlns:p14="http://schemas.microsoft.com/office/powerpoint/2010/main">
    <mc:Choice Requires="p14">
      <p:transition spd="slow" p14:dur="2000" advTm="159"/>
    </mc:Choice>
    <mc:Fallback xmlns="">
      <p:transition spd="slow" advTm="15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0" y="0"/>
            <a:ext cx="3433172" cy="646331"/>
          </a:xfrm>
          <a:prstGeom prst="rect">
            <a:avLst/>
          </a:prstGeom>
          <a:noFill/>
        </p:spPr>
        <p:txBody>
          <a:bodyPr wrap="square" rtlCol="0" anchor="ctr">
            <a:spAutoFit/>
          </a:bodyPr>
          <a:lstStyle/>
          <a:p>
            <a:r>
              <a:rPr lang="en-US" altLang="ja-JP" sz="3600" dirty="0">
                <a:solidFill>
                  <a:schemeClr val="accent1">
                    <a:lumMod val="75000"/>
                  </a:schemeClr>
                </a:solidFill>
              </a:rPr>
              <a:t>1-1</a:t>
            </a:r>
            <a:r>
              <a:rPr lang="ja-JP" altLang="en-US" sz="3600" dirty="0">
                <a:solidFill>
                  <a:schemeClr val="accent1">
                    <a:lumMod val="75000"/>
                  </a:schemeClr>
                </a:solidFill>
              </a:rPr>
              <a:t>　背景と目的</a:t>
            </a:r>
            <a:endParaRPr lang="ja-JP" altLang="ja-JP" sz="2800" dirty="0">
              <a:solidFill>
                <a:schemeClr val="accent1">
                  <a:lumMod val="75000"/>
                </a:schemeClr>
              </a:solidFill>
            </a:endParaRPr>
          </a:p>
        </p:txBody>
      </p:sp>
      <p:sp>
        <p:nvSpPr>
          <p:cNvPr id="39" name="正方形/長方形 38"/>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 xmlns:a16="http://schemas.microsoft.com/office/drawing/2014/main" id="{24CCF572-942A-4704-AB97-CF3EB5AC3425}"/>
              </a:ext>
            </a:extLst>
          </p:cNvPr>
          <p:cNvGrpSpPr/>
          <p:nvPr/>
        </p:nvGrpSpPr>
        <p:grpSpPr>
          <a:xfrm>
            <a:off x="249375" y="4149846"/>
            <a:ext cx="4238086" cy="2560361"/>
            <a:chOff x="144102" y="3932514"/>
            <a:chExt cx="4238086" cy="2560361"/>
          </a:xfrm>
        </p:grpSpPr>
        <p:cxnSp>
          <p:nvCxnSpPr>
            <p:cNvPr id="128" name="直線矢印コネクタ 127"/>
            <p:cNvCxnSpPr/>
            <p:nvPr/>
          </p:nvCxnSpPr>
          <p:spPr>
            <a:xfrm flipV="1">
              <a:off x="762371" y="4246257"/>
              <a:ext cx="0" cy="13340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矢印コネクタ 128"/>
            <p:cNvCxnSpPr/>
            <p:nvPr/>
          </p:nvCxnSpPr>
          <p:spPr>
            <a:xfrm flipV="1">
              <a:off x="294851" y="4913294"/>
              <a:ext cx="360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0" name="テキスト ボックス 129"/>
            <p:cNvSpPr txBox="1"/>
            <p:nvPr/>
          </p:nvSpPr>
          <p:spPr>
            <a:xfrm>
              <a:off x="785117" y="4969851"/>
              <a:ext cx="1474915" cy="338554"/>
            </a:xfrm>
            <a:prstGeom prst="rect">
              <a:avLst/>
            </a:prstGeom>
            <a:noFill/>
          </p:spPr>
          <p:txBody>
            <a:bodyPr wrap="square" rtlCol="0">
              <a:spAutoFit/>
            </a:bodyPr>
            <a:lstStyle/>
            <a:p>
              <a:r>
                <a:rPr lang="en-US" altLang="ja-JP" sz="1600" dirty="0">
                  <a:latin typeface="+mn-ea"/>
                </a:rPr>
                <a:t>Injection Bump</a:t>
              </a:r>
            </a:p>
          </p:txBody>
        </p:sp>
        <p:sp>
          <p:nvSpPr>
            <p:cNvPr id="131" name="円/楕円 130"/>
            <p:cNvSpPr/>
            <p:nvPr/>
          </p:nvSpPr>
          <p:spPr>
            <a:xfrm>
              <a:off x="2965864" y="4790626"/>
              <a:ext cx="612000" cy="252000"/>
            </a:xfrm>
            <a:prstGeom prst="ellipse">
              <a:avLst/>
            </a:prstGeom>
            <a:solidFill>
              <a:schemeClr val="accent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円/楕円 131"/>
            <p:cNvSpPr/>
            <p:nvPr/>
          </p:nvSpPr>
          <p:spPr>
            <a:xfrm>
              <a:off x="1946032" y="4850273"/>
              <a:ext cx="273004" cy="126000"/>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円/楕円 132"/>
            <p:cNvSpPr/>
            <p:nvPr/>
          </p:nvSpPr>
          <p:spPr>
            <a:xfrm>
              <a:off x="635177" y="4850294"/>
              <a:ext cx="273004" cy="126000"/>
            </a:xfrm>
            <a:prstGeom prst="ellipse">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4" name="直線矢印コネクタ 133"/>
            <p:cNvCxnSpPr/>
            <p:nvPr/>
          </p:nvCxnSpPr>
          <p:spPr>
            <a:xfrm flipV="1">
              <a:off x="925377" y="4913273"/>
              <a:ext cx="1037501"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35" name="テキスト ボックス 134"/>
            <p:cNvSpPr txBox="1"/>
            <p:nvPr/>
          </p:nvSpPr>
          <p:spPr>
            <a:xfrm>
              <a:off x="144102" y="5498115"/>
              <a:ext cx="1309616" cy="338554"/>
            </a:xfrm>
            <a:prstGeom prst="rect">
              <a:avLst/>
            </a:prstGeom>
            <a:noFill/>
          </p:spPr>
          <p:txBody>
            <a:bodyPr wrap="square" rtlCol="0">
              <a:spAutoFit/>
            </a:bodyPr>
            <a:lstStyle/>
            <a:p>
              <a:pPr algn="ctr"/>
              <a:r>
                <a:rPr kumimoji="1" lang="en-US" altLang="ja-JP" sz="1600" dirty="0">
                  <a:latin typeface="+mn-ea"/>
                </a:rPr>
                <a:t>Stored Beam</a:t>
              </a:r>
              <a:endParaRPr kumimoji="1" lang="ja-JP" altLang="en-US" sz="1600" dirty="0">
                <a:latin typeface="+mn-ea"/>
              </a:endParaRPr>
            </a:p>
          </p:txBody>
        </p:sp>
        <p:sp>
          <p:nvSpPr>
            <p:cNvPr id="136" name="テキスト ボックス 135"/>
            <p:cNvSpPr txBox="1"/>
            <p:nvPr/>
          </p:nvSpPr>
          <p:spPr>
            <a:xfrm>
              <a:off x="2954541" y="4377062"/>
              <a:ext cx="1427647" cy="338554"/>
            </a:xfrm>
            <a:prstGeom prst="rect">
              <a:avLst/>
            </a:prstGeom>
            <a:noFill/>
          </p:spPr>
          <p:txBody>
            <a:bodyPr wrap="square" rtlCol="0">
              <a:spAutoFit/>
            </a:bodyPr>
            <a:lstStyle/>
            <a:p>
              <a:pPr algn="ctr"/>
              <a:r>
                <a:rPr kumimoji="1" lang="en-US" altLang="ja-JP" sz="1600" dirty="0">
                  <a:latin typeface="+mn-ea"/>
                </a:rPr>
                <a:t>Injected Beam</a:t>
              </a:r>
            </a:p>
          </p:txBody>
        </p:sp>
        <p:cxnSp>
          <p:nvCxnSpPr>
            <p:cNvPr id="137" name="直線矢印コネクタ 136"/>
            <p:cNvCxnSpPr/>
            <p:nvPr/>
          </p:nvCxnSpPr>
          <p:spPr>
            <a:xfrm>
              <a:off x="758378" y="4657971"/>
              <a:ext cx="16920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9" name="テキスト ボックス 138"/>
            <p:cNvSpPr txBox="1"/>
            <p:nvPr/>
          </p:nvSpPr>
          <p:spPr>
            <a:xfrm>
              <a:off x="2198221" y="5646212"/>
              <a:ext cx="998380" cy="338554"/>
            </a:xfrm>
            <a:prstGeom prst="rect">
              <a:avLst/>
            </a:prstGeom>
            <a:noFill/>
          </p:spPr>
          <p:txBody>
            <a:bodyPr wrap="square" rtlCol="0">
              <a:spAutoFit/>
            </a:bodyPr>
            <a:lstStyle/>
            <a:p>
              <a:pPr algn="ctr"/>
              <a:r>
                <a:rPr lang="en-US" altLang="ja-JP" sz="1600" dirty="0" err="1">
                  <a:latin typeface="+mn-ea"/>
                </a:rPr>
                <a:t>Δx</a:t>
              </a:r>
              <a:r>
                <a:rPr lang="en-US" altLang="ja-JP" sz="1600" dirty="0">
                  <a:latin typeface="+mn-ea"/>
                </a:rPr>
                <a:t> </a:t>
              </a:r>
              <a:r>
                <a:rPr kumimoji="1" lang="en-US" altLang="ja-JP" sz="1600" dirty="0">
                  <a:latin typeface="+mn-ea"/>
                </a:rPr>
                <a:t>mm</a:t>
              </a:r>
              <a:endParaRPr kumimoji="1" lang="ja-JP" altLang="en-US" sz="1600" dirty="0">
                <a:latin typeface="+mn-ea"/>
              </a:endParaRPr>
            </a:p>
          </p:txBody>
        </p:sp>
        <p:sp>
          <p:nvSpPr>
            <p:cNvPr id="140" name="正方形/長方形 139"/>
            <p:cNvSpPr/>
            <p:nvPr/>
          </p:nvSpPr>
          <p:spPr>
            <a:xfrm>
              <a:off x="1879226" y="3939818"/>
              <a:ext cx="1237839" cy="338554"/>
            </a:xfrm>
            <a:prstGeom prst="rect">
              <a:avLst/>
            </a:prstGeom>
          </p:spPr>
          <p:txBody>
            <a:bodyPr wrap="none">
              <a:spAutoFit/>
            </a:bodyPr>
            <a:lstStyle/>
            <a:p>
              <a:pPr algn="ctr"/>
              <a:r>
                <a:rPr lang="en-US" altLang="ja-JP" sz="1600" dirty="0">
                  <a:latin typeface="+mn-ea"/>
                </a:rPr>
                <a:t>Septum Wall</a:t>
              </a:r>
            </a:p>
          </p:txBody>
        </p:sp>
        <p:sp>
          <p:nvSpPr>
            <p:cNvPr id="141" name="正方形/長方形 140"/>
            <p:cNvSpPr/>
            <p:nvPr/>
          </p:nvSpPr>
          <p:spPr>
            <a:xfrm>
              <a:off x="3888011" y="4743996"/>
              <a:ext cx="308098" cy="338554"/>
            </a:xfrm>
            <a:prstGeom prst="rect">
              <a:avLst/>
            </a:prstGeom>
          </p:spPr>
          <p:txBody>
            <a:bodyPr wrap="none">
              <a:spAutoFit/>
            </a:bodyPr>
            <a:lstStyle/>
            <a:p>
              <a:pPr algn="ctr"/>
              <a:r>
                <a:rPr lang="en-US" altLang="ja-JP" sz="1600" dirty="0">
                  <a:latin typeface="+mn-ea"/>
                </a:rPr>
                <a:t>X</a:t>
              </a:r>
            </a:p>
          </p:txBody>
        </p:sp>
        <p:sp>
          <p:nvSpPr>
            <p:cNvPr id="142" name="正方形/長方形 141"/>
            <p:cNvSpPr/>
            <p:nvPr/>
          </p:nvSpPr>
          <p:spPr>
            <a:xfrm>
              <a:off x="622767" y="3932514"/>
              <a:ext cx="306495" cy="338554"/>
            </a:xfrm>
            <a:prstGeom prst="rect">
              <a:avLst/>
            </a:prstGeom>
          </p:spPr>
          <p:txBody>
            <a:bodyPr wrap="none">
              <a:spAutoFit/>
            </a:bodyPr>
            <a:lstStyle/>
            <a:p>
              <a:pPr algn="ctr"/>
              <a:r>
                <a:rPr lang="en-US" altLang="ja-JP" sz="1600" dirty="0">
                  <a:latin typeface="+mn-ea"/>
                </a:rPr>
                <a:t>Y</a:t>
              </a:r>
            </a:p>
          </p:txBody>
        </p:sp>
        <p:sp>
          <p:nvSpPr>
            <p:cNvPr id="143" name="正方形/長方形 142"/>
            <p:cNvSpPr/>
            <p:nvPr/>
          </p:nvSpPr>
          <p:spPr>
            <a:xfrm>
              <a:off x="2268252" y="4275515"/>
              <a:ext cx="360000" cy="1440000"/>
            </a:xfrm>
            <a:prstGeom prst="rect">
              <a:avLst/>
            </a:prstGeom>
            <a:noFill/>
            <a:ln>
              <a:solidFill>
                <a:schemeClr val="tx1"/>
              </a:solidFill>
              <a:prstDash val="sysDash"/>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4" name="直線矢印コネクタ 143"/>
            <p:cNvCxnSpPr/>
            <p:nvPr/>
          </p:nvCxnSpPr>
          <p:spPr>
            <a:xfrm>
              <a:off x="2582971" y="5677937"/>
              <a:ext cx="2520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直線矢印コネクタ 144"/>
            <p:cNvCxnSpPr/>
            <p:nvPr/>
          </p:nvCxnSpPr>
          <p:spPr>
            <a:xfrm>
              <a:off x="2051133" y="4917531"/>
              <a:ext cx="12600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6" name="テキスト ボックス 145"/>
            <p:cNvSpPr txBox="1"/>
            <p:nvPr/>
          </p:nvSpPr>
          <p:spPr>
            <a:xfrm>
              <a:off x="2834971" y="5004739"/>
              <a:ext cx="1405686" cy="584775"/>
            </a:xfrm>
            <a:prstGeom prst="rect">
              <a:avLst/>
            </a:prstGeom>
            <a:noFill/>
          </p:spPr>
          <p:txBody>
            <a:bodyPr wrap="square" rtlCol="0">
              <a:spAutoFit/>
            </a:bodyPr>
            <a:lstStyle/>
            <a:p>
              <a:r>
                <a:rPr lang="en-US" altLang="ja-JP" sz="1600" dirty="0">
                  <a:latin typeface="+mn-ea"/>
                </a:rPr>
                <a:t>Initial Amplitude</a:t>
              </a:r>
            </a:p>
          </p:txBody>
        </p:sp>
        <p:sp>
          <p:nvSpPr>
            <p:cNvPr id="147" name="正方形/長方形 146"/>
            <p:cNvSpPr/>
            <p:nvPr/>
          </p:nvSpPr>
          <p:spPr>
            <a:xfrm>
              <a:off x="1094083" y="6123543"/>
              <a:ext cx="2382383" cy="369332"/>
            </a:xfrm>
            <a:prstGeom prst="rect">
              <a:avLst/>
            </a:prstGeom>
          </p:spPr>
          <p:txBody>
            <a:bodyPr wrap="none">
              <a:spAutoFit/>
            </a:bodyPr>
            <a:lstStyle/>
            <a:p>
              <a:r>
                <a:rPr lang="ja-JP" altLang="en-US" dirty="0"/>
                <a:t>セプタム電磁石のずれ</a:t>
              </a:r>
            </a:p>
          </p:txBody>
        </p:sp>
        <p:sp>
          <p:nvSpPr>
            <p:cNvPr id="149" name="正方形/長方形 148"/>
            <p:cNvSpPr/>
            <p:nvPr/>
          </p:nvSpPr>
          <p:spPr>
            <a:xfrm>
              <a:off x="2518345" y="4273918"/>
              <a:ext cx="360000" cy="1440000"/>
            </a:xfrm>
            <a:prstGeom prst="rect">
              <a:avLst/>
            </a:prstGeom>
            <a:noFill/>
            <a:ln>
              <a:solidFill>
                <a:schemeClr val="tx1"/>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40" name="正方形/長方形 39"/>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 name="グループ化 35">
            <a:extLst>
              <a:ext uri="{FF2B5EF4-FFF2-40B4-BE49-F238E27FC236}">
                <a16:creationId xmlns="" xmlns:a16="http://schemas.microsoft.com/office/drawing/2014/main" id="{B82CA9F9-755B-4D43-946C-943D1072BFA3}"/>
              </a:ext>
            </a:extLst>
          </p:cNvPr>
          <p:cNvGrpSpPr/>
          <p:nvPr/>
        </p:nvGrpSpPr>
        <p:grpSpPr>
          <a:xfrm>
            <a:off x="0" y="629783"/>
            <a:ext cx="9144000" cy="2910743"/>
            <a:chOff x="0" y="629783"/>
            <a:chExt cx="9144000" cy="2910743"/>
          </a:xfrm>
        </p:grpSpPr>
        <p:sp>
          <p:nvSpPr>
            <p:cNvPr id="41" name="正方形/長方形 40">
              <a:extLst>
                <a:ext uri="{FF2B5EF4-FFF2-40B4-BE49-F238E27FC236}">
                  <a16:creationId xmlns="" xmlns:a16="http://schemas.microsoft.com/office/drawing/2014/main" id="{8DDC95FA-4C7C-4801-A754-D63ADE81F697}"/>
                </a:ext>
              </a:extLst>
            </p:cNvPr>
            <p:cNvSpPr/>
            <p:nvPr/>
          </p:nvSpPr>
          <p:spPr>
            <a:xfrm>
              <a:off x="0" y="779457"/>
              <a:ext cx="902811" cy="523220"/>
            </a:xfrm>
            <a:prstGeom prst="rect">
              <a:avLst/>
            </a:prstGeom>
          </p:spPr>
          <p:txBody>
            <a:bodyPr wrap="none">
              <a:spAutoFit/>
            </a:bodyPr>
            <a:lstStyle/>
            <a:p>
              <a:r>
                <a:rPr lang="ja-JP" altLang="en-US" sz="2800" dirty="0"/>
                <a:t>背景</a:t>
              </a:r>
              <a:endParaRPr lang="en-US" altLang="ja-JP" sz="2800" dirty="0"/>
            </a:p>
          </p:txBody>
        </p:sp>
        <p:sp>
          <p:nvSpPr>
            <p:cNvPr id="42" name="テキスト ボックス 41">
              <a:extLst>
                <a:ext uri="{FF2B5EF4-FFF2-40B4-BE49-F238E27FC236}">
                  <a16:creationId xmlns="" xmlns:a16="http://schemas.microsoft.com/office/drawing/2014/main" id="{B9FBCDDA-1793-4290-800E-2CF17EEE8A1F}"/>
                </a:ext>
              </a:extLst>
            </p:cNvPr>
            <p:cNvSpPr txBox="1"/>
            <p:nvPr/>
          </p:nvSpPr>
          <p:spPr>
            <a:xfrm>
              <a:off x="144102" y="1299704"/>
              <a:ext cx="8820000" cy="707886"/>
            </a:xfrm>
            <a:prstGeom prst="rect">
              <a:avLst/>
            </a:prstGeom>
            <a:noFill/>
          </p:spPr>
          <p:txBody>
            <a:bodyPr wrap="square" rtlCol="0">
              <a:spAutoFit/>
            </a:bodyPr>
            <a:lstStyle/>
            <a:p>
              <a:pPr algn="just"/>
              <a:r>
                <a:rPr lang="ja-JP" altLang="en-US" sz="2000" dirty="0"/>
                <a:t>セプタム電磁石のずれ、キッカー電磁石の誤差</a:t>
              </a:r>
              <a:endParaRPr lang="en-US" altLang="ja-JP" sz="2000" dirty="0"/>
            </a:p>
            <a:p>
              <a:pPr algn="just"/>
              <a:r>
                <a:rPr lang="ja-JP" altLang="en-US" sz="2000" dirty="0"/>
                <a:t>などが原因となって入射効率の低下の問題となっている</a:t>
              </a:r>
              <a:endParaRPr kumimoji="1" lang="en-US" altLang="ja-JP" sz="2000" dirty="0"/>
            </a:p>
          </p:txBody>
        </p:sp>
        <p:sp>
          <p:nvSpPr>
            <p:cNvPr id="43" name="正方形/長方形 42">
              <a:extLst>
                <a:ext uri="{FF2B5EF4-FFF2-40B4-BE49-F238E27FC236}">
                  <a16:creationId xmlns="" xmlns:a16="http://schemas.microsoft.com/office/drawing/2014/main" id="{BC3BCD6E-C09A-4376-8B0D-DDCC3A070E5A}"/>
                </a:ext>
              </a:extLst>
            </p:cNvPr>
            <p:cNvSpPr/>
            <p:nvPr/>
          </p:nvSpPr>
          <p:spPr>
            <a:xfrm>
              <a:off x="0" y="2004617"/>
              <a:ext cx="902811" cy="523220"/>
            </a:xfrm>
            <a:prstGeom prst="rect">
              <a:avLst/>
            </a:prstGeom>
          </p:spPr>
          <p:txBody>
            <a:bodyPr wrap="none">
              <a:spAutoFit/>
            </a:bodyPr>
            <a:lstStyle/>
            <a:p>
              <a:r>
                <a:rPr lang="ja-JP" altLang="en-US" sz="2800" dirty="0"/>
                <a:t>目的</a:t>
              </a:r>
              <a:endParaRPr lang="en-US" altLang="ja-JP" sz="2800" dirty="0"/>
            </a:p>
          </p:txBody>
        </p:sp>
        <p:sp>
          <p:nvSpPr>
            <p:cNvPr id="44" name="テキスト ボックス 43">
              <a:extLst>
                <a:ext uri="{FF2B5EF4-FFF2-40B4-BE49-F238E27FC236}">
                  <a16:creationId xmlns="" xmlns:a16="http://schemas.microsoft.com/office/drawing/2014/main" id="{B0D46168-1DD3-4BD1-97CC-48E7BB46B49D}"/>
                </a:ext>
              </a:extLst>
            </p:cNvPr>
            <p:cNvSpPr txBox="1"/>
            <p:nvPr/>
          </p:nvSpPr>
          <p:spPr>
            <a:xfrm>
              <a:off x="144102" y="2524863"/>
              <a:ext cx="8820000" cy="1015663"/>
            </a:xfrm>
            <a:prstGeom prst="rect">
              <a:avLst/>
            </a:prstGeom>
            <a:noFill/>
          </p:spPr>
          <p:txBody>
            <a:bodyPr wrap="square" rtlCol="0">
              <a:spAutoFit/>
            </a:bodyPr>
            <a:lstStyle/>
            <a:p>
              <a:pPr algn="just"/>
              <a:r>
                <a:rPr lang="ja-JP" altLang="ja-JP" sz="2000" dirty="0"/>
                <a:t>ビームベース測定による</a:t>
              </a:r>
              <a:r>
                <a:rPr lang="ja-JP" altLang="en-US" sz="2000" dirty="0"/>
                <a:t>、</a:t>
              </a:r>
              <a:endParaRPr lang="en-US" altLang="ja-JP" sz="2000" dirty="0"/>
            </a:p>
            <a:p>
              <a:pPr algn="just"/>
              <a:r>
                <a:rPr lang="ja-JP" altLang="en-US" sz="2000" dirty="0"/>
                <a:t>・</a:t>
              </a:r>
              <a:r>
                <a:rPr lang="ja-JP" altLang="ja-JP" sz="2000" dirty="0"/>
                <a:t>入射パラメータの</a:t>
              </a:r>
              <a:r>
                <a:rPr lang="ja-JP" altLang="en-US" sz="2000" dirty="0"/>
                <a:t>測定と調整</a:t>
              </a:r>
              <a:endParaRPr lang="en-US" altLang="ja-JP" sz="2000" dirty="0"/>
            </a:p>
            <a:p>
              <a:pPr algn="just"/>
              <a:r>
                <a:rPr lang="ja-JP" altLang="en-US" sz="2000" dirty="0"/>
                <a:t>・入射</a:t>
              </a:r>
              <a:r>
                <a:rPr lang="ja-JP" altLang="ja-JP" sz="2000" dirty="0"/>
                <a:t>シミュレーションによる最適なパラメータの探索</a:t>
              </a:r>
              <a:endParaRPr kumimoji="1" lang="en-US" altLang="ja-JP" sz="2000" dirty="0"/>
            </a:p>
          </p:txBody>
        </p:sp>
        <p:sp>
          <p:nvSpPr>
            <p:cNvPr id="45" name="正方形/長方形 44">
              <a:extLst>
                <a:ext uri="{FF2B5EF4-FFF2-40B4-BE49-F238E27FC236}">
                  <a16:creationId xmlns="" xmlns:a16="http://schemas.microsoft.com/office/drawing/2014/main" id="{EF4D9356-7709-47C6-8650-12448AF10CD9}"/>
                </a:ext>
              </a:extLst>
            </p:cNvPr>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 xmlns:a16="http://schemas.microsoft.com/office/drawing/2014/main" id="{0A4E783F-4385-40FE-A807-8463670CF3E3}"/>
                </a:ext>
              </a:extLst>
            </p:cNvPr>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 name="グループ化 2">
            <a:extLst>
              <a:ext uri="{FF2B5EF4-FFF2-40B4-BE49-F238E27FC236}">
                <a16:creationId xmlns="" xmlns:a16="http://schemas.microsoft.com/office/drawing/2014/main" id="{C8DB5CB6-CC59-461A-ABD3-215D0AD6EA36}"/>
              </a:ext>
            </a:extLst>
          </p:cNvPr>
          <p:cNvGrpSpPr/>
          <p:nvPr/>
        </p:nvGrpSpPr>
        <p:grpSpPr>
          <a:xfrm>
            <a:off x="3992197" y="3753391"/>
            <a:ext cx="5029636" cy="2956816"/>
            <a:chOff x="3971047" y="3810782"/>
            <a:chExt cx="5029636" cy="2956816"/>
          </a:xfrm>
        </p:grpSpPr>
        <p:pic>
          <p:nvPicPr>
            <p:cNvPr id="167" name="図 166"/>
            <p:cNvPicPr>
              <a:picLocks noChangeAspect="1"/>
            </p:cNvPicPr>
            <p:nvPr/>
          </p:nvPicPr>
          <p:blipFill>
            <a:blip r:embed="rId3"/>
            <a:stretch>
              <a:fillRect/>
            </a:stretch>
          </p:blipFill>
          <p:spPr>
            <a:xfrm>
              <a:off x="3971047" y="3810782"/>
              <a:ext cx="5029636" cy="2956816"/>
            </a:xfrm>
            <a:prstGeom prst="rect">
              <a:avLst/>
            </a:prstGeom>
          </p:spPr>
        </p:pic>
        <p:sp>
          <p:nvSpPr>
            <p:cNvPr id="33" name="正方形/長方形 32">
              <a:extLst>
                <a:ext uri="{FF2B5EF4-FFF2-40B4-BE49-F238E27FC236}">
                  <a16:creationId xmlns="" xmlns:a16="http://schemas.microsoft.com/office/drawing/2014/main" id="{6B6046F9-8423-4E61-9E27-BB6D07848183}"/>
                </a:ext>
              </a:extLst>
            </p:cNvPr>
            <p:cNvSpPr/>
            <p:nvPr/>
          </p:nvSpPr>
          <p:spPr>
            <a:xfrm>
              <a:off x="6117381" y="5984766"/>
              <a:ext cx="801739" cy="338554"/>
            </a:xfrm>
            <a:prstGeom prst="rect">
              <a:avLst/>
            </a:prstGeom>
          </p:spPr>
          <p:txBody>
            <a:bodyPr wrap="square">
              <a:spAutoFit/>
            </a:bodyPr>
            <a:lstStyle/>
            <a:p>
              <a:pPr algn="ctr"/>
              <a:r>
                <a:rPr lang="en-US" altLang="ja-JP" sz="1600" dirty="0">
                  <a:latin typeface="+mn-ea"/>
                </a:rPr>
                <a:t>time</a:t>
              </a:r>
            </a:p>
          </p:txBody>
        </p:sp>
        <p:sp>
          <p:nvSpPr>
            <p:cNvPr id="35" name="正方形/長方形 34">
              <a:extLst>
                <a:ext uri="{FF2B5EF4-FFF2-40B4-BE49-F238E27FC236}">
                  <a16:creationId xmlns="" xmlns:a16="http://schemas.microsoft.com/office/drawing/2014/main" id="{E08BC9CB-47CC-473D-BA65-419F412E4B30}"/>
                </a:ext>
              </a:extLst>
            </p:cNvPr>
            <p:cNvSpPr/>
            <p:nvPr/>
          </p:nvSpPr>
          <p:spPr>
            <a:xfrm rot="16200000">
              <a:off x="4108542" y="4726979"/>
              <a:ext cx="801739" cy="338554"/>
            </a:xfrm>
            <a:prstGeom prst="rect">
              <a:avLst/>
            </a:prstGeom>
          </p:spPr>
          <p:txBody>
            <a:bodyPr wrap="square">
              <a:spAutoFit/>
            </a:bodyPr>
            <a:lstStyle/>
            <a:p>
              <a:pPr algn="ctr"/>
              <a:r>
                <a:rPr lang="en-US" altLang="ja-JP" sz="1600" dirty="0">
                  <a:latin typeface="+mn-ea"/>
                </a:rPr>
                <a:t>Angle</a:t>
              </a:r>
            </a:p>
          </p:txBody>
        </p:sp>
      </p:grpSp>
      <p:sp>
        <p:nvSpPr>
          <p:cNvPr id="2" name="スライド番号プレースホルダー 1"/>
          <p:cNvSpPr>
            <a:spLocks noGrp="1"/>
          </p:cNvSpPr>
          <p:nvPr>
            <p:ph type="sldNum" sz="quarter" idx="12"/>
          </p:nvPr>
        </p:nvSpPr>
        <p:spPr/>
        <p:txBody>
          <a:bodyPr/>
          <a:lstStyle/>
          <a:p>
            <a:fld id="{26B42C4F-1ABF-421A-9D5F-F691A5F6974A}" type="slidenum">
              <a:rPr kumimoji="1" lang="ja-JP" altLang="en-US" smtClean="0"/>
              <a:t>4</a:t>
            </a:fld>
            <a:endParaRPr kumimoji="1" lang="ja-JP" altLang="en-US"/>
          </a:p>
        </p:txBody>
      </p:sp>
    </p:spTree>
    <p:extLst>
      <p:ext uri="{BB962C8B-B14F-4D97-AF65-F5344CB8AC3E}">
        <p14:creationId xmlns:p14="http://schemas.microsoft.com/office/powerpoint/2010/main" val="2769005318"/>
      </p:ext>
    </p:extLst>
  </p:cSld>
  <p:clrMapOvr>
    <a:masterClrMapping/>
  </p:clrMapOvr>
  <mc:AlternateContent xmlns:mc="http://schemas.openxmlformats.org/markup-compatibility/2006" xmlns:p14="http://schemas.microsoft.com/office/powerpoint/2010/main">
    <mc:Choice Requires="p14">
      <p:transition spd="slow" p14:dur="2000" advTm="159"/>
    </mc:Choice>
    <mc:Fallback xmlns="">
      <p:transition spd="slow" advTm="15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p:cNvSpPr txBox="1"/>
          <p:nvPr/>
        </p:nvSpPr>
        <p:spPr>
          <a:xfrm>
            <a:off x="-2" y="0"/>
            <a:ext cx="6057902" cy="646331"/>
          </a:xfrm>
          <a:prstGeom prst="rect">
            <a:avLst/>
          </a:prstGeom>
          <a:noFill/>
        </p:spPr>
        <p:txBody>
          <a:bodyPr wrap="square" rtlCol="0" anchor="ctr">
            <a:spAutoFit/>
          </a:bodyPr>
          <a:lstStyle/>
          <a:p>
            <a:r>
              <a:rPr kumimoji="1" lang="en-US" altLang="ja-JP" sz="3600" dirty="0">
                <a:solidFill>
                  <a:schemeClr val="accent1">
                    <a:lumMod val="75000"/>
                  </a:schemeClr>
                </a:solidFill>
              </a:rPr>
              <a:t>2-1</a:t>
            </a:r>
            <a:r>
              <a:rPr kumimoji="1" lang="ja-JP" altLang="en-US" sz="3600" dirty="0">
                <a:solidFill>
                  <a:schemeClr val="accent1">
                    <a:lumMod val="75000"/>
                  </a:schemeClr>
                </a:solidFill>
              </a:rPr>
              <a:t>　</a:t>
            </a:r>
            <a:r>
              <a:rPr lang="ja-JP" altLang="en-US" sz="3600" dirty="0">
                <a:solidFill>
                  <a:schemeClr val="accent1">
                    <a:lumMod val="75000"/>
                  </a:schemeClr>
                </a:solidFill>
              </a:rPr>
              <a:t>ビームベース測定の概要</a:t>
            </a:r>
            <a:endParaRPr lang="ja-JP" altLang="ja-JP" sz="2800" dirty="0">
              <a:solidFill>
                <a:schemeClr val="accent1">
                  <a:lumMod val="75000"/>
                </a:schemeClr>
              </a:solidFill>
            </a:endParaRPr>
          </a:p>
        </p:txBody>
      </p:sp>
      <p:sp>
        <p:nvSpPr>
          <p:cNvPr id="7" name="正方形/長方形 6"/>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p:cNvSpPr/>
          <p:nvPr/>
        </p:nvSpPr>
        <p:spPr>
          <a:xfrm>
            <a:off x="0" y="902138"/>
            <a:ext cx="2916183" cy="523220"/>
          </a:xfrm>
          <a:prstGeom prst="rect">
            <a:avLst/>
          </a:prstGeom>
        </p:spPr>
        <p:txBody>
          <a:bodyPr wrap="none">
            <a:spAutoFit/>
          </a:bodyPr>
          <a:lstStyle/>
          <a:p>
            <a:r>
              <a:rPr lang="ja-JP" altLang="en-US" sz="2800" dirty="0"/>
              <a:t>ビームベース測定</a:t>
            </a:r>
            <a:endParaRPr lang="en-US" altLang="ja-JP" sz="2800" dirty="0"/>
          </a:p>
        </p:txBody>
      </p:sp>
      <p:sp>
        <p:nvSpPr>
          <p:cNvPr id="65" name="テキスト ボックス 64"/>
          <p:cNvSpPr txBox="1"/>
          <p:nvPr/>
        </p:nvSpPr>
        <p:spPr>
          <a:xfrm>
            <a:off x="162000" y="1437927"/>
            <a:ext cx="8820000" cy="707886"/>
          </a:xfrm>
          <a:prstGeom prst="rect">
            <a:avLst/>
          </a:prstGeom>
          <a:noFill/>
        </p:spPr>
        <p:txBody>
          <a:bodyPr wrap="square" rtlCol="0" anchor="ctr">
            <a:spAutoFit/>
          </a:bodyPr>
          <a:lstStyle/>
          <a:p>
            <a:pPr algn="just"/>
            <a:r>
              <a:rPr lang="ja-JP" altLang="ja-JP" sz="2000" dirty="0"/>
              <a:t>直線部両端</a:t>
            </a:r>
            <a:r>
              <a:rPr lang="ja-JP" altLang="en-US" sz="2000" dirty="0"/>
              <a:t>の位置情報から</a:t>
            </a:r>
            <a:r>
              <a:rPr lang="ja-JP" altLang="ja-JP" sz="2000" dirty="0"/>
              <a:t>中心</a:t>
            </a:r>
            <a:r>
              <a:rPr lang="ja-JP" altLang="en-US" sz="2000" dirty="0"/>
              <a:t>部</a:t>
            </a:r>
            <a:r>
              <a:rPr lang="ja-JP" altLang="ja-JP" sz="2000" dirty="0"/>
              <a:t>の</a:t>
            </a:r>
            <a:r>
              <a:rPr lang="ja-JP" altLang="ja-JP" sz="2000" u="sng" dirty="0"/>
              <a:t>位相空間情報を</a:t>
            </a:r>
            <a:r>
              <a:rPr lang="ja-JP" altLang="en-US" sz="2000" u="sng" dirty="0"/>
              <a:t>求め、</a:t>
            </a:r>
            <a:r>
              <a:rPr lang="ja-JP" altLang="ja-JP" sz="2000" u="sng" dirty="0"/>
              <a:t>上流に転送</a:t>
            </a:r>
            <a:r>
              <a:rPr lang="ja-JP" altLang="ja-JP" sz="2000" dirty="0"/>
              <a:t>する</a:t>
            </a:r>
            <a:r>
              <a:rPr lang="ja-JP" altLang="en-US" sz="2000" dirty="0"/>
              <a:t>。</a:t>
            </a:r>
            <a:endParaRPr lang="en-US" altLang="ja-JP" sz="2000" dirty="0"/>
          </a:p>
          <a:p>
            <a:pPr algn="just"/>
            <a:r>
              <a:rPr lang="ja-JP" altLang="en-US" sz="2000" dirty="0"/>
              <a:t>入射点でのビーム位置関係、キッカー電磁石のパルス波形を調べた。</a:t>
            </a:r>
            <a:endParaRPr lang="en-US" altLang="ja-JP" sz="2000" dirty="0"/>
          </a:p>
        </p:txBody>
      </p:sp>
      <mc:AlternateContent xmlns:mc="http://schemas.openxmlformats.org/markup-compatibility/2006" xmlns:a14="http://schemas.microsoft.com/office/drawing/2010/main">
        <mc:Choice Requires="a14">
          <p:graphicFrame>
            <p:nvGraphicFramePr>
              <p:cNvPr id="79" name="表 78"/>
              <p:cNvGraphicFramePr>
                <a:graphicFrameLocks noGrp="1"/>
              </p:cNvGraphicFramePr>
              <p:nvPr>
                <p:extLst>
                  <p:ext uri="{D42A27DB-BD31-4B8C-83A1-F6EECF244321}">
                    <p14:modId xmlns:p14="http://schemas.microsoft.com/office/powerpoint/2010/main" val="365510605"/>
                  </p:ext>
                </p:extLst>
              </p:nvPr>
            </p:nvGraphicFramePr>
            <p:xfrm>
              <a:off x="5791829" y="5358600"/>
              <a:ext cx="3132396" cy="1152000"/>
            </p:xfrm>
            <a:graphic>
              <a:graphicData uri="http://schemas.openxmlformats.org/drawingml/2006/table">
                <a:tbl>
                  <a:tblPr>
                    <a:tableStyleId>{5C22544A-7EE6-4342-B048-85BDC9FD1C3A}</a:tableStyleId>
                  </a:tblPr>
                  <a:tblGrid>
                    <a:gridCol w="393396">
                      <a:extLst>
                        <a:ext uri="{9D8B030D-6E8A-4147-A177-3AD203B41FA5}">
                          <a16:colId xmlns="" xmlns:a16="http://schemas.microsoft.com/office/drawing/2014/main" val="20000"/>
                        </a:ext>
                      </a:extLst>
                    </a:gridCol>
                    <a:gridCol w="456500">
                      <a:extLst>
                        <a:ext uri="{9D8B030D-6E8A-4147-A177-3AD203B41FA5}">
                          <a16:colId xmlns="" xmlns:a16="http://schemas.microsoft.com/office/drawing/2014/main" val="20001"/>
                        </a:ext>
                      </a:extLst>
                    </a:gridCol>
                    <a:gridCol w="456500">
                      <a:extLst>
                        <a:ext uri="{9D8B030D-6E8A-4147-A177-3AD203B41FA5}">
                          <a16:colId xmlns="" xmlns:a16="http://schemas.microsoft.com/office/drawing/2014/main" val="20002"/>
                        </a:ext>
                      </a:extLst>
                    </a:gridCol>
                    <a:gridCol w="456500">
                      <a:extLst>
                        <a:ext uri="{9D8B030D-6E8A-4147-A177-3AD203B41FA5}">
                          <a16:colId xmlns="" xmlns:a16="http://schemas.microsoft.com/office/drawing/2014/main" val="20003"/>
                        </a:ext>
                      </a:extLst>
                    </a:gridCol>
                    <a:gridCol w="456500">
                      <a:extLst>
                        <a:ext uri="{9D8B030D-6E8A-4147-A177-3AD203B41FA5}">
                          <a16:colId xmlns="" xmlns:a16="http://schemas.microsoft.com/office/drawing/2014/main" val="20004"/>
                        </a:ext>
                      </a:extLst>
                    </a:gridCol>
                    <a:gridCol w="456500">
                      <a:extLst>
                        <a:ext uri="{9D8B030D-6E8A-4147-A177-3AD203B41FA5}">
                          <a16:colId xmlns="" xmlns:a16="http://schemas.microsoft.com/office/drawing/2014/main" val="20005"/>
                        </a:ext>
                      </a:extLst>
                    </a:gridCol>
                    <a:gridCol w="456500">
                      <a:extLst>
                        <a:ext uri="{9D8B030D-6E8A-4147-A177-3AD203B41FA5}">
                          <a16:colId xmlns="" xmlns:a16="http://schemas.microsoft.com/office/drawing/2014/main" val="20006"/>
                        </a:ext>
                      </a:extLst>
                    </a:gridCol>
                  </a:tblGrid>
                  <a:tr h="268430">
                    <a:tc>
                      <a:txBody>
                        <a:bodyPr/>
                        <a:lstStyle/>
                        <a:p>
                          <a:pPr algn="just">
                            <a:lnSpc>
                              <a:spcPts val="1100"/>
                            </a:lnSpc>
                            <a:spcBef>
                              <a:spcPts val="300"/>
                            </a:spcBef>
                            <a:spcAft>
                              <a:spcPts val="300"/>
                            </a:spcAft>
                          </a:pPr>
                          <a:r>
                            <a:rPr lang="en-GB" sz="1200" kern="800" dirty="0">
                              <a:effectLst/>
                            </a:rPr>
                            <a:t> </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K1</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K2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K3</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K4</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ID02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Inj</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346710">
                    <a:tc>
                      <a:txBody>
                        <a:bodyPr/>
                        <a:lstStyle/>
                        <a:p>
                          <a:pPr algn="ctr">
                            <a:lnSpc>
                              <a:spcPts val="1100"/>
                            </a:lnSpc>
                            <a:spcBef>
                              <a:spcPts val="300"/>
                            </a:spcBef>
                            <a:spcAft>
                              <a:spcPts val="300"/>
                            </a:spcAft>
                          </a:pPr>
                          <a14:m>
                            <m:oMath xmlns:m="http://schemas.openxmlformats.org/officeDocument/2006/math">
                              <m:sSub>
                                <m:sSubPr>
                                  <m:ctrlPr>
                                    <a:rPr lang="ja-JP" sz="1200" i="1" kern="800">
                                      <a:effectLst/>
                                      <a:latin typeface="Cambria Math" panose="02040503050406030204" pitchFamily="18" charset="0"/>
                                    </a:rPr>
                                  </m:ctrlPr>
                                </m:sSubPr>
                                <m:e>
                                  <m:r>
                                    <m:rPr>
                                      <m:sty m:val="p"/>
                                    </m:rPr>
                                    <a:rPr lang="en-GB" sz="1200" kern="800">
                                      <a:effectLst/>
                                      <a:latin typeface="Cambria Math" panose="02040503050406030204" pitchFamily="18" charset="0"/>
                                    </a:rPr>
                                    <m:t>α</m:t>
                                  </m:r>
                                </m:e>
                                <m:sub>
                                  <m:r>
                                    <m:rPr>
                                      <m:sty m:val="p"/>
                                    </m:rPr>
                                    <a:rPr lang="en-GB" sz="1200" kern="800">
                                      <a:effectLst/>
                                      <a:latin typeface="Cambria Math" panose="02040503050406030204" pitchFamily="18" charset="0"/>
                                    </a:rPr>
                                    <m:t>x</m:t>
                                  </m:r>
                                </m:sub>
                              </m:sSub>
                            </m:oMath>
                          </a14:m>
                          <a:r>
                            <a:rPr lang="en-GB" sz="1200" kern="800" dirty="0">
                              <a:effectLst/>
                            </a:rPr>
                            <a:t> </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dirty="0">
                              <a:effectLst/>
                            </a:rPr>
                            <a:t>-1.79</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dirty="0">
                              <a:effectLst/>
                            </a:rPr>
                            <a:t>-0.62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a:effectLst/>
                            </a:rPr>
                            <a:t>-1.47</a:t>
                          </a:r>
                          <a:endParaRPr lang="ja-JP" sz="140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a:effectLst/>
                            </a:rPr>
                            <a:t>-0.66</a:t>
                          </a:r>
                          <a:endParaRPr lang="ja-JP" sz="140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a:effectLst/>
                            </a:rPr>
                            <a:t>0.01</a:t>
                          </a:r>
                          <a:endParaRPr lang="ja-JP" sz="140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dirty="0">
                              <a:effectLst/>
                            </a:rPr>
                            <a:t>-1.08</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1"/>
                      </a:ext>
                    </a:extLst>
                  </a:tr>
                  <a:tr h="268430">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lang="ja-JP" sz="1200" i="1" kern="800">
                                        <a:effectLst/>
                                        <a:latin typeface="Cambria Math" panose="02040503050406030204" pitchFamily="18" charset="0"/>
                                      </a:rPr>
                                    </m:ctrlPr>
                                  </m:sSubPr>
                                  <m:e>
                                    <m:r>
                                      <m:rPr>
                                        <m:sty m:val="p"/>
                                      </m:rPr>
                                      <a:rPr lang="en-GB" sz="1200" kern="800">
                                        <a:effectLst/>
                                        <a:latin typeface="Cambria Math" panose="02040503050406030204" pitchFamily="18" charset="0"/>
                                      </a:rPr>
                                      <m:t>β</m:t>
                                    </m:r>
                                  </m:e>
                                  <m:sub>
                                    <m:r>
                                      <m:rPr>
                                        <m:sty m:val="p"/>
                                      </m:rPr>
                                      <a:rPr lang="en-GB" sz="1200" kern="800">
                                        <a:effectLst/>
                                        <a:latin typeface="Cambria Math" panose="02040503050406030204" pitchFamily="18" charset="0"/>
                                      </a:rPr>
                                      <m:t>x</m:t>
                                    </m:r>
                                  </m:sub>
                                </m:sSub>
                              </m:oMath>
                            </m:oMathPara>
                          </a14:m>
                          <a:endParaRPr lang="ja-JP" sz="1400" dirty="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dirty="0">
                              <a:effectLst/>
                            </a:rPr>
                            <a:t>3.25</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dirty="0">
                              <a:effectLst/>
                            </a:rPr>
                            <a:t>6.02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a:effectLst/>
                            </a:rPr>
                            <a:t>13.8</a:t>
                          </a:r>
                          <a:endParaRPr lang="ja-JP" sz="140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a:effectLst/>
                            </a:rPr>
                            <a:t>3.15</a:t>
                          </a:r>
                          <a:endParaRPr lang="ja-JP" sz="140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a:effectLst/>
                            </a:rPr>
                            <a:t>12.0</a:t>
                          </a:r>
                          <a:endParaRPr lang="ja-JP" sz="140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a:effectLst/>
                            </a:rPr>
                            <a:t>9.45</a:t>
                          </a:r>
                          <a:endParaRPr lang="ja-JP" sz="1400">
                            <a:effectLst/>
                            <a:latin typeface="Times New Roman" panose="02020603050405020304" pitchFamily="18" charset="0"/>
                            <a:ea typeface="ＭＳ 明朝" panose="02020609040205080304" pitchFamily="17" charset="-128"/>
                          </a:endParaRPr>
                        </a:p>
                      </a:txBody>
                      <a:tcPr marL="68580" marR="68580" marT="0" marB="0" anchor="ctr">
                        <a:noFill/>
                      </a:tcPr>
                    </a:tc>
                    <a:extLst>
                      <a:ext uri="{0D108BD9-81ED-4DB2-BD59-A6C34878D82A}">
                        <a16:rowId xmlns="" xmlns:a16="http://schemas.microsoft.com/office/drawing/2014/main" val="10002"/>
                      </a:ext>
                    </a:extLst>
                  </a:tr>
                  <a:tr h="268430">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r>
                                  <m:rPr>
                                    <m:sty m:val="p"/>
                                  </m:rPr>
                                  <a:rPr lang="en-GB" sz="1200" kern="800">
                                    <a:effectLst/>
                                    <a:latin typeface="Cambria Math" panose="02040503050406030204" pitchFamily="18" charset="0"/>
                                  </a:rPr>
                                  <m:t>Δ</m:t>
                                </m:r>
                                <m:sSub>
                                  <m:sSubPr>
                                    <m:ctrlPr>
                                      <a:rPr lang="ja-JP" sz="1200" i="1" kern="800">
                                        <a:effectLst/>
                                        <a:latin typeface="Cambria Math" panose="02040503050406030204" pitchFamily="18" charset="0"/>
                                      </a:rPr>
                                    </m:ctrlPr>
                                  </m:sSubPr>
                                  <m:e>
                                    <m:r>
                                      <m:rPr>
                                        <m:sty m:val="p"/>
                                      </m:rPr>
                                      <a:rPr lang="en-GB" sz="1200" kern="800">
                                        <a:effectLst/>
                                        <a:latin typeface="Cambria Math" panose="02040503050406030204" pitchFamily="18" charset="0"/>
                                      </a:rPr>
                                      <m:t>φ</m:t>
                                    </m:r>
                                  </m:e>
                                  <m:sub>
                                    <m:r>
                                      <m:rPr>
                                        <m:sty m:val="p"/>
                                      </m:rPr>
                                      <a:rPr lang="en-GB" sz="1200" kern="800">
                                        <a:effectLst/>
                                        <a:latin typeface="Cambria Math" panose="02040503050406030204" pitchFamily="18" charset="0"/>
                                      </a:rPr>
                                      <m:t>x</m:t>
                                    </m:r>
                                  </m:sub>
                                </m:sSub>
                              </m:oMath>
                            </m:oMathPara>
                          </a14:m>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8.01</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8.29</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1.24</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0.86</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0.00</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1.26</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bl>
              </a:graphicData>
            </a:graphic>
          </p:graphicFrame>
        </mc:Choice>
        <mc:Fallback xmlns="">
          <p:graphicFrame>
            <p:nvGraphicFramePr>
              <p:cNvPr id="79" name="表 78"/>
              <p:cNvGraphicFramePr>
                <a:graphicFrameLocks noGrp="1"/>
              </p:cNvGraphicFramePr>
              <p:nvPr>
                <p:extLst>
                  <p:ext uri="{D42A27DB-BD31-4B8C-83A1-F6EECF244321}">
                    <p14:modId xmlns:p14="http://schemas.microsoft.com/office/powerpoint/2010/main" val="365510605"/>
                  </p:ext>
                </p:extLst>
              </p:nvPr>
            </p:nvGraphicFramePr>
            <p:xfrm>
              <a:off x="5791829" y="5358600"/>
              <a:ext cx="3132396" cy="1152000"/>
            </p:xfrm>
            <a:graphic>
              <a:graphicData uri="http://schemas.openxmlformats.org/drawingml/2006/table">
                <a:tbl>
                  <a:tblPr>
                    <a:tableStyleId>{5C22544A-7EE6-4342-B048-85BDC9FD1C3A}</a:tableStyleId>
                  </a:tblPr>
                  <a:tblGrid>
                    <a:gridCol w="393396"/>
                    <a:gridCol w="456500"/>
                    <a:gridCol w="456500"/>
                    <a:gridCol w="456500"/>
                    <a:gridCol w="456500"/>
                    <a:gridCol w="456500"/>
                    <a:gridCol w="456500"/>
                  </a:tblGrid>
                  <a:tr h="268430">
                    <a:tc>
                      <a:txBody>
                        <a:bodyPr/>
                        <a:lstStyle/>
                        <a:p>
                          <a:pPr algn="just">
                            <a:lnSpc>
                              <a:spcPts val="1100"/>
                            </a:lnSpc>
                            <a:spcBef>
                              <a:spcPts val="300"/>
                            </a:spcBef>
                            <a:spcAft>
                              <a:spcPts val="300"/>
                            </a:spcAft>
                          </a:pPr>
                          <a:r>
                            <a:rPr lang="en-GB" sz="1200" kern="800" dirty="0">
                              <a:effectLst/>
                            </a:rPr>
                            <a:t> </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K1</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K2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K3</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K4</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smtClean="0">
                              <a:effectLst/>
                            </a:rPr>
                            <a:t>ID02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200" kern="800" dirty="0">
                              <a:effectLst/>
                            </a:rPr>
                            <a:t>Inj</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46710">
                    <a:tc>
                      <a:txBody>
                        <a:bodyPr/>
                        <a:lstStyle/>
                        <a:p>
                          <a:endParaRPr lang="ja-JP"/>
                        </a:p>
                      </a:txBody>
                      <a:tcPr marL="68580" marR="68580" marT="0" marB="0" anchor="ctr">
                        <a:lnT w="12700" cap="flat" cmpd="sng" algn="ctr">
                          <a:solidFill>
                            <a:schemeClr val="tx1"/>
                          </a:solidFill>
                          <a:prstDash val="solid"/>
                          <a:round/>
                          <a:headEnd type="none" w="med" len="med"/>
                          <a:tailEnd type="none" w="med" len="med"/>
                        </a:lnT>
                        <a:blipFill rotWithShape="0">
                          <a:blip r:embed="rId3"/>
                          <a:stretch>
                            <a:fillRect l="-1538" t="-84211" r="-695385" b="-164912"/>
                          </a:stretch>
                        </a:blipFill>
                      </a:tcPr>
                    </a:tc>
                    <a:tc>
                      <a:txBody>
                        <a:bodyPr/>
                        <a:lstStyle/>
                        <a:p>
                          <a:pPr algn="r">
                            <a:lnSpc>
                              <a:spcPts val="1100"/>
                            </a:lnSpc>
                            <a:spcBef>
                              <a:spcPts val="300"/>
                            </a:spcBef>
                            <a:spcAft>
                              <a:spcPts val="300"/>
                            </a:spcAft>
                          </a:pPr>
                          <a:r>
                            <a:rPr lang="en-GB" sz="1200" kern="800" dirty="0">
                              <a:effectLst/>
                            </a:rPr>
                            <a:t>-1.79</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dirty="0">
                              <a:effectLst/>
                            </a:rPr>
                            <a:t>-0.62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a:effectLst/>
                            </a:rPr>
                            <a:t>-1.47</a:t>
                          </a:r>
                          <a:endParaRPr lang="ja-JP" sz="140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a:effectLst/>
                            </a:rPr>
                            <a:t>-0.66</a:t>
                          </a:r>
                          <a:endParaRPr lang="ja-JP" sz="140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a:effectLst/>
                            </a:rPr>
                            <a:t>0.01</a:t>
                          </a:r>
                          <a:endParaRPr lang="ja-JP" sz="140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200" kern="800" dirty="0">
                              <a:effectLst/>
                            </a:rPr>
                            <a:t>-1.08</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r>
                  <a:tr h="268430">
                    <a:tc>
                      <a:txBody>
                        <a:bodyPr/>
                        <a:lstStyle/>
                        <a:p>
                          <a:endParaRPr lang="ja-JP"/>
                        </a:p>
                      </a:txBody>
                      <a:tcPr marL="68580" marR="68580" marT="0" marB="0" anchor="ctr">
                        <a:blipFill rotWithShape="0">
                          <a:blip r:embed="rId3"/>
                          <a:stretch>
                            <a:fillRect l="-1538" t="-233333" r="-695385" b="-108889"/>
                          </a:stretch>
                        </a:blipFill>
                      </a:tcPr>
                    </a:tc>
                    <a:tc>
                      <a:txBody>
                        <a:bodyPr/>
                        <a:lstStyle/>
                        <a:p>
                          <a:pPr algn="r">
                            <a:lnSpc>
                              <a:spcPts val="1100"/>
                            </a:lnSpc>
                            <a:spcBef>
                              <a:spcPts val="300"/>
                            </a:spcBef>
                            <a:spcAft>
                              <a:spcPts val="300"/>
                            </a:spcAft>
                          </a:pPr>
                          <a:r>
                            <a:rPr lang="en-GB" sz="1200" kern="800" dirty="0">
                              <a:effectLst/>
                            </a:rPr>
                            <a:t>3.25</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dirty="0">
                              <a:effectLst/>
                            </a:rPr>
                            <a:t>6.02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a:effectLst/>
                            </a:rPr>
                            <a:t>13.8</a:t>
                          </a:r>
                          <a:endParaRPr lang="ja-JP" sz="140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a:effectLst/>
                            </a:rPr>
                            <a:t>3.15</a:t>
                          </a:r>
                          <a:endParaRPr lang="ja-JP" sz="140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a:effectLst/>
                            </a:rPr>
                            <a:t>12.0</a:t>
                          </a:r>
                          <a:endParaRPr lang="ja-JP" sz="1400">
                            <a:effectLst/>
                            <a:latin typeface="Times New Roman" panose="02020603050405020304" pitchFamily="18" charset="0"/>
                            <a:ea typeface="ＭＳ 明朝" panose="02020609040205080304" pitchFamily="17" charset="-128"/>
                          </a:endParaRPr>
                        </a:p>
                      </a:txBody>
                      <a:tcPr marL="68580" marR="68580" marT="0" marB="0" anchor="ctr">
                        <a:noFill/>
                      </a:tcPr>
                    </a:tc>
                    <a:tc>
                      <a:txBody>
                        <a:bodyPr/>
                        <a:lstStyle/>
                        <a:p>
                          <a:pPr algn="r">
                            <a:lnSpc>
                              <a:spcPts val="1100"/>
                            </a:lnSpc>
                            <a:spcBef>
                              <a:spcPts val="300"/>
                            </a:spcBef>
                            <a:spcAft>
                              <a:spcPts val="300"/>
                            </a:spcAft>
                          </a:pPr>
                          <a:r>
                            <a:rPr lang="en-GB" sz="1200" kern="800">
                              <a:effectLst/>
                            </a:rPr>
                            <a:t>9.45</a:t>
                          </a:r>
                          <a:endParaRPr lang="ja-JP" sz="1400">
                            <a:effectLst/>
                            <a:latin typeface="Times New Roman" panose="02020603050405020304" pitchFamily="18" charset="0"/>
                            <a:ea typeface="ＭＳ 明朝" panose="02020609040205080304" pitchFamily="17" charset="-128"/>
                          </a:endParaRPr>
                        </a:p>
                      </a:txBody>
                      <a:tcPr marL="68580" marR="68580" marT="0" marB="0" anchor="ctr">
                        <a:noFill/>
                      </a:tcPr>
                    </a:tc>
                  </a:tr>
                  <a:tr h="268430">
                    <a:tc>
                      <a:txBody>
                        <a:bodyPr/>
                        <a:lstStyle/>
                        <a:p>
                          <a:endParaRPr lang="ja-JP"/>
                        </a:p>
                      </a:txBody>
                      <a:tcPr marL="68580" marR="68580" marT="0" marB="0" anchor="ctr">
                        <a:lnB w="12700" cap="flat" cmpd="sng" algn="ctr">
                          <a:solidFill>
                            <a:schemeClr val="tx1"/>
                          </a:solidFill>
                          <a:prstDash val="solid"/>
                          <a:round/>
                          <a:headEnd type="none" w="med" len="med"/>
                          <a:tailEnd type="none" w="med" len="med"/>
                        </a:lnB>
                        <a:blipFill rotWithShape="0">
                          <a:blip r:embed="rId3"/>
                          <a:stretch>
                            <a:fillRect l="-1538" t="-340909" r="-695385" b="-11364"/>
                          </a:stretch>
                        </a:blipFill>
                      </a:tcPr>
                    </a:tc>
                    <a:tc>
                      <a:txBody>
                        <a:bodyPr/>
                        <a:lstStyle/>
                        <a:p>
                          <a:pPr algn="r">
                            <a:lnSpc>
                              <a:spcPts val="1100"/>
                            </a:lnSpc>
                            <a:spcBef>
                              <a:spcPts val="300"/>
                            </a:spcBef>
                            <a:spcAft>
                              <a:spcPts val="300"/>
                            </a:spcAft>
                          </a:pPr>
                          <a:r>
                            <a:rPr lang="en-GB" sz="1200" kern="800" dirty="0">
                              <a:effectLst/>
                            </a:rPr>
                            <a:t>8.01</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8.29</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1.24</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0.86</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0.00</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200" kern="800" dirty="0">
                              <a:effectLst/>
                            </a:rPr>
                            <a:t>1.26</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r>
                </a:tbl>
              </a:graphicData>
            </a:graphic>
          </p:graphicFrame>
        </mc:Fallback>
      </mc:AlternateContent>
      <p:graphicFrame>
        <p:nvGraphicFramePr>
          <p:cNvPr id="81" name="表 80"/>
          <p:cNvGraphicFramePr>
            <a:graphicFrameLocks noGrp="1"/>
          </p:cNvGraphicFramePr>
          <p:nvPr>
            <p:extLst>
              <p:ext uri="{D42A27DB-BD31-4B8C-83A1-F6EECF244321}">
                <p14:modId xmlns:p14="http://schemas.microsoft.com/office/powerpoint/2010/main" val="717789701"/>
              </p:ext>
            </p:extLst>
          </p:nvPr>
        </p:nvGraphicFramePr>
        <p:xfrm>
          <a:off x="5792028" y="3697908"/>
          <a:ext cx="3131999" cy="1152000"/>
        </p:xfrm>
        <a:graphic>
          <a:graphicData uri="http://schemas.openxmlformats.org/drawingml/2006/table">
            <a:tbl>
              <a:tblPr firstRow="1" bandRow="1">
                <a:tableStyleId>{5C22544A-7EE6-4342-B048-85BDC9FD1C3A}</a:tableStyleId>
              </a:tblPr>
              <a:tblGrid>
                <a:gridCol w="934400">
                  <a:extLst>
                    <a:ext uri="{9D8B030D-6E8A-4147-A177-3AD203B41FA5}">
                      <a16:colId xmlns="" xmlns:a16="http://schemas.microsoft.com/office/drawing/2014/main" val="20000"/>
                    </a:ext>
                  </a:extLst>
                </a:gridCol>
                <a:gridCol w="611287">
                  <a:extLst>
                    <a:ext uri="{9D8B030D-6E8A-4147-A177-3AD203B41FA5}">
                      <a16:colId xmlns="" xmlns:a16="http://schemas.microsoft.com/office/drawing/2014/main" val="20001"/>
                    </a:ext>
                  </a:extLst>
                </a:gridCol>
                <a:gridCol w="611287">
                  <a:extLst>
                    <a:ext uri="{9D8B030D-6E8A-4147-A177-3AD203B41FA5}">
                      <a16:colId xmlns="" xmlns:a16="http://schemas.microsoft.com/office/drawing/2014/main" val="20002"/>
                    </a:ext>
                  </a:extLst>
                </a:gridCol>
                <a:gridCol w="975025">
                  <a:extLst>
                    <a:ext uri="{9D8B030D-6E8A-4147-A177-3AD203B41FA5}">
                      <a16:colId xmlns="" xmlns:a16="http://schemas.microsoft.com/office/drawing/2014/main" val="20003"/>
                    </a:ext>
                  </a:extLst>
                </a:gridCol>
              </a:tblGrid>
              <a:tr h="288000">
                <a:tc rowSpan="2">
                  <a:txBody>
                    <a:bodyPr/>
                    <a:lstStyle/>
                    <a:p>
                      <a:pPr algn="ctr"/>
                      <a:r>
                        <a:rPr kumimoji="1" lang="en-US" altLang="ja-JP" sz="1200" b="0" dirty="0">
                          <a:solidFill>
                            <a:schemeClr val="tx1"/>
                          </a:solidFill>
                        </a:rPr>
                        <a:t>position</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200" b="0" dirty="0">
                          <a:solidFill>
                            <a:schemeClr val="tx1"/>
                          </a:solidFill>
                        </a:rPr>
                        <a:t>設定値</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ctr"/>
                      <a:r>
                        <a:rPr kumimoji="1" lang="ja-JP" altLang="en-US" sz="1200" b="0" dirty="0">
                          <a:solidFill>
                            <a:schemeClr val="tx1"/>
                          </a:solidFill>
                        </a:rPr>
                        <a:t>蹴り角</a:t>
                      </a:r>
                      <a:r>
                        <a:rPr kumimoji="1" lang="en-US" altLang="ja-JP" sz="1200" b="0" dirty="0">
                          <a:solidFill>
                            <a:schemeClr val="tx1"/>
                          </a:solidFill>
                        </a:rPr>
                        <a:t>-</a:t>
                      </a:r>
                      <a:r>
                        <a:rPr kumimoji="1" lang="ja-JP" altLang="en-US" sz="1200" b="0" dirty="0">
                          <a:solidFill>
                            <a:schemeClr val="tx1"/>
                          </a:solidFill>
                        </a:rPr>
                        <a:t>角度</a:t>
                      </a:r>
                      <a:endParaRPr kumimoji="1" lang="en-US" altLang="ja-JP"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288000">
                <a:tc vMerge="1">
                  <a:txBody>
                    <a:bodyPr/>
                    <a:lstStyle/>
                    <a:p>
                      <a:endParaRPr kumimoji="1" lang="ja-JP" altLang="en-US"/>
                    </a:p>
                  </a:txBody>
                  <a:tcPr/>
                </a:tc>
                <a:tc>
                  <a:txBody>
                    <a:bodyPr/>
                    <a:lstStyle/>
                    <a:p>
                      <a:pPr algn="ctr"/>
                      <a:r>
                        <a:rPr kumimoji="1" lang="en-US" altLang="ja-JP" sz="1200" b="0" dirty="0">
                          <a:solidFill>
                            <a:schemeClr val="tx1"/>
                          </a:solidFill>
                        </a:rPr>
                        <a:t>[mrad]</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200" b="0" dirty="0">
                          <a:solidFill>
                            <a:schemeClr val="tx1"/>
                          </a:solidFill>
                        </a:rPr>
                        <a:t>[A]</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200" b="0" dirty="0">
                          <a:solidFill>
                            <a:schemeClr val="tx1"/>
                          </a:solidFill>
                        </a:rPr>
                        <a:t>[</a:t>
                      </a:r>
                      <a:r>
                        <a:rPr kumimoji="1" lang="en-US" altLang="ja-JP" sz="1200" b="0" dirty="0" err="1">
                          <a:solidFill>
                            <a:schemeClr val="tx1"/>
                          </a:solidFill>
                        </a:rPr>
                        <a:t>deg</a:t>
                      </a:r>
                      <a:r>
                        <a:rPr kumimoji="1" lang="en-US" altLang="ja-JP" sz="1200"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88000">
                <a:tc>
                  <a:txBody>
                    <a:bodyPr/>
                    <a:lstStyle/>
                    <a:p>
                      <a:pPr algn="ctr"/>
                      <a:r>
                        <a:rPr kumimoji="1" lang="en-US" altLang="ja-JP" sz="1200" b="0" dirty="0">
                          <a:solidFill>
                            <a:schemeClr val="tx1"/>
                          </a:solidFill>
                        </a:rPr>
                        <a:t>S1</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200" b="0" dirty="0">
                          <a:solidFill>
                            <a:schemeClr val="tx1"/>
                          </a:solidFill>
                        </a:rPr>
                        <a:t>118.61</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200" b="0" dirty="0">
                          <a:solidFill>
                            <a:schemeClr val="tx1"/>
                          </a:solidFill>
                        </a:rPr>
                        <a:t>5344</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200" b="0" dirty="0">
                          <a:solidFill>
                            <a:schemeClr val="tx1"/>
                          </a:solidFill>
                        </a:rPr>
                        <a:t>6.796</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288000">
                <a:tc>
                  <a:txBody>
                    <a:bodyPr/>
                    <a:lstStyle/>
                    <a:p>
                      <a:pPr algn="ctr"/>
                      <a:r>
                        <a:rPr kumimoji="1" lang="en-US" altLang="ja-JP" sz="1200" b="0" dirty="0">
                          <a:solidFill>
                            <a:schemeClr val="tx1"/>
                          </a:solidFill>
                        </a:rPr>
                        <a:t>S2</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200" b="0" dirty="0">
                          <a:solidFill>
                            <a:schemeClr val="tx1"/>
                          </a:solidFill>
                        </a:rPr>
                        <a:t>93.69</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200" b="0" dirty="0">
                          <a:solidFill>
                            <a:schemeClr val="tx1"/>
                          </a:solidFill>
                        </a:rPr>
                        <a:t>6281</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200" b="0" dirty="0">
                          <a:solidFill>
                            <a:schemeClr val="tx1"/>
                          </a:solidFill>
                        </a:rPr>
                        <a:t>5.368</a:t>
                      </a:r>
                      <a:endParaRPr kumimoji="1" lang="ja-JP" altLang="en-US" sz="12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grpSp>
        <p:nvGrpSpPr>
          <p:cNvPr id="24" name="グループ化 23"/>
          <p:cNvGrpSpPr/>
          <p:nvPr/>
        </p:nvGrpSpPr>
        <p:grpSpPr>
          <a:xfrm>
            <a:off x="82339" y="2235872"/>
            <a:ext cx="5062025" cy="4286974"/>
            <a:chOff x="3116360" y="662254"/>
            <a:chExt cx="5734959" cy="4790485"/>
          </a:xfrm>
        </p:grpSpPr>
        <p:pic>
          <p:nvPicPr>
            <p:cNvPr id="30" name="図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5574" y="1432628"/>
              <a:ext cx="5515745" cy="4020111"/>
            </a:xfrm>
            <a:prstGeom prst="rect">
              <a:avLst/>
            </a:prstGeom>
          </p:spPr>
        </p:pic>
        <p:sp>
          <p:nvSpPr>
            <p:cNvPr id="31" name="正方形/長方形 30"/>
            <p:cNvSpPr/>
            <p:nvPr/>
          </p:nvSpPr>
          <p:spPr>
            <a:xfrm rot="18603741">
              <a:off x="7061653" y="3051885"/>
              <a:ext cx="85725" cy="36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32" name="正方形/長方形 31"/>
            <p:cNvSpPr/>
            <p:nvPr/>
          </p:nvSpPr>
          <p:spPr>
            <a:xfrm rot="18603741">
              <a:off x="7466466" y="3366609"/>
              <a:ext cx="85725" cy="36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33" name="正方形/長方形 32"/>
            <p:cNvSpPr/>
            <p:nvPr/>
          </p:nvSpPr>
          <p:spPr>
            <a:xfrm rot="19068183">
              <a:off x="7968116" y="3865878"/>
              <a:ext cx="85725" cy="36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34" name="正方形/長方形 33"/>
            <p:cNvSpPr/>
            <p:nvPr/>
          </p:nvSpPr>
          <p:spPr>
            <a:xfrm rot="17791644">
              <a:off x="6477195" y="2669800"/>
              <a:ext cx="85725" cy="36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35" name="テキスト ボックス 34"/>
            <p:cNvSpPr txBox="1"/>
            <p:nvPr/>
          </p:nvSpPr>
          <p:spPr>
            <a:xfrm rot="18489931">
              <a:off x="7143889" y="3388831"/>
              <a:ext cx="482739" cy="307777"/>
            </a:xfrm>
            <a:prstGeom prst="rect">
              <a:avLst/>
            </a:prstGeom>
            <a:noFill/>
          </p:spPr>
          <p:txBody>
            <a:bodyPr wrap="square" rtlCol="0">
              <a:spAutoFit/>
            </a:bodyPr>
            <a:lstStyle/>
            <a:p>
              <a:pPr algn="ctr"/>
              <a:r>
                <a:rPr lang="en-US" altLang="ja-JP" sz="1400" dirty="0">
                  <a:solidFill>
                    <a:prstClr val="black"/>
                  </a:solidFill>
                </a:rPr>
                <a:t>K2</a:t>
              </a:r>
              <a:endParaRPr lang="ja-JP" altLang="en-US" sz="1400" dirty="0">
                <a:solidFill>
                  <a:prstClr val="black"/>
                </a:solidFill>
              </a:endParaRPr>
            </a:p>
          </p:txBody>
        </p:sp>
        <p:sp>
          <p:nvSpPr>
            <p:cNvPr id="36" name="テキスト ボックス 35"/>
            <p:cNvSpPr txBox="1"/>
            <p:nvPr/>
          </p:nvSpPr>
          <p:spPr>
            <a:xfrm rot="18489931">
              <a:off x="6755404" y="3072484"/>
              <a:ext cx="442511" cy="307777"/>
            </a:xfrm>
            <a:prstGeom prst="rect">
              <a:avLst/>
            </a:prstGeom>
            <a:noFill/>
          </p:spPr>
          <p:txBody>
            <a:bodyPr wrap="square" rtlCol="0">
              <a:spAutoFit/>
            </a:bodyPr>
            <a:lstStyle/>
            <a:p>
              <a:pPr algn="ctr"/>
              <a:r>
                <a:rPr lang="en-US" altLang="ja-JP" sz="1400" dirty="0">
                  <a:solidFill>
                    <a:prstClr val="black"/>
                  </a:solidFill>
                </a:rPr>
                <a:t>K3</a:t>
              </a:r>
              <a:endParaRPr lang="ja-JP" altLang="en-US" sz="1400" dirty="0">
                <a:solidFill>
                  <a:prstClr val="black"/>
                </a:solidFill>
              </a:endParaRPr>
            </a:p>
          </p:txBody>
        </p:sp>
        <p:sp>
          <p:nvSpPr>
            <p:cNvPr id="37" name="テキスト ボックス 36"/>
            <p:cNvSpPr txBox="1"/>
            <p:nvPr/>
          </p:nvSpPr>
          <p:spPr>
            <a:xfrm rot="19424146">
              <a:off x="7584250" y="3820142"/>
              <a:ext cx="433084" cy="307776"/>
            </a:xfrm>
            <a:prstGeom prst="rect">
              <a:avLst/>
            </a:prstGeom>
            <a:noFill/>
          </p:spPr>
          <p:txBody>
            <a:bodyPr wrap="square" rtlCol="0">
              <a:spAutoFit/>
            </a:bodyPr>
            <a:lstStyle/>
            <a:p>
              <a:pPr algn="ctr"/>
              <a:r>
                <a:rPr lang="en-US" altLang="ja-JP" sz="1400" dirty="0">
                  <a:solidFill>
                    <a:prstClr val="black"/>
                  </a:solidFill>
                </a:rPr>
                <a:t>K1</a:t>
              </a:r>
              <a:endParaRPr lang="ja-JP" altLang="en-US" sz="1400" dirty="0">
                <a:solidFill>
                  <a:prstClr val="black"/>
                </a:solidFill>
              </a:endParaRPr>
            </a:p>
          </p:txBody>
        </p:sp>
        <p:sp>
          <p:nvSpPr>
            <p:cNvPr id="38" name="テキスト ボックス 37"/>
            <p:cNvSpPr txBox="1"/>
            <p:nvPr/>
          </p:nvSpPr>
          <p:spPr>
            <a:xfrm rot="17824148">
              <a:off x="6216981" y="2726904"/>
              <a:ext cx="442511" cy="307777"/>
            </a:xfrm>
            <a:prstGeom prst="rect">
              <a:avLst/>
            </a:prstGeom>
            <a:noFill/>
          </p:spPr>
          <p:txBody>
            <a:bodyPr wrap="square" rtlCol="0">
              <a:spAutoFit/>
            </a:bodyPr>
            <a:lstStyle/>
            <a:p>
              <a:pPr algn="ctr"/>
              <a:r>
                <a:rPr lang="en-US" altLang="ja-JP" sz="1400" dirty="0">
                  <a:solidFill>
                    <a:prstClr val="black"/>
                  </a:solidFill>
                </a:rPr>
                <a:t>K4</a:t>
              </a:r>
              <a:endParaRPr lang="ja-JP" altLang="en-US" sz="1400" dirty="0">
                <a:solidFill>
                  <a:prstClr val="black"/>
                </a:solidFill>
              </a:endParaRPr>
            </a:p>
          </p:txBody>
        </p:sp>
        <p:cxnSp>
          <p:nvCxnSpPr>
            <p:cNvPr id="39" name="直線コネクタ 38"/>
            <p:cNvCxnSpPr>
              <a:stCxn id="27" idx="0"/>
              <a:endCxn id="35" idx="1"/>
            </p:cNvCxnSpPr>
            <p:nvPr/>
          </p:nvCxnSpPr>
          <p:spPr>
            <a:xfrm flipV="1">
              <a:off x="6809525" y="3732492"/>
              <a:ext cx="424515" cy="80870"/>
            </a:xfrm>
            <a:prstGeom prst="line">
              <a:avLst/>
            </a:prstGeom>
            <a:ln>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27" idx="0"/>
              <a:endCxn id="37" idx="1"/>
            </p:cNvCxnSpPr>
            <p:nvPr/>
          </p:nvCxnSpPr>
          <p:spPr>
            <a:xfrm>
              <a:off x="6809525" y="3813362"/>
              <a:ext cx="816670" cy="287005"/>
            </a:xfrm>
            <a:prstGeom prst="line">
              <a:avLst/>
            </a:prstGeom>
            <a:ln>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a:stCxn id="27" idx="0"/>
              <a:endCxn id="38" idx="1"/>
            </p:cNvCxnSpPr>
            <p:nvPr/>
          </p:nvCxnSpPr>
          <p:spPr>
            <a:xfrm flipH="1" flipV="1">
              <a:off x="6336157" y="3077811"/>
              <a:ext cx="473369" cy="735551"/>
            </a:xfrm>
            <a:prstGeom prst="line">
              <a:avLst/>
            </a:prstGeom>
            <a:ln>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テキスト ボックス 41"/>
            <p:cNvSpPr txBox="1"/>
            <p:nvPr/>
          </p:nvSpPr>
          <p:spPr>
            <a:xfrm rot="18489931">
              <a:off x="7194643" y="2822031"/>
              <a:ext cx="396000" cy="307777"/>
            </a:xfrm>
            <a:prstGeom prst="rect">
              <a:avLst/>
            </a:prstGeom>
            <a:noFill/>
          </p:spPr>
          <p:txBody>
            <a:bodyPr wrap="square" rtlCol="0">
              <a:spAutoFit/>
            </a:bodyPr>
            <a:lstStyle/>
            <a:p>
              <a:pPr algn="ctr"/>
              <a:r>
                <a:rPr lang="en-US" altLang="ja-JP" sz="1400" dirty="0">
                  <a:solidFill>
                    <a:prstClr val="black"/>
                  </a:solidFill>
                </a:rPr>
                <a:t>S2</a:t>
              </a:r>
              <a:endParaRPr lang="ja-JP" altLang="en-US" sz="1400" dirty="0">
                <a:solidFill>
                  <a:prstClr val="black"/>
                </a:solidFill>
              </a:endParaRPr>
            </a:p>
          </p:txBody>
        </p:sp>
        <p:sp>
          <p:nvSpPr>
            <p:cNvPr id="43" name="テキスト ボックス 42"/>
            <p:cNvSpPr txBox="1"/>
            <p:nvPr/>
          </p:nvSpPr>
          <p:spPr>
            <a:xfrm rot="18489931">
              <a:off x="7420794" y="2949053"/>
              <a:ext cx="396000" cy="307777"/>
            </a:xfrm>
            <a:prstGeom prst="rect">
              <a:avLst/>
            </a:prstGeom>
            <a:noFill/>
          </p:spPr>
          <p:txBody>
            <a:bodyPr wrap="square" rtlCol="0">
              <a:spAutoFit/>
            </a:bodyPr>
            <a:lstStyle/>
            <a:p>
              <a:pPr algn="ctr"/>
              <a:r>
                <a:rPr lang="en-US" altLang="ja-JP" sz="1400" dirty="0">
                  <a:solidFill>
                    <a:prstClr val="black"/>
                  </a:solidFill>
                </a:rPr>
                <a:t>S1</a:t>
              </a:r>
              <a:endParaRPr lang="ja-JP" altLang="en-US" sz="1400" dirty="0">
                <a:solidFill>
                  <a:prstClr val="black"/>
                </a:solidFill>
              </a:endParaRPr>
            </a:p>
          </p:txBody>
        </p:sp>
        <p:cxnSp>
          <p:nvCxnSpPr>
            <p:cNvPr id="44" name="直線コネクタ 43"/>
            <p:cNvCxnSpPr/>
            <p:nvPr/>
          </p:nvCxnSpPr>
          <p:spPr>
            <a:xfrm flipV="1">
              <a:off x="7113048" y="1335606"/>
              <a:ext cx="1631717" cy="191888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5" name="テキスト ボックス 44"/>
            <p:cNvSpPr txBox="1"/>
            <p:nvPr/>
          </p:nvSpPr>
          <p:spPr>
            <a:xfrm rot="18594737">
              <a:off x="7171467" y="1609109"/>
              <a:ext cx="1711989" cy="418430"/>
            </a:xfrm>
            <a:prstGeom prst="rect">
              <a:avLst/>
            </a:prstGeom>
            <a:solidFill>
              <a:schemeClr val="bg1"/>
            </a:solidFill>
          </p:spPr>
          <p:txBody>
            <a:bodyPr wrap="square" rtlCol="0">
              <a:spAutoFit/>
            </a:bodyPr>
            <a:lstStyle/>
            <a:p>
              <a:r>
                <a:rPr lang="en-US" altLang="ja-JP" sz="1600" dirty="0">
                  <a:solidFill>
                    <a:prstClr val="black"/>
                  </a:solidFill>
                  <a:latin typeface="ＭＳ Ｐゴシック" panose="020B0600070205080204" pitchFamily="50" charset="-128"/>
                </a:rPr>
                <a:t>Injection</a:t>
              </a:r>
              <a:r>
                <a:rPr lang="en-US" altLang="ja-JP" dirty="0">
                  <a:solidFill>
                    <a:prstClr val="black"/>
                  </a:solidFill>
                  <a:latin typeface="ＭＳ Ｐゴシック" panose="020B0600070205080204" pitchFamily="50" charset="-128"/>
                </a:rPr>
                <a:t> </a:t>
              </a:r>
              <a:r>
                <a:rPr lang="en-US" altLang="ja-JP" sz="1600" dirty="0">
                  <a:solidFill>
                    <a:prstClr val="black"/>
                  </a:solidFill>
                  <a:latin typeface="ＭＳ Ｐゴシック" panose="020B0600070205080204" pitchFamily="50" charset="-128"/>
                </a:rPr>
                <a:t>Point</a:t>
              </a:r>
              <a:r>
                <a:rPr lang="en-US" altLang="ja-JP" dirty="0">
                  <a:solidFill>
                    <a:prstClr val="black"/>
                  </a:solidFill>
                  <a:latin typeface="ＭＳ Ｐゴシック" panose="020B0600070205080204" pitchFamily="50" charset="-128"/>
                </a:rPr>
                <a:t> </a:t>
              </a:r>
              <a:endParaRPr lang="ja-JP" altLang="en-US" dirty="0">
                <a:solidFill>
                  <a:prstClr val="black"/>
                </a:solidFill>
                <a:latin typeface="ＭＳ Ｐゴシック" panose="020B0600070205080204" pitchFamily="50" charset="-128"/>
              </a:endParaRPr>
            </a:p>
          </p:txBody>
        </p:sp>
        <p:cxnSp>
          <p:nvCxnSpPr>
            <p:cNvPr id="46" name="直線コネクタ 45"/>
            <p:cNvCxnSpPr/>
            <p:nvPr/>
          </p:nvCxnSpPr>
          <p:spPr>
            <a:xfrm flipH="1">
              <a:off x="4473774" y="2119527"/>
              <a:ext cx="0" cy="936000"/>
            </a:xfrm>
            <a:prstGeom prst="line">
              <a:avLst/>
            </a:prstGeom>
            <a:ln w="12700">
              <a:solidFill>
                <a:srgbClr val="FF0000"/>
              </a:solidFill>
              <a:prstDash val="solid"/>
              <a:headEnd type="triangle"/>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a:off x="3393128" y="2089653"/>
              <a:ext cx="0" cy="936000"/>
            </a:xfrm>
            <a:prstGeom prst="line">
              <a:avLst/>
            </a:prstGeom>
            <a:ln>
              <a:solidFill>
                <a:srgbClr val="FF0000"/>
              </a:solidFill>
              <a:prstDash val="solid"/>
              <a:head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テキスト ボックス 47"/>
                <p:cNvSpPr txBox="1"/>
                <p:nvPr/>
              </p:nvSpPr>
              <p:spPr>
                <a:xfrm>
                  <a:off x="4120153" y="2933662"/>
                  <a:ext cx="744523" cy="653458"/>
                </a:xfrm>
                <a:prstGeom prst="rect">
                  <a:avLst/>
                </a:prstGeom>
                <a:solidFill>
                  <a:schemeClr val="bg1"/>
                </a:solidFill>
                <a:ln>
                  <a:solidFill>
                    <a:schemeClr val="tx1"/>
                  </a:solidFill>
                </a:ln>
              </p:spPr>
              <p:txBody>
                <a:bodyPr wrap="square" rtlCol="0" anchor="ctr">
                  <a:spAutoFit/>
                </a:bodyPr>
                <a:lstStyle/>
                <a:p>
                  <a:pPr algn="ctr"/>
                  <a:r>
                    <a:rPr lang="en-US" altLang="ja-JP" sz="1600" dirty="0">
                      <a:solidFill>
                        <a:prstClr val="black"/>
                      </a:solidFill>
                      <a:latin typeface="ＭＳ Ｐゴシック" panose="020B0600070205080204" pitchFamily="50" charset="-128"/>
                    </a:rPr>
                    <a:t>BPM</a:t>
                  </a:r>
                </a:p>
                <a:p>
                  <a:pPr algn="ctr"/>
                  <a14:m>
                    <m:oMathPara xmlns:m="http://schemas.openxmlformats.org/officeDocument/2006/math">
                      <m:oMathParaPr>
                        <m:jc m:val="centerGroup"/>
                      </m:oMathParaPr>
                      <m:oMath xmlns:m="http://schemas.openxmlformats.org/officeDocument/2006/math">
                        <m:sSub>
                          <m:sSubPr>
                            <m:ctrlPr>
                              <a:rPr lang="en-US" altLang="ja-JP" sz="1600" i="1" smtClean="0">
                                <a:solidFill>
                                  <a:prstClr val="black"/>
                                </a:solidFill>
                                <a:latin typeface="Cambria Math" panose="02040503050406030204" pitchFamily="18" charset="0"/>
                                <a:ea typeface="+mj-ea"/>
                              </a:rPr>
                            </m:ctrlPr>
                          </m:sSubPr>
                          <m:e>
                            <m:r>
                              <a:rPr lang="en-US" altLang="ja-JP" sz="1600" i="1" smtClean="0">
                                <a:solidFill>
                                  <a:prstClr val="black"/>
                                </a:solidFill>
                                <a:latin typeface="Cambria Math" panose="02040503050406030204" pitchFamily="18" charset="0"/>
                                <a:ea typeface="+mj-ea"/>
                              </a:rPr>
                              <m:t>𝑥</m:t>
                            </m:r>
                          </m:e>
                          <m:sub>
                            <m:r>
                              <a:rPr lang="en-US" altLang="ja-JP" sz="1600" i="1" smtClean="0">
                                <a:solidFill>
                                  <a:prstClr val="black"/>
                                </a:solidFill>
                                <a:latin typeface="Cambria Math" panose="02040503050406030204" pitchFamily="18" charset="0"/>
                                <a:ea typeface="+mj-ea"/>
                              </a:rPr>
                              <m:t>1</m:t>
                            </m:r>
                          </m:sub>
                        </m:sSub>
                      </m:oMath>
                    </m:oMathPara>
                  </a14:m>
                  <a:endParaRPr lang="ja-JP" altLang="en-US" sz="1600" dirty="0">
                    <a:solidFill>
                      <a:prstClr val="black"/>
                    </a:solidFill>
                    <a:latin typeface="ＭＳ Ｐゴシック" panose="020B0600070205080204" pitchFamily="50" charset="-128"/>
                  </a:endParaRPr>
                </a:p>
              </p:txBody>
            </p:sp>
          </mc:Choice>
          <mc:Fallback xmlns="">
            <p:sp>
              <p:nvSpPr>
                <p:cNvPr id="48" name="テキスト ボックス 47"/>
                <p:cNvSpPr txBox="1">
                  <a:spLocks noRot="1" noChangeAspect="1" noMove="1" noResize="1" noEditPoints="1" noAdjustHandles="1" noChangeArrowheads="1" noChangeShapeType="1" noTextEdit="1"/>
                </p:cNvSpPr>
                <p:nvPr/>
              </p:nvSpPr>
              <p:spPr>
                <a:xfrm>
                  <a:off x="4120153" y="2933662"/>
                  <a:ext cx="744523" cy="653458"/>
                </a:xfrm>
                <a:prstGeom prst="rect">
                  <a:avLst/>
                </a:prstGeom>
                <a:blipFill rotWithShape="0">
                  <a:blip r:embed="rId5"/>
                  <a:stretch>
                    <a:fillRect t="-1020"/>
                  </a:stretch>
                </a:blipFill>
                <a:ln>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9" name="テキスト ボックス 48"/>
                <p:cNvSpPr txBox="1"/>
                <p:nvPr/>
              </p:nvSpPr>
              <p:spPr>
                <a:xfrm>
                  <a:off x="3116360" y="2933662"/>
                  <a:ext cx="744523" cy="653458"/>
                </a:xfrm>
                <a:prstGeom prst="rect">
                  <a:avLst/>
                </a:prstGeom>
                <a:solidFill>
                  <a:schemeClr val="bg1"/>
                </a:solidFill>
                <a:ln>
                  <a:solidFill>
                    <a:schemeClr val="tx1"/>
                  </a:solidFill>
                </a:ln>
              </p:spPr>
              <p:txBody>
                <a:bodyPr wrap="square" rtlCol="0" anchor="ctr">
                  <a:spAutoFit/>
                </a:bodyPr>
                <a:lstStyle/>
                <a:p>
                  <a:pPr algn="ctr"/>
                  <a:r>
                    <a:rPr lang="en-US" altLang="ja-JP" sz="1600" dirty="0">
                      <a:solidFill>
                        <a:prstClr val="black"/>
                      </a:solidFill>
                      <a:latin typeface="ＭＳ Ｐゴシック" panose="020B0600070205080204" pitchFamily="50" charset="-128"/>
                    </a:rPr>
                    <a:t>BPM</a:t>
                  </a:r>
                </a:p>
                <a:p>
                  <a:pPr algn="ctr"/>
                  <a14:m>
                    <m:oMathPara xmlns:m="http://schemas.openxmlformats.org/officeDocument/2006/math">
                      <m:oMathParaPr>
                        <m:jc m:val="centerGroup"/>
                      </m:oMathParaPr>
                      <m:oMath xmlns:m="http://schemas.openxmlformats.org/officeDocument/2006/math">
                        <m:sSub>
                          <m:sSubPr>
                            <m:ctrlPr>
                              <a:rPr lang="en-US" altLang="ja-JP" sz="1600" i="1">
                                <a:solidFill>
                                  <a:prstClr val="black"/>
                                </a:solidFill>
                                <a:latin typeface="Cambria Math" panose="02040503050406030204" pitchFamily="18" charset="0"/>
                              </a:rPr>
                            </m:ctrlPr>
                          </m:sSubPr>
                          <m:e>
                            <m:r>
                              <a:rPr lang="en-US" altLang="ja-JP" sz="1600" i="1">
                                <a:solidFill>
                                  <a:prstClr val="black"/>
                                </a:solidFill>
                                <a:latin typeface="Cambria Math" panose="02040503050406030204" pitchFamily="18" charset="0"/>
                              </a:rPr>
                              <m:t>𝑥</m:t>
                            </m:r>
                          </m:e>
                          <m:sub>
                            <m:r>
                              <a:rPr lang="en-US" altLang="ja-JP" sz="1600" i="1" smtClean="0">
                                <a:solidFill>
                                  <a:prstClr val="black"/>
                                </a:solidFill>
                                <a:latin typeface="Cambria Math" panose="02040503050406030204" pitchFamily="18" charset="0"/>
                              </a:rPr>
                              <m:t>2</m:t>
                            </m:r>
                          </m:sub>
                        </m:sSub>
                      </m:oMath>
                    </m:oMathPara>
                  </a14:m>
                  <a:endParaRPr lang="ja-JP" altLang="en-US" sz="1600" dirty="0">
                    <a:solidFill>
                      <a:prstClr val="black"/>
                    </a:solidFill>
                    <a:latin typeface="ＭＳ Ｐゴシック" panose="020B0600070205080204" pitchFamily="50" charset="-128"/>
                  </a:endParaRPr>
                </a:p>
              </p:txBody>
            </p:sp>
          </mc:Choice>
          <mc:Fallback xmlns="">
            <p:sp>
              <p:nvSpPr>
                <p:cNvPr id="49" name="テキスト ボックス 48"/>
                <p:cNvSpPr txBox="1">
                  <a:spLocks noRot="1" noChangeAspect="1" noMove="1" noResize="1" noEditPoints="1" noAdjustHandles="1" noChangeArrowheads="1" noChangeShapeType="1" noTextEdit="1"/>
                </p:cNvSpPr>
                <p:nvPr/>
              </p:nvSpPr>
              <p:spPr>
                <a:xfrm>
                  <a:off x="3116360" y="2933662"/>
                  <a:ext cx="744523" cy="653458"/>
                </a:xfrm>
                <a:prstGeom prst="rect">
                  <a:avLst/>
                </a:prstGeom>
                <a:blipFill rotWithShape="0">
                  <a:blip r:embed="rId6"/>
                  <a:stretch>
                    <a:fillRect t="-1020"/>
                  </a:stretch>
                </a:blipFill>
                <a:ln>
                  <a:solidFill>
                    <a:schemeClr val="tx1"/>
                  </a:solidFill>
                </a:ln>
              </p:spPr>
              <p:txBody>
                <a:bodyPr/>
                <a:lstStyle/>
                <a:p>
                  <a:r>
                    <a:rPr lang="ja-JP" altLang="en-US">
                      <a:noFill/>
                    </a:rPr>
                    <a:t> </a:t>
                  </a:r>
                </a:p>
              </p:txBody>
            </p:sp>
          </mc:Fallback>
        </mc:AlternateContent>
        <p:sp>
          <p:nvSpPr>
            <p:cNvPr id="50" name="テキスト ボックス 49"/>
            <p:cNvSpPr txBox="1"/>
            <p:nvPr/>
          </p:nvSpPr>
          <p:spPr>
            <a:xfrm rot="16200000">
              <a:off x="2952333" y="1045496"/>
              <a:ext cx="1498738" cy="732253"/>
            </a:xfrm>
            <a:prstGeom prst="rect">
              <a:avLst/>
            </a:prstGeom>
            <a:noFill/>
          </p:spPr>
          <p:txBody>
            <a:bodyPr wrap="square" rtlCol="0">
              <a:spAutoFit/>
            </a:bodyPr>
            <a:lstStyle/>
            <a:p>
              <a:pPr algn="ctr"/>
              <a:r>
                <a:rPr lang="en-US" altLang="ja-JP" sz="1600" dirty="0">
                  <a:solidFill>
                    <a:prstClr val="black"/>
                  </a:solidFill>
                  <a:latin typeface="ＭＳ Ｐゴシック" panose="020B0600070205080204" pitchFamily="50" charset="-128"/>
                </a:rPr>
                <a:t>Insertion</a:t>
              </a:r>
              <a:r>
                <a:rPr lang="en-US" altLang="ja-JP" dirty="0">
                  <a:solidFill>
                    <a:prstClr val="black"/>
                  </a:solidFill>
                  <a:latin typeface="ＭＳ Ｐゴシック" panose="020B0600070205080204" pitchFamily="50" charset="-128"/>
                </a:rPr>
                <a:t> </a:t>
              </a:r>
              <a:r>
                <a:rPr lang="en-US" altLang="ja-JP" sz="1600" dirty="0">
                  <a:solidFill>
                    <a:prstClr val="black"/>
                  </a:solidFill>
                  <a:latin typeface="ＭＳ Ｐゴシック" panose="020B0600070205080204" pitchFamily="50" charset="-128"/>
                </a:rPr>
                <a:t>Device</a:t>
              </a:r>
              <a:r>
                <a:rPr lang="en-US" altLang="ja-JP" dirty="0">
                  <a:solidFill>
                    <a:prstClr val="black"/>
                  </a:solidFill>
                  <a:latin typeface="ＭＳ Ｐゴシック" panose="020B0600070205080204" pitchFamily="50" charset="-128"/>
                </a:rPr>
                <a:t> </a:t>
              </a:r>
              <a:r>
                <a:rPr lang="en-US" altLang="ja-JP" sz="1600" dirty="0">
                  <a:solidFill>
                    <a:prstClr val="black"/>
                  </a:solidFill>
                  <a:latin typeface="ＭＳ Ｐゴシック" panose="020B0600070205080204" pitchFamily="50" charset="-128"/>
                </a:rPr>
                <a:t>02</a:t>
              </a:r>
              <a:endParaRPr lang="ja-JP" altLang="en-US" dirty="0">
                <a:solidFill>
                  <a:prstClr val="black"/>
                </a:solidFill>
                <a:latin typeface="ＭＳ Ｐゴシック" panose="020B0600070205080204" pitchFamily="50" charset="-128"/>
              </a:endParaRPr>
            </a:p>
          </p:txBody>
        </p:sp>
        <p:cxnSp>
          <p:nvCxnSpPr>
            <p:cNvPr id="51" name="直線コネクタ 50"/>
            <p:cNvCxnSpPr/>
            <p:nvPr/>
          </p:nvCxnSpPr>
          <p:spPr>
            <a:xfrm flipV="1">
              <a:off x="4003287" y="857975"/>
              <a:ext cx="43286" cy="1503111"/>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25" name="テキスト ボックス 24"/>
          <p:cNvSpPr txBox="1"/>
          <p:nvPr/>
        </p:nvSpPr>
        <p:spPr>
          <a:xfrm rot="18588296">
            <a:off x="4241739" y="3339712"/>
            <a:ext cx="1352839" cy="584775"/>
          </a:xfrm>
          <a:prstGeom prst="rect">
            <a:avLst/>
          </a:prstGeom>
          <a:solidFill>
            <a:schemeClr val="bg1"/>
          </a:solidFill>
          <a:ln>
            <a:solidFill>
              <a:schemeClr val="tx1"/>
            </a:solidFill>
          </a:ln>
        </p:spPr>
        <p:txBody>
          <a:bodyPr wrap="square" rtlCol="0">
            <a:spAutoFit/>
          </a:bodyPr>
          <a:lstStyle/>
          <a:p>
            <a:pPr algn="ctr"/>
            <a:r>
              <a:rPr lang="en-US" altLang="ja-JP" sz="1600" dirty="0">
                <a:solidFill>
                  <a:prstClr val="black"/>
                </a:solidFill>
                <a:latin typeface="ＭＳ Ｐゴシック" panose="020B0600070205080204" pitchFamily="50" charset="-128"/>
              </a:rPr>
              <a:t>Two-Se</a:t>
            </a:r>
            <a:r>
              <a:rPr lang="en-US" altLang="ja-JP" sz="1200" dirty="0">
                <a:solidFill>
                  <a:prstClr val="black"/>
                </a:solidFill>
                <a:latin typeface="ＭＳ Ｐゴシック" panose="020B0600070205080204" pitchFamily="50" charset="-128"/>
              </a:rPr>
              <a:t>p</a:t>
            </a:r>
            <a:r>
              <a:rPr lang="en-US" altLang="ja-JP" sz="1600" dirty="0">
                <a:solidFill>
                  <a:prstClr val="black"/>
                </a:solidFill>
                <a:latin typeface="ＭＳ Ｐゴシック" panose="020B0600070205080204" pitchFamily="50" charset="-128"/>
              </a:rPr>
              <a:t>tum</a:t>
            </a:r>
            <a:endParaRPr lang="en-US" altLang="ja-JP" sz="1400" dirty="0">
              <a:solidFill>
                <a:prstClr val="black"/>
              </a:solidFill>
              <a:latin typeface="ＭＳ Ｐゴシック" panose="020B0600070205080204" pitchFamily="50" charset="-128"/>
            </a:endParaRPr>
          </a:p>
          <a:p>
            <a:pPr algn="ctr"/>
            <a:r>
              <a:rPr lang="en-US" altLang="ja-JP" sz="1600" dirty="0">
                <a:solidFill>
                  <a:prstClr val="black"/>
                </a:solidFill>
                <a:latin typeface="ＭＳ Ｐゴシック" panose="020B0600070205080204" pitchFamily="50" charset="-128"/>
              </a:rPr>
              <a:t>Magnets</a:t>
            </a:r>
            <a:endParaRPr lang="ja-JP" altLang="en-US" sz="1000" dirty="0">
              <a:solidFill>
                <a:prstClr val="black"/>
              </a:solidFill>
              <a:latin typeface="ＭＳ Ｐゴシック" panose="020B0600070205080204" pitchFamily="50" charset="-128"/>
            </a:endParaRPr>
          </a:p>
        </p:txBody>
      </p:sp>
      <p:cxnSp>
        <p:nvCxnSpPr>
          <p:cNvPr id="26" name="直線コネクタ 25"/>
          <p:cNvCxnSpPr>
            <a:stCxn id="27" idx="0"/>
            <a:endCxn id="36" idx="1"/>
          </p:cNvCxnSpPr>
          <p:nvPr/>
        </p:nvCxnSpPr>
        <p:spPr>
          <a:xfrm flipV="1">
            <a:off x="3342152" y="4686159"/>
            <a:ext cx="25172" cy="369619"/>
          </a:xfrm>
          <a:prstGeom prst="line">
            <a:avLst/>
          </a:prstGeom>
          <a:ln>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テキスト ボックス 26"/>
          <p:cNvSpPr txBox="1"/>
          <p:nvPr/>
        </p:nvSpPr>
        <p:spPr>
          <a:xfrm rot="2471752">
            <a:off x="2502097" y="4988807"/>
            <a:ext cx="1323722" cy="541101"/>
          </a:xfrm>
          <a:prstGeom prst="rect">
            <a:avLst/>
          </a:prstGeom>
          <a:solidFill>
            <a:schemeClr val="bg1"/>
          </a:solidFill>
          <a:ln>
            <a:solidFill>
              <a:schemeClr val="tx1"/>
            </a:solidFill>
          </a:ln>
        </p:spPr>
        <p:txBody>
          <a:bodyPr wrap="square" rtlCol="0">
            <a:spAutoFit/>
          </a:bodyPr>
          <a:lstStyle/>
          <a:p>
            <a:pPr algn="ctr"/>
            <a:r>
              <a:rPr lang="en-US" altLang="ja-JP" sz="1600" dirty="0">
                <a:solidFill>
                  <a:prstClr val="black"/>
                </a:solidFill>
                <a:latin typeface="ＭＳ Ｐゴシック" panose="020B0600070205080204" pitchFamily="50" charset="-128"/>
              </a:rPr>
              <a:t>Four-Kicker</a:t>
            </a:r>
          </a:p>
          <a:p>
            <a:pPr algn="ctr"/>
            <a:r>
              <a:rPr lang="en-US" altLang="ja-JP" sz="1600" dirty="0">
                <a:solidFill>
                  <a:prstClr val="black"/>
                </a:solidFill>
                <a:latin typeface="ＭＳ Ｐゴシック" panose="020B0600070205080204" pitchFamily="50" charset="-128"/>
              </a:rPr>
              <a:t>Magnets</a:t>
            </a:r>
            <a:endParaRPr lang="ja-JP" altLang="en-US" sz="1000" dirty="0">
              <a:solidFill>
                <a:prstClr val="black"/>
              </a:solidFill>
              <a:latin typeface="ＭＳ Ｐゴシック" panose="020B0600070205080204" pitchFamily="50" charset="-128"/>
            </a:endParaRPr>
          </a:p>
        </p:txBody>
      </p:sp>
      <p:cxnSp>
        <p:nvCxnSpPr>
          <p:cNvPr id="28" name="直線コネクタ 27"/>
          <p:cNvCxnSpPr>
            <a:stCxn id="25" idx="1"/>
            <a:endCxn id="42" idx="3"/>
          </p:cNvCxnSpPr>
          <p:nvPr/>
        </p:nvCxnSpPr>
        <p:spPr>
          <a:xfrm flipH="1">
            <a:off x="3966339" y="4151744"/>
            <a:ext cx="518792" cy="15302"/>
          </a:xfrm>
          <a:prstGeom prst="line">
            <a:avLst/>
          </a:prstGeom>
          <a:ln>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598790" y="5486621"/>
            <a:ext cx="184433" cy="112814"/>
          </a:xfrm>
          <a:prstGeom prst="rect">
            <a:avLst/>
          </a:prstGeom>
          <a:solidFill>
            <a:srgbClr val="0070C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19" name="正方形/長方形 18"/>
          <p:cNvSpPr/>
          <p:nvPr/>
        </p:nvSpPr>
        <p:spPr>
          <a:xfrm>
            <a:off x="587858" y="5742936"/>
            <a:ext cx="184433" cy="112814"/>
          </a:xfrm>
          <a:prstGeom prst="rect">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20" name="正方形/長方形 19"/>
          <p:cNvSpPr/>
          <p:nvPr/>
        </p:nvSpPr>
        <p:spPr>
          <a:xfrm>
            <a:off x="595335" y="5999252"/>
            <a:ext cx="184433" cy="112814"/>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21" name="テキスト ボックス 20"/>
          <p:cNvSpPr txBox="1"/>
          <p:nvPr/>
        </p:nvSpPr>
        <p:spPr>
          <a:xfrm>
            <a:off x="785923" y="5423454"/>
            <a:ext cx="936000" cy="256311"/>
          </a:xfrm>
          <a:prstGeom prst="rect">
            <a:avLst/>
          </a:prstGeom>
          <a:noFill/>
          <a:ln>
            <a:noFill/>
          </a:ln>
        </p:spPr>
        <p:txBody>
          <a:bodyPr wrap="square" rtlCol="0" anchor="ctr">
            <a:spAutoFit/>
          </a:bodyPr>
          <a:lstStyle/>
          <a:p>
            <a:r>
              <a:rPr lang="en-US" altLang="ja-JP" sz="1200" dirty="0">
                <a:solidFill>
                  <a:prstClr val="black"/>
                </a:solidFill>
                <a:latin typeface="ＭＳ Ｐゴシック" panose="020B0600070205080204" pitchFamily="50" charset="-128"/>
              </a:rPr>
              <a:t>Dipole </a:t>
            </a:r>
            <a:endParaRPr lang="ja-JP" altLang="en-US" sz="800" dirty="0">
              <a:solidFill>
                <a:prstClr val="black"/>
              </a:solidFill>
              <a:latin typeface="ＭＳ Ｐゴシック" panose="020B0600070205080204" pitchFamily="50" charset="-128"/>
            </a:endParaRPr>
          </a:p>
        </p:txBody>
      </p:sp>
      <p:sp>
        <p:nvSpPr>
          <p:cNvPr id="22" name="テキスト ボックス 21"/>
          <p:cNvSpPr txBox="1"/>
          <p:nvPr/>
        </p:nvSpPr>
        <p:spPr>
          <a:xfrm>
            <a:off x="785923" y="5659809"/>
            <a:ext cx="972000" cy="256311"/>
          </a:xfrm>
          <a:prstGeom prst="rect">
            <a:avLst/>
          </a:prstGeom>
          <a:noFill/>
          <a:ln>
            <a:noFill/>
          </a:ln>
        </p:spPr>
        <p:txBody>
          <a:bodyPr wrap="square" rtlCol="0" anchor="ctr">
            <a:spAutoFit/>
          </a:bodyPr>
          <a:lstStyle/>
          <a:p>
            <a:r>
              <a:rPr lang="en-US" altLang="ja-JP" sz="1200" dirty="0">
                <a:solidFill>
                  <a:prstClr val="black"/>
                </a:solidFill>
                <a:latin typeface="ＭＳ Ｐゴシック" panose="020B0600070205080204" pitchFamily="50" charset="-128"/>
              </a:rPr>
              <a:t>Quadrupole</a:t>
            </a:r>
            <a:endParaRPr lang="ja-JP" altLang="en-US" sz="800" dirty="0">
              <a:solidFill>
                <a:prstClr val="black"/>
              </a:solidFill>
              <a:latin typeface="ＭＳ Ｐゴシック" panose="020B0600070205080204" pitchFamily="50" charset="-128"/>
            </a:endParaRPr>
          </a:p>
        </p:txBody>
      </p:sp>
      <p:sp>
        <p:nvSpPr>
          <p:cNvPr id="23" name="テキスト ボックス 22"/>
          <p:cNvSpPr txBox="1"/>
          <p:nvPr/>
        </p:nvSpPr>
        <p:spPr>
          <a:xfrm>
            <a:off x="785923" y="5896163"/>
            <a:ext cx="888771" cy="256311"/>
          </a:xfrm>
          <a:prstGeom prst="rect">
            <a:avLst/>
          </a:prstGeom>
          <a:noFill/>
          <a:ln>
            <a:noFill/>
          </a:ln>
        </p:spPr>
        <p:txBody>
          <a:bodyPr wrap="square" rtlCol="0" anchor="ctr">
            <a:spAutoFit/>
          </a:bodyPr>
          <a:lstStyle/>
          <a:p>
            <a:r>
              <a:rPr lang="en-US" altLang="ja-JP" sz="1200" dirty="0">
                <a:solidFill>
                  <a:prstClr val="black"/>
                </a:solidFill>
                <a:latin typeface="ＭＳ Ｐゴシック" panose="020B0600070205080204" pitchFamily="50" charset="-128"/>
              </a:rPr>
              <a:t>Sextupole</a:t>
            </a:r>
            <a:endParaRPr lang="ja-JP" altLang="en-US" sz="800" dirty="0">
              <a:solidFill>
                <a:prstClr val="black"/>
              </a:solidFill>
              <a:latin typeface="ＭＳ Ｐゴシック" panose="020B0600070205080204" pitchFamily="50" charset="-128"/>
            </a:endParaRPr>
          </a:p>
        </p:txBody>
      </p:sp>
      <p:sp>
        <p:nvSpPr>
          <p:cNvPr id="60" name="テキスト ボックス 59"/>
          <p:cNvSpPr txBox="1"/>
          <p:nvPr/>
        </p:nvSpPr>
        <p:spPr>
          <a:xfrm>
            <a:off x="816571" y="6287295"/>
            <a:ext cx="3595814" cy="369332"/>
          </a:xfrm>
          <a:prstGeom prst="rect">
            <a:avLst/>
          </a:prstGeom>
          <a:noFill/>
        </p:spPr>
        <p:txBody>
          <a:bodyPr wrap="square" rtlCol="0">
            <a:spAutoFit/>
          </a:bodyPr>
          <a:lstStyle/>
          <a:p>
            <a:pPr algn="ctr"/>
            <a:r>
              <a:rPr kumimoji="1" lang="ja-JP" altLang="en-US" dirty="0"/>
              <a:t>ビームベース測定の構成</a:t>
            </a:r>
          </a:p>
        </p:txBody>
      </p:sp>
      <p:cxnSp>
        <p:nvCxnSpPr>
          <p:cNvPr id="56" name="直線矢印コネクタ 55"/>
          <p:cNvCxnSpPr/>
          <p:nvPr/>
        </p:nvCxnSpPr>
        <p:spPr>
          <a:xfrm flipH="1">
            <a:off x="167586" y="3505622"/>
            <a:ext cx="19349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a:stCxn id="25" idx="1"/>
            <a:endCxn id="43" idx="3"/>
          </p:cNvCxnSpPr>
          <p:nvPr/>
        </p:nvCxnSpPr>
        <p:spPr>
          <a:xfrm flipH="1">
            <a:off x="4165954" y="4151744"/>
            <a:ext cx="319177" cy="128973"/>
          </a:xfrm>
          <a:prstGeom prst="line">
            <a:avLst/>
          </a:prstGeom>
          <a:ln>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5941037" y="3328576"/>
            <a:ext cx="2833980" cy="338554"/>
          </a:xfrm>
          <a:prstGeom prst="rect">
            <a:avLst/>
          </a:prstGeom>
          <a:noFill/>
        </p:spPr>
        <p:txBody>
          <a:bodyPr wrap="square" rtlCol="0">
            <a:spAutoFit/>
          </a:bodyPr>
          <a:lstStyle/>
          <a:p>
            <a:pPr algn="ctr"/>
            <a:r>
              <a:rPr lang="ja-JP" altLang="en-US" sz="1600" dirty="0"/>
              <a:t>セプタム電磁石の蹴り角</a:t>
            </a:r>
            <a:endParaRPr kumimoji="1" lang="ja-JP" altLang="en-US" sz="1600" dirty="0"/>
          </a:p>
        </p:txBody>
      </p:sp>
      <p:sp>
        <p:nvSpPr>
          <p:cNvPr id="59" name="テキスト ボックス 58"/>
          <p:cNvSpPr txBox="1"/>
          <p:nvPr/>
        </p:nvSpPr>
        <p:spPr>
          <a:xfrm>
            <a:off x="5560120" y="5020071"/>
            <a:ext cx="3595814" cy="338554"/>
          </a:xfrm>
          <a:prstGeom prst="rect">
            <a:avLst/>
          </a:prstGeom>
          <a:noFill/>
        </p:spPr>
        <p:txBody>
          <a:bodyPr wrap="square" rtlCol="0">
            <a:spAutoFit/>
          </a:bodyPr>
          <a:lstStyle/>
          <a:p>
            <a:pPr algn="ctr"/>
            <a:r>
              <a:rPr kumimoji="1" lang="en-US" altLang="ja-JP" sz="1600" dirty="0"/>
              <a:t>Twiss parameters and Phase advanced</a:t>
            </a:r>
            <a:endParaRPr kumimoji="1" lang="ja-JP" altLang="en-US" sz="1600" dirty="0"/>
          </a:p>
        </p:txBody>
      </p:sp>
      <p:sp>
        <p:nvSpPr>
          <p:cNvPr id="62" name="フリーフォーム 61"/>
          <p:cNvSpPr/>
          <p:nvPr/>
        </p:nvSpPr>
        <p:spPr>
          <a:xfrm>
            <a:off x="899641" y="2862230"/>
            <a:ext cx="3128962" cy="1082040"/>
          </a:xfrm>
          <a:custGeom>
            <a:avLst/>
            <a:gdLst>
              <a:gd name="connsiteX0" fmla="*/ 0 w 3291840"/>
              <a:gd name="connsiteY0" fmla="*/ 0 h 1066800"/>
              <a:gd name="connsiteX1" fmla="*/ 807720 w 3291840"/>
              <a:gd name="connsiteY1" fmla="*/ 15240 h 1066800"/>
              <a:gd name="connsiteX2" fmla="*/ 1280160 w 3291840"/>
              <a:gd name="connsiteY2" fmla="*/ 91440 h 1066800"/>
              <a:gd name="connsiteX3" fmla="*/ 1783080 w 3291840"/>
              <a:gd name="connsiteY3" fmla="*/ 259080 h 1066800"/>
              <a:gd name="connsiteX4" fmla="*/ 2240280 w 3291840"/>
              <a:gd name="connsiteY4" fmla="*/ 457200 h 1066800"/>
              <a:gd name="connsiteX5" fmla="*/ 2651760 w 3291840"/>
              <a:gd name="connsiteY5" fmla="*/ 655320 h 1066800"/>
              <a:gd name="connsiteX6" fmla="*/ 3032760 w 3291840"/>
              <a:gd name="connsiteY6" fmla="*/ 853440 h 1066800"/>
              <a:gd name="connsiteX7" fmla="*/ 3291840 w 3291840"/>
              <a:gd name="connsiteY7" fmla="*/ 1066800 h 1066800"/>
              <a:gd name="connsiteX0" fmla="*/ 0 w 3368040"/>
              <a:gd name="connsiteY0" fmla="*/ 0 h 1082040"/>
              <a:gd name="connsiteX1" fmla="*/ 807720 w 3368040"/>
              <a:gd name="connsiteY1" fmla="*/ 15240 h 1082040"/>
              <a:gd name="connsiteX2" fmla="*/ 1280160 w 3368040"/>
              <a:gd name="connsiteY2" fmla="*/ 91440 h 1082040"/>
              <a:gd name="connsiteX3" fmla="*/ 1783080 w 3368040"/>
              <a:gd name="connsiteY3" fmla="*/ 259080 h 1082040"/>
              <a:gd name="connsiteX4" fmla="*/ 2240280 w 3368040"/>
              <a:gd name="connsiteY4" fmla="*/ 457200 h 1082040"/>
              <a:gd name="connsiteX5" fmla="*/ 2651760 w 3368040"/>
              <a:gd name="connsiteY5" fmla="*/ 655320 h 1082040"/>
              <a:gd name="connsiteX6" fmla="*/ 3032760 w 3368040"/>
              <a:gd name="connsiteY6" fmla="*/ 853440 h 1082040"/>
              <a:gd name="connsiteX7" fmla="*/ 3368040 w 3368040"/>
              <a:gd name="connsiteY7" fmla="*/ 1082040 h 108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8040" h="1082040">
                <a:moveTo>
                  <a:pt x="0" y="0"/>
                </a:moveTo>
                <a:cubicBezTo>
                  <a:pt x="297180" y="0"/>
                  <a:pt x="594360" y="0"/>
                  <a:pt x="807720" y="15240"/>
                </a:cubicBezTo>
                <a:cubicBezTo>
                  <a:pt x="1021080" y="30480"/>
                  <a:pt x="1117600" y="50800"/>
                  <a:pt x="1280160" y="91440"/>
                </a:cubicBezTo>
                <a:cubicBezTo>
                  <a:pt x="1442720" y="132080"/>
                  <a:pt x="1623060" y="198120"/>
                  <a:pt x="1783080" y="259080"/>
                </a:cubicBezTo>
                <a:cubicBezTo>
                  <a:pt x="1943100" y="320040"/>
                  <a:pt x="2095500" y="391160"/>
                  <a:pt x="2240280" y="457200"/>
                </a:cubicBezTo>
                <a:cubicBezTo>
                  <a:pt x="2385060" y="523240"/>
                  <a:pt x="2519680" y="589280"/>
                  <a:pt x="2651760" y="655320"/>
                </a:cubicBezTo>
                <a:cubicBezTo>
                  <a:pt x="2783840" y="721360"/>
                  <a:pt x="2913380" y="782320"/>
                  <a:pt x="3032760" y="853440"/>
                </a:cubicBezTo>
                <a:cubicBezTo>
                  <a:pt x="3152140" y="924560"/>
                  <a:pt x="3291840" y="1009650"/>
                  <a:pt x="3368040" y="1082040"/>
                </a:cubicBezTo>
              </a:path>
            </a:pathLst>
          </a:custGeom>
          <a:noFill/>
          <a:ln w="31750">
            <a:headEnd type="ova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p:cNvSpPr txBox="1"/>
          <p:nvPr/>
        </p:nvSpPr>
        <p:spPr>
          <a:xfrm>
            <a:off x="2432470" y="2678788"/>
            <a:ext cx="1492293" cy="646331"/>
          </a:xfrm>
          <a:prstGeom prst="rect">
            <a:avLst/>
          </a:prstGeom>
          <a:noFill/>
          <a:ln>
            <a:noFill/>
          </a:ln>
        </p:spPr>
        <p:txBody>
          <a:bodyPr wrap="square" rtlCol="0">
            <a:spAutoFit/>
          </a:bodyPr>
          <a:lstStyle/>
          <a:p>
            <a:pPr algn="ctr"/>
            <a:r>
              <a:rPr lang="en-US" altLang="ja-JP" dirty="0">
                <a:latin typeface="+mj-ea"/>
                <a:ea typeface="+mj-ea"/>
              </a:rPr>
              <a:t>Transfer matrix</a:t>
            </a:r>
            <a:endParaRPr kumimoji="1" lang="ja-JP" altLang="en-US" sz="1050" dirty="0">
              <a:latin typeface="+mj-ea"/>
              <a:ea typeface="+mj-ea"/>
            </a:endParaRPr>
          </a:p>
        </p:txBody>
      </p:sp>
      <p:sp>
        <p:nvSpPr>
          <p:cNvPr id="53" name="テキスト ボックス 52"/>
          <p:cNvSpPr txBox="1"/>
          <p:nvPr/>
        </p:nvSpPr>
        <p:spPr>
          <a:xfrm>
            <a:off x="4736759" y="4776292"/>
            <a:ext cx="789430" cy="530915"/>
          </a:xfrm>
          <a:prstGeom prst="rect">
            <a:avLst/>
          </a:prstGeom>
          <a:noFill/>
          <a:ln>
            <a:noFill/>
          </a:ln>
        </p:spPr>
        <p:txBody>
          <a:bodyPr wrap="square" rtlCol="0">
            <a:spAutoFit/>
          </a:bodyPr>
          <a:lstStyle/>
          <a:p>
            <a:r>
              <a:rPr lang="en-US" altLang="ja-JP" sz="1400" dirty="0">
                <a:latin typeface="+mj-ea"/>
                <a:ea typeface="+mj-ea"/>
              </a:rPr>
              <a:t>From</a:t>
            </a:r>
          </a:p>
          <a:p>
            <a:r>
              <a:rPr kumimoji="1" lang="en-US" altLang="ja-JP" sz="1400" dirty="0">
                <a:latin typeface="+mj-ea"/>
                <a:ea typeface="+mj-ea"/>
              </a:rPr>
              <a:t>Injector</a:t>
            </a:r>
            <a:endParaRPr kumimoji="1" lang="ja-JP" altLang="en-US" sz="1400" dirty="0">
              <a:latin typeface="+mj-ea"/>
              <a:ea typeface="+mj-ea"/>
            </a:endParaRPr>
          </a:p>
        </p:txBody>
      </p:sp>
      <p:cxnSp>
        <p:nvCxnSpPr>
          <p:cNvPr id="8" name="直線矢印コネクタ 7"/>
          <p:cNvCxnSpPr/>
          <p:nvPr/>
        </p:nvCxnSpPr>
        <p:spPr>
          <a:xfrm flipH="1" flipV="1">
            <a:off x="4494184" y="4916233"/>
            <a:ext cx="216000" cy="10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 xmlns:a16="http://schemas.microsoft.com/office/drawing/2014/main" id="{57047FD0-DD15-4C95-B441-AA098758EABD}"/>
              </a:ext>
            </a:extLst>
          </p:cNvPr>
          <p:cNvCxnSpPr/>
          <p:nvPr/>
        </p:nvCxnSpPr>
        <p:spPr>
          <a:xfrm flipH="1">
            <a:off x="326631" y="4007104"/>
            <a:ext cx="95384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 xmlns:a16="http://schemas.microsoft.com/office/drawing/2014/main" id="{AAEC10A4-9AC0-4658-87D5-0D32005E0AB9}"/>
              </a:ext>
            </a:extLst>
          </p:cNvPr>
          <p:cNvSpPr txBox="1"/>
          <p:nvPr/>
        </p:nvSpPr>
        <p:spPr>
          <a:xfrm>
            <a:off x="472892" y="3739846"/>
            <a:ext cx="789430" cy="307777"/>
          </a:xfrm>
          <a:prstGeom prst="rect">
            <a:avLst/>
          </a:prstGeom>
          <a:noFill/>
          <a:ln>
            <a:noFill/>
          </a:ln>
        </p:spPr>
        <p:txBody>
          <a:bodyPr wrap="square" rtlCol="0">
            <a:spAutoFit/>
          </a:bodyPr>
          <a:lstStyle/>
          <a:p>
            <a:r>
              <a:rPr lang="en-US" altLang="ja-JP" sz="1400" dirty="0">
                <a:latin typeface="+mj-ea"/>
                <a:ea typeface="+mj-ea"/>
              </a:rPr>
              <a:t>8.83 m</a:t>
            </a:r>
            <a:endParaRPr kumimoji="1" lang="ja-JP" altLang="en-US" sz="1400" dirty="0">
              <a:latin typeface="+mj-ea"/>
              <a:ea typeface="+mj-ea"/>
            </a:endParaRPr>
          </a:p>
        </p:txBody>
      </p:sp>
      <p:sp>
        <p:nvSpPr>
          <p:cNvPr id="3" name="スライド番号プレースホルダー 2"/>
          <p:cNvSpPr>
            <a:spLocks noGrp="1"/>
          </p:cNvSpPr>
          <p:nvPr>
            <p:ph type="sldNum" sz="quarter" idx="12"/>
          </p:nvPr>
        </p:nvSpPr>
        <p:spPr/>
        <p:txBody>
          <a:bodyPr/>
          <a:lstStyle/>
          <a:p>
            <a:fld id="{26B42C4F-1ABF-421A-9D5F-F691A5F6974A}" type="slidenum">
              <a:rPr kumimoji="1" lang="ja-JP" altLang="en-US" smtClean="0"/>
              <a:t>5</a:t>
            </a:fld>
            <a:endParaRPr kumimoji="1" lang="ja-JP" altLang="en-US"/>
          </a:p>
        </p:txBody>
      </p:sp>
    </p:spTree>
    <p:extLst>
      <p:ext uri="{BB962C8B-B14F-4D97-AF65-F5344CB8AC3E}">
        <p14:creationId xmlns:p14="http://schemas.microsoft.com/office/powerpoint/2010/main" val="1094837294"/>
      </p:ext>
    </p:extLst>
  </p:cSld>
  <p:clrMapOvr>
    <a:masterClrMapping/>
  </p:clrMapOvr>
  <mc:AlternateContent xmlns:mc="http://schemas.openxmlformats.org/markup-compatibility/2006" xmlns:p14="http://schemas.microsoft.com/office/powerpoint/2010/main">
    <mc:Choice Requires="p14">
      <p:transition spd="slow" p14:dur="2000" advTm="129"/>
    </mc:Choice>
    <mc:Fallback xmlns="">
      <p:transition spd="slow" advTm="12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0" y="0"/>
            <a:ext cx="5588000" cy="646331"/>
          </a:xfrm>
          <a:prstGeom prst="rect">
            <a:avLst/>
          </a:prstGeom>
          <a:noFill/>
        </p:spPr>
        <p:txBody>
          <a:bodyPr wrap="square" rtlCol="0" anchor="ctr">
            <a:spAutoFit/>
          </a:bodyPr>
          <a:lstStyle/>
          <a:p>
            <a:r>
              <a:rPr lang="en-US" altLang="ja-JP" sz="3600" dirty="0">
                <a:solidFill>
                  <a:schemeClr val="accent1">
                    <a:lumMod val="75000"/>
                  </a:schemeClr>
                </a:solidFill>
              </a:rPr>
              <a:t>2-2</a:t>
            </a:r>
            <a:r>
              <a:rPr lang="ja-JP" altLang="en-US" sz="3600" dirty="0">
                <a:solidFill>
                  <a:schemeClr val="accent1">
                    <a:lumMod val="75000"/>
                  </a:schemeClr>
                </a:solidFill>
              </a:rPr>
              <a:t>　入射ビームの測定</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0" y="728180"/>
            <a:ext cx="4817344" cy="523220"/>
          </a:xfrm>
          <a:prstGeom prst="rect">
            <a:avLst/>
          </a:prstGeom>
        </p:spPr>
        <p:txBody>
          <a:bodyPr wrap="none">
            <a:spAutoFit/>
          </a:bodyPr>
          <a:lstStyle/>
          <a:p>
            <a:r>
              <a:rPr lang="ja-JP" altLang="en-US" sz="2800" dirty="0"/>
              <a:t>位置情報の導出（入射ビーム）</a:t>
            </a:r>
            <a:endParaRPr lang="en-US" altLang="ja-JP" sz="2800" dirty="0"/>
          </a:p>
        </p:txBody>
      </p:sp>
      <p:grpSp>
        <p:nvGrpSpPr>
          <p:cNvPr id="11" name="グループ化 10"/>
          <p:cNvGrpSpPr/>
          <p:nvPr/>
        </p:nvGrpSpPr>
        <p:grpSpPr>
          <a:xfrm>
            <a:off x="730250" y="4027718"/>
            <a:ext cx="7683500" cy="2765291"/>
            <a:chOff x="495300" y="3924486"/>
            <a:chExt cx="7683500" cy="2765291"/>
          </a:xfrm>
        </p:grpSpPr>
        <p:sp>
          <p:nvSpPr>
            <p:cNvPr id="9" name="正方形/長方形 8"/>
            <p:cNvSpPr/>
            <p:nvPr/>
          </p:nvSpPr>
          <p:spPr>
            <a:xfrm>
              <a:off x="495300" y="3924486"/>
              <a:ext cx="7683500" cy="276529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p:cNvGrpSpPr/>
            <p:nvPr/>
          </p:nvGrpSpPr>
          <p:grpSpPr>
            <a:xfrm>
              <a:off x="707552" y="4094765"/>
              <a:ext cx="3089748" cy="2594826"/>
              <a:chOff x="310080" y="4000342"/>
              <a:chExt cx="3089748" cy="2594826"/>
            </a:xfrm>
          </p:grpSpPr>
          <p:pic>
            <p:nvPicPr>
              <p:cNvPr id="40" name="図 3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080" y="4000342"/>
                <a:ext cx="3089748" cy="2225494"/>
              </a:xfrm>
              <a:prstGeom prst="rect">
                <a:avLst/>
              </a:prstGeom>
              <a:noFill/>
              <a:ln>
                <a:noFill/>
              </a:ln>
            </p:spPr>
          </p:pic>
          <p:sp>
            <p:nvSpPr>
              <p:cNvPr id="12" name="テキスト ボックス 11"/>
              <p:cNvSpPr txBox="1"/>
              <p:nvPr/>
            </p:nvSpPr>
            <p:spPr>
              <a:xfrm>
                <a:off x="418228" y="6225836"/>
                <a:ext cx="2880000" cy="369332"/>
              </a:xfrm>
              <a:prstGeom prst="rect">
                <a:avLst/>
              </a:prstGeom>
              <a:noFill/>
            </p:spPr>
            <p:txBody>
              <a:bodyPr wrap="square" rtlCol="0">
                <a:spAutoFit/>
              </a:bodyPr>
              <a:lstStyle/>
              <a:p>
                <a:pPr algn="ctr"/>
                <a:r>
                  <a:rPr kumimoji="1" lang="en-US" altLang="ja-JP" dirty="0"/>
                  <a:t>BPM</a:t>
                </a:r>
                <a:r>
                  <a:rPr kumimoji="1" lang="ja-JP" altLang="en-US" dirty="0"/>
                  <a:t>ダクトの断面図</a:t>
                </a:r>
              </a:p>
            </p:txBody>
          </p:sp>
        </p:grpSp>
        <mc:AlternateContent xmlns:mc="http://schemas.openxmlformats.org/markup-compatibility/2006" xmlns:a14="http://schemas.microsoft.com/office/drawing/2010/main">
          <mc:Choice Requires="a14">
            <p:sp>
              <p:nvSpPr>
                <p:cNvPr id="16" name="テキスト ボックス 15"/>
                <p:cNvSpPr txBox="1"/>
                <p:nvPr/>
              </p:nvSpPr>
              <p:spPr>
                <a:xfrm>
                  <a:off x="4016100" y="4186726"/>
                  <a:ext cx="3852000" cy="2318199"/>
                </a:xfrm>
                <a:prstGeom prst="rect">
                  <a:avLst/>
                </a:prstGeom>
                <a:noFill/>
              </p:spPr>
              <p:txBody>
                <a:bodyPr wrap="square" rtlCol="0">
                  <a:spAutoFit/>
                </a:bodyPr>
                <a:lstStyle/>
                <a:p>
                  <a:pPr algn="just"/>
                  <a:r>
                    <a:rPr lang="ja-JP" altLang="en-US" u="sng" dirty="0"/>
                    <a:t>電極間距離</a:t>
                  </a:r>
                  <a:endParaRPr lang="en-US" altLang="ja-JP" u="sng" dirty="0"/>
                </a:p>
                <a:p>
                  <a:pPr algn="just"/>
                  <a:r>
                    <a:rPr lang="ja-JP" altLang="en-US" dirty="0"/>
                    <a:t>　</a:t>
                  </a:r>
                  <a:r>
                    <a:rPr lang="en-US" altLang="ja-JP" dirty="0"/>
                    <a:t>22 mm(H)×38mm(V)</a:t>
                  </a:r>
                </a:p>
                <a:p>
                  <a:pPr algn="just"/>
                  <a:endParaRPr lang="en-US" altLang="ja-JP" sz="1000" dirty="0"/>
                </a:p>
                <a:p>
                  <a:pPr algn="just"/>
                  <a:r>
                    <a:rPr lang="ja-JP" altLang="en-US" u="sng" dirty="0"/>
                    <a:t>三次多項式によるビーム位置の計算</a:t>
                  </a:r>
                  <a:endParaRPr lang="en-US" altLang="ja-JP" u="sng" dirty="0"/>
                </a:p>
                <a:p>
                  <a:pPr algn="just"/>
                  <a14:m>
                    <m:oMathPara xmlns:m="http://schemas.openxmlformats.org/officeDocument/2006/math">
                      <m:oMathParaPr>
                        <m:jc m:val="left"/>
                      </m:oMathParaPr>
                      <m:oMath xmlns:m="http://schemas.openxmlformats.org/officeDocument/2006/math">
                        <m:r>
                          <m:rPr>
                            <m:sty m:val="p"/>
                          </m:rPr>
                          <a:rPr lang="ja-JP" altLang="en-US">
                            <a:latin typeface="Cambria Math" panose="02040503050406030204" pitchFamily="18" charset="0"/>
                          </a:rPr>
                          <m:t>x</m:t>
                        </m:r>
                        <m:r>
                          <a:rPr lang="ja-JP" altLang="en-US">
                            <a:latin typeface="Cambria Math" panose="02040503050406030204" pitchFamily="18" charset="0"/>
                          </a:rPr>
                          <m:t>=</m:t>
                        </m:r>
                        <m:nary>
                          <m:naryPr>
                            <m:chr m:val="∑"/>
                            <m:limLoc m:val="undOvr"/>
                            <m:ctrlPr>
                              <a:rPr lang="ja-JP" altLang="en-US" i="1">
                                <a:latin typeface="Cambria Math" panose="02040503050406030204" pitchFamily="18" charset="0"/>
                              </a:rPr>
                            </m:ctrlPr>
                          </m:naryPr>
                          <m:sub>
                            <m:r>
                              <a:rPr lang="ja-JP" altLang="en-US" i="1">
                                <a:latin typeface="Cambria Math" panose="02040503050406030204" pitchFamily="18" charset="0"/>
                              </a:rPr>
                              <m:t>𝑖</m:t>
                            </m:r>
                            <m:r>
                              <a:rPr lang="ja-JP" altLang="en-US">
                                <a:latin typeface="Cambria Math" panose="02040503050406030204" pitchFamily="18" charset="0"/>
                              </a:rPr>
                              <m:t>=0</m:t>
                            </m:r>
                          </m:sub>
                          <m:sup>
                            <m:r>
                              <a:rPr lang="ja-JP" altLang="en-US">
                                <a:latin typeface="Cambria Math" panose="02040503050406030204" pitchFamily="18" charset="0"/>
                              </a:rPr>
                              <m:t>3</m:t>
                            </m:r>
                          </m:sup>
                          <m:e>
                            <m:nary>
                              <m:naryPr>
                                <m:chr m:val="∑"/>
                                <m:limLoc m:val="undOvr"/>
                                <m:ctrlPr>
                                  <a:rPr lang="ja-JP" altLang="en-US" i="1">
                                    <a:latin typeface="Cambria Math" panose="02040503050406030204" pitchFamily="18" charset="0"/>
                                  </a:rPr>
                                </m:ctrlPr>
                              </m:naryPr>
                              <m:sub>
                                <m:r>
                                  <a:rPr lang="ja-JP" altLang="en-US" i="1">
                                    <a:latin typeface="Cambria Math" panose="02040503050406030204" pitchFamily="18" charset="0"/>
                                  </a:rPr>
                                  <m:t>𝑗</m:t>
                                </m:r>
                                <m:r>
                                  <a:rPr lang="ja-JP" altLang="en-US">
                                    <a:latin typeface="Cambria Math" panose="02040503050406030204" pitchFamily="18" charset="0"/>
                                  </a:rPr>
                                  <m:t>=0</m:t>
                                </m:r>
                              </m:sub>
                              <m:sup>
                                <m:r>
                                  <a:rPr lang="ja-JP" altLang="en-US">
                                    <a:latin typeface="Cambria Math" panose="02040503050406030204" pitchFamily="18" charset="0"/>
                                  </a:rPr>
                                  <m:t>3</m:t>
                                </m:r>
                              </m:sup>
                              <m:e>
                                <m:sSub>
                                  <m:sSubPr>
                                    <m:ctrlPr>
                                      <a:rPr lang="ja-JP" altLang="en-US" i="1">
                                        <a:latin typeface="Cambria Math" panose="02040503050406030204" pitchFamily="18" charset="0"/>
                                      </a:rPr>
                                    </m:ctrlPr>
                                  </m:sSubPr>
                                  <m:e>
                                    <m:r>
                                      <a:rPr lang="ja-JP" altLang="en-US" i="1">
                                        <a:latin typeface="Cambria Math" panose="02040503050406030204" pitchFamily="18" charset="0"/>
                                      </a:rPr>
                                      <m:t>𝑘</m:t>
                                    </m:r>
                                  </m:e>
                                  <m:sub>
                                    <m:r>
                                      <a:rPr lang="ja-JP" altLang="en-US" i="1">
                                        <a:latin typeface="Cambria Math" panose="02040503050406030204" pitchFamily="18" charset="0"/>
                                      </a:rPr>
                                      <m:t>𝑥</m:t>
                                    </m:r>
                                  </m:sub>
                                </m:sSub>
                                <m:r>
                                  <a:rPr lang="ja-JP" altLang="en-US">
                                    <a:latin typeface="Cambria Math" panose="02040503050406030204" pitchFamily="18" charset="0"/>
                                  </a:rPr>
                                  <m:t>(</m:t>
                                </m:r>
                                <m:r>
                                  <a:rPr lang="ja-JP" altLang="en-US" i="1">
                                    <a:latin typeface="Cambria Math" panose="02040503050406030204" pitchFamily="18" charset="0"/>
                                  </a:rPr>
                                  <m:t>𝑖</m:t>
                                </m:r>
                                <m:r>
                                  <a:rPr lang="en-US" altLang="ja-JP" b="0" i="1" smtClean="0">
                                    <a:latin typeface="Cambria Math" panose="02040503050406030204" pitchFamily="18" charset="0"/>
                                  </a:rPr>
                                  <m:t>,</m:t>
                                </m:r>
                                <m:r>
                                  <a:rPr lang="ja-JP" altLang="en-US" i="1">
                                    <a:latin typeface="Cambria Math" panose="02040503050406030204" pitchFamily="18" charset="0"/>
                                  </a:rPr>
                                  <m:t>𝑗</m:t>
                                </m:r>
                                <m:r>
                                  <a:rPr lang="ja-JP" altLang="en-US">
                                    <a:latin typeface="Cambria Math" panose="02040503050406030204" pitchFamily="18" charset="0"/>
                                  </a:rPr>
                                  <m:t>)</m:t>
                                </m:r>
                                <m:sSup>
                                  <m:sSupPr>
                                    <m:ctrlPr>
                                      <a:rPr lang="ja-JP" altLang="en-US" i="1">
                                        <a:latin typeface="Cambria Math" panose="02040503050406030204" pitchFamily="18" charset="0"/>
                                      </a:rPr>
                                    </m:ctrlPr>
                                  </m:sSupPr>
                                  <m:e>
                                    <m:r>
                                      <a:rPr lang="ja-JP" altLang="en-US" i="1">
                                        <a:latin typeface="Cambria Math" panose="02040503050406030204" pitchFamily="18" charset="0"/>
                                      </a:rPr>
                                      <m:t>𝑈</m:t>
                                    </m:r>
                                  </m:e>
                                  <m:sup>
                                    <m:r>
                                      <a:rPr lang="ja-JP" altLang="en-US" i="1">
                                        <a:latin typeface="Cambria Math" panose="02040503050406030204" pitchFamily="18" charset="0"/>
                                      </a:rPr>
                                      <m:t>𝑖</m:t>
                                    </m:r>
                                  </m:sup>
                                </m:sSup>
                                <m:sSup>
                                  <m:sSupPr>
                                    <m:ctrlPr>
                                      <a:rPr lang="ja-JP" altLang="en-US" i="1">
                                        <a:latin typeface="Cambria Math" panose="02040503050406030204" pitchFamily="18" charset="0"/>
                                      </a:rPr>
                                    </m:ctrlPr>
                                  </m:sSupPr>
                                  <m:e>
                                    <m:r>
                                      <a:rPr lang="ja-JP" altLang="en-US" i="1">
                                        <a:latin typeface="Cambria Math" panose="02040503050406030204" pitchFamily="18" charset="0"/>
                                      </a:rPr>
                                      <m:t>𝑉</m:t>
                                    </m:r>
                                  </m:e>
                                  <m:sup>
                                    <m:r>
                                      <a:rPr lang="ja-JP" altLang="en-US" i="1">
                                        <a:latin typeface="Cambria Math" panose="02040503050406030204" pitchFamily="18" charset="0"/>
                                      </a:rPr>
                                      <m:t>𝑗</m:t>
                                    </m:r>
                                  </m:sup>
                                </m:sSup>
                              </m:e>
                            </m:nary>
                          </m:e>
                        </m:nary>
                      </m:oMath>
                    </m:oMathPara>
                  </a14:m>
                  <a:endParaRPr lang="en-US" altLang="ja-JP" dirty="0"/>
                </a:p>
                <a:p>
                  <a:pPr algn="just"/>
                  <a:endParaRPr lang="en-US" altLang="ja-JP" sz="1000" dirty="0"/>
                </a:p>
                <a:p>
                  <a:pPr algn="just"/>
                  <a:r>
                    <a:rPr lang="en-US" altLang="ja-JP" u="sng" dirty="0"/>
                    <a:t>Turn-by-Turn</a:t>
                  </a:r>
                  <a:r>
                    <a:rPr lang="ja-JP" altLang="en-US" u="sng" dirty="0"/>
                    <a:t>のデータ処理</a:t>
                  </a:r>
                  <a:endParaRPr lang="en-US" altLang="ja-JP" u="sng" dirty="0"/>
                </a:p>
              </p:txBody>
            </p:sp>
          </mc:Choice>
          <mc:Fallback xmlns="">
            <p:sp>
              <p:nvSpPr>
                <p:cNvPr id="16" name="テキスト ボックス 15"/>
                <p:cNvSpPr txBox="1">
                  <a:spLocks noRot="1" noChangeAspect="1" noMove="1" noResize="1" noEditPoints="1" noAdjustHandles="1" noChangeArrowheads="1" noChangeShapeType="1" noTextEdit="1"/>
                </p:cNvSpPr>
                <p:nvPr/>
              </p:nvSpPr>
              <p:spPr>
                <a:xfrm>
                  <a:off x="4016100" y="4186726"/>
                  <a:ext cx="3852000" cy="2318199"/>
                </a:xfrm>
                <a:prstGeom prst="rect">
                  <a:avLst/>
                </a:prstGeom>
                <a:blipFill rotWithShape="0">
                  <a:blip r:embed="rId4"/>
                  <a:stretch>
                    <a:fillRect l="-1266" t="-2368" b="-3421"/>
                  </a:stretch>
                </a:blipFill>
              </p:spPr>
              <p:txBody>
                <a:bodyPr/>
                <a:lstStyle/>
                <a:p>
                  <a:r>
                    <a:rPr lang="ja-JP" altLang="en-US">
                      <a:noFill/>
                    </a:rPr>
                    <a:t> </a:t>
                  </a:r>
                </a:p>
              </p:txBody>
            </p:sp>
          </mc:Fallback>
        </mc:AlternateContent>
      </p:grpSp>
      <p:sp>
        <p:nvSpPr>
          <p:cNvPr id="10" name="右矢印 9"/>
          <p:cNvSpPr/>
          <p:nvPr/>
        </p:nvSpPr>
        <p:spPr>
          <a:xfrm>
            <a:off x="4151905" y="2346995"/>
            <a:ext cx="616516" cy="4583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p:nvSpPr>
        <p:spPr>
          <a:xfrm>
            <a:off x="4155984" y="2074729"/>
            <a:ext cx="543739" cy="307777"/>
          </a:xfrm>
          <a:prstGeom prst="rect">
            <a:avLst/>
          </a:prstGeom>
        </p:spPr>
        <p:txBody>
          <a:bodyPr wrap="none">
            <a:spAutoFit/>
          </a:bodyPr>
          <a:lstStyle/>
          <a:p>
            <a:r>
              <a:rPr lang="ja-JP" altLang="en-US" sz="1400" dirty="0"/>
              <a:t>拡大</a:t>
            </a:r>
            <a:endParaRPr lang="en-US" altLang="ja-JP" sz="1400" dirty="0"/>
          </a:p>
        </p:txBody>
      </p:sp>
      <p:sp>
        <p:nvSpPr>
          <p:cNvPr id="42" name="正方形/長方形 41"/>
          <p:cNvSpPr/>
          <p:nvPr/>
        </p:nvSpPr>
        <p:spPr>
          <a:xfrm>
            <a:off x="6118632" y="842699"/>
            <a:ext cx="2574423" cy="738664"/>
          </a:xfrm>
          <a:prstGeom prst="rect">
            <a:avLst/>
          </a:prstGeom>
        </p:spPr>
        <p:txBody>
          <a:bodyPr wrap="none">
            <a:spAutoFit/>
          </a:bodyPr>
          <a:lstStyle/>
          <a:p>
            <a:r>
              <a:rPr lang="en-US" altLang="ja-JP" sz="1400" dirty="0"/>
              <a:t>1 Turn = 74 sample</a:t>
            </a:r>
          </a:p>
          <a:p>
            <a:r>
              <a:rPr lang="en-US" altLang="ja-JP" sz="1400" dirty="0"/>
              <a:t>Sampling clock = 112 MHz</a:t>
            </a:r>
          </a:p>
          <a:p>
            <a:r>
              <a:rPr lang="en-US" altLang="ja-JP" sz="1400" dirty="0"/>
              <a:t>Injected</a:t>
            </a:r>
            <a:r>
              <a:rPr lang="ja-JP" altLang="en-US" sz="1400" dirty="0"/>
              <a:t> </a:t>
            </a:r>
            <a:r>
              <a:rPr lang="en-US" altLang="ja-JP" sz="1400" dirty="0"/>
              <a:t>bunch = Typical 0.25 nC</a:t>
            </a:r>
          </a:p>
        </p:txBody>
      </p:sp>
      <p:pic>
        <p:nvPicPr>
          <p:cNvPr id="7" name="図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207" y="1505558"/>
            <a:ext cx="3780000" cy="2268001"/>
          </a:xfrm>
          <a:prstGeom prst="rect">
            <a:avLst/>
          </a:prstGeom>
        </p:spPr>
      </p:pic>
      <p:pic>
        <p:nvPicPr>
          <p:cNvPr id="13" name="図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3055" y="1532165"/>
            <a:ext cx="3780000" cy="2268000"/>
          </a:xfrm>
          <a:prstGeom prst="rect">
            <a:avLst/>
          </a:prstGeom>
        </p:spPr>
      </p:pic>
      <p:sp>
        <p:nvSpPr>
          <p:cNvPr id="25" name="正方形/長方形 24"/>
          <p:cNvSpPr/>
          <p:nvPr/>
        </p:nvSpPr>
        <p:spPr>
          <a:xfrm>
            <a:off x="5642188" y="1823201"/>
            <a:ext cx="1224858" cy="16189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矢印コネクタ 25"/>
          <p:cNvCxnSpPr/>
          <p:nvPr/>
        </p:nvCxnSpPr>
        <p:spPr>
          <a:xfrm>
            <a:off x="5647007" y="3298327"/>
            <a:ext cx="122485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p:cNvSpPr txBox="1"/>
          <p:nvPr/>
        </p:nvSpPr>
        <p:spPr>
          <a:xfrm>
            <a:off x="5532899" y="3013193"/>
            <a:ext cx="1453074" cy="276999"/>
          </a:xfrm>
          <a:prstGeom prst="rect">
            <a:avLst/>
          </a:prstGeom>
          <a:noFill/>
        </p:spPr>
        <p:txBody>
          <a:bodyPr wrap="square" rtlCol="0">
            <a:spAutoFit/>
          </a:bodyPr>
          <a:lstStyle/>
          <a:p>
            <a:pPr algn="ctr"/>
            <a:r>
              <a:rPr kumimoji="1" lang="en-US" altLang="ja-JP" sz="1200" dirty="0"/>
              <a:t>1 Turn</a:t>
            </a:r>
            <a:endParaRPr kumimoji="1" lang="ja-JP" altLang="en-US" sz="1200" dirty="0"/>
          </a:p>
        </p:txBody>
      </p:sp>
      <p:sp>
        <p:nvSpPr>
          <p:cNvPr id="14" name="スライド番号プレースホルダー 13"/>
          <p:cNvSpPr>
            <a:spLocks noGrp="1"/>
          </p:cNvSpPr>
          <p:nvPr>
            <p:ph type="sldNum" sz="quarter" idx="12"/>
          </p:nvPr>
        </p:nvSpPr>
        <p:spPr/>
        <p:txBody>
          <a:bodyPr/>
          <a:lstStyle/>
          <a:p>
            <a:fld id="{26B42C4F-1ABF-421A-9D5F-F691A5F6974A}" type="slidenum">
              <a:rPr kumimoji="1" lang="ja-JP" altLang="en-US" smtClean="0"/>
              <a:t>6</a:t>
            </a:fld>
            <a:endParaRPr kumimoji="1" lang="ja-JP" altLang="en-US"/>
          </a:p>
        </p:txBody>
      </p:sp>
    </p:spTree>
    <p:extLst>
      <p:ext uri="{BB962C8B-B14F-4D97-AF65-F5344CB8AC3E}">
        <p14:creationId xmlns:p14="http://schemas.microsoft.com/office/powerpoint/2010/main" val="620812911"/>
      </p:ext>
    </p:extLst>
  </p:cSld>
  <p:clrMapOvr>
    <a:masterClrMapping/>
  </p:clrMapOvr>
  <mc:AlternateContent xmlns:mc="http://schemas.openxmlformats.org/markup-compatibility/2006" xmlns:p14="http://schemas.microsoft.com/office/powerpoint/2010/main">
    <mc:Choice Requires="p14">
      <p:transition spd="slow" p14:dur="2000" advTm="62514"/>
    </mc:Choice>
    <mc:Fallback xmlns="">
      <p:transition spd="slow" advTm="6251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正方形/長方形 22"/>
          <p:cNvSpPr/>
          <p:nvPr/>
        </p:nvSpPr>
        <p:spPr>
          <a:xfrm>
            <a:off x="4748451" y="2222801"/>
            <a:ext cx="4176000" cy="309962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0" y="0"/>
            <a:ext cx="5364000" cy="646331"/>
          </a:xfrm>
          <a:prstGeom prst="rect">
            <a:avLst/>
          </a:prstGeom>
          <a:noFill/>
        </p:spPr>
        <p:txBody>
          <a:bodyPr wrap="square" rtlCol="0" anchor="ctr">
            <a:spAutoFit/>
          </a:bodyPr>
          <a:lstStyle/>
          <a:p>
            <a:r>
              <a:rPr lang="en-US" altLang="ja-JP" sz="3600" dirty="0">
                <a:solidFill>
                  <a:schemeClr val="accent1">
                    <a:lumMod val="75000"/>
                  </a:schemeClr>
                </a:solidFill>
              </a:rPr>
              <a:t>2-2</a:t>
            </a:r>
            <a:r>
              <a:rPr lang="ja-JP" altLang="en-US" sz="3600" dirty="0">
                <a:solidFill>
                  <a:schemeClr val="accent1">
                    <a:lumMod val="75000"/>
                  </a:schemeClr>
                </a:solidFill>
              </a:rPr>
              <a:t>　入射ビームの測定</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0" y="729537"/>
            <a:ext cx="2698175" cy="523220"/>
          </a:xfrm>
          <a:prstGeom prst="rect">
            <a:avLst/>
          </a:prstGeom>
        </p:spPr>
        <p:txBody>
          <a:bodyPr wrap="none">
            <a:spAutoFit/>
          </a:bodyPr>
          <a:lstStyle/>
          <a:p>
            <a:r>
              <a:rPr lang="ja-JP" altLang="en-US" sz="2800" dirty="0"/>
              <a:t>位置情報の導出</a:t>
            </a:r>
            <a:endParaRPr lang="en-US" altLang="ja-JP" sz="2800" dirty="0"/>
          </a:p>
        </p:txBody>
      </p:sp>
      <mc:AlternateContent xmlns:mc="http://schemas.openxmlformats.org/markup-compatibility/2006" xmlns:a14="http://schemas.microsoft.com/office/drawing/2010/main">
        <mc:Choice Requires="a14">
          <p:sp>
            <p:nvSpPr>
              <p:cNvPr id="18" name="テキスト ボックス 17"/>
              <p:cNvSpPr txBox="1"/>
              <p:nvPr/>
            </p:nvSpPr>
            <p:spPr>
              <a:xfrm>
                <a:off x="4773505" y="2539966"/>
                <a:ext cx="3961422" cy="2742289"/>
              </a:xfrm>
              <a:prstGeom prst="rect">
                <a:avLst/>
              </a:prstGeom>
              <a:noFill/>
            </p:spPr>
            <p:txBody>
              <a:bodyPr wrap="square" rtlCol="0">
                <a:spAutoFit/>
              </a:bodyPr>
              <a:lstStyle/>
              <a:p>
                <a:r>
                  <a:rPr lang="en-US" altLang="ja-JP" u="sng" dirty="0"/>
                  <a:t>X</a:t>
                </a:r>
                <a:r>
                  <a:rPr lang="ja-JP" altLang="en-US" u="sng" dirty="0" err="1"/>
                  <a:t>、</a:t>
                </a:r>
                <a:r>
                  <a:rPr lang="en-US" altLang="ja-JP" u="sng" dirty="0"/>
                  <a:t>Y</a:t>
                </a:r>
                <a:r>
                  <a:rPr lang="ja-JP" altLang="en-US" u="sng" dirty="0"/>
                  <a:t>の位置データ</a:t>
                </a:r>
                <a:endParaRPr lang="en-US" altLang="ja-JP" u="sng" dirty="0"/>
              </a:p>
              <a:p>
                <a:pPr algn="ctr"/>
                <a:r>
                  <a:rPr lang="ja-JP" altLang="en-US" b="1" dirty="0"/>
                  <a:t>↓</a:t>
                </a:r>
                <a:endParaRPr lang="en-US" altLang="ja-JP" b="1" dirty="0"/>
              </a:p>
              <a:p>
                <a:r>
                  <a:rPr lang="ja-JP" altLang="en-US" u="sng" dirty="0"/>
                  <a:t>直線部中心の位相空間情報に計算</a:t>
                </a:r>
                <a:endParaRPr lang="en-US" altLang="ja-JP" u="sng" dirty="0"/>
              </a:p>
              <a:p>
                <a:pPr algn="ctr"/>
                <a14:m>
                  <m:oMathPara xmlns:m="http://schemas.openxmlformats.org/officeDocument/2006/math">
                    <m:oMathParaPr>
                      <m:jc m:val="centerGroup"/>
                    </m:oMathParaPr>
                    <m:oMath xmlns:m="http://schemas.openxmlformats.org/officeDocument/2006/math">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𝑥</m:t>
                          </m:r>
                        </m:e>
                        <m:sub>
                          <m:r>
                            <a:rPr lang="en-US" altLang="ja-JP" b="0" i="1" smtClean="0">
                              <a:latin typeface="Cambria Math" panose="02040503050406030204" pitchFamily="18" charset="0"/>
                            </a:rPr>
                            <m:t>𝐼𝐷</m:t>
                          </m:r>
                          <m:r>
                            <a:rPr lang="en-US" altLang="ja-JP" b="0" i="1" smtClean="0">
                              <a:latin typeface="Cambria Math" panose="02040503050406030204" pitchFamily="18" charset="0"/>
                            </a:rPr>
                            <m:t>02</m:t>
                          </m:r>
                        </m:sub>
                      </m:sSub>
                      <m:r>
                        <a:rPr lang="en-US" altLang="ja-JP" i="1">
                          <a:latin typeface="Cambria Math" panose="02040503050406030204" pitchFamily="18" charset="0"/>
                        </a:rPr>
                        <m:t>=</m:t>
                      </m:r>
                      <m:f>
                        <m:fPr>
                          <m:ctrlPr>
                            <a:rPr lang="ja-JP" altLang="ja-JP" i="1">
                              <a:latin typeface="Cambria Math" panose="02040503050406030204" pitchFamily="18" charset="0"/>
                            </a:rPr>
                          </m:ctrlPr>
                        </m:fPr>
                        <m:num>
                          <m:sSub>
                            <m:sSubPr>
                              <m:ctrlPr>
                                <a:rPr lang="ja-JP"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2</m:t>
                              </m:r>
                            </m:sub>
                          </m:sSub>
                          <m:r>
                            <a:rPr lang="en-US" altLang="ja-JP" i="1">
                              <a:latin typeface="Cambria Math" panose="02040503050406030204" pitchFamily="18" charset="0"/>
                            </a:rPr>
                            <m:t>+</m:t>
                          </m:r>
                          <m:sSub>
                            <m:sSubPr>
                              <m:ctrlPr>
                                <a:rPr lang="ja-JP"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1</m:t>
                              </m:r>
                            </m:sub>
                          </m:sSub>
                        </m:num>
                        <m:den>
                          <m:r>
                            <a:rPr lang="en-US" altLang="ja-JP" i="1">
                              <a:latin typeface="Cambria Math" panose="02040503050406030204" pitchFamily="18" charset="0"/>
                            </a:rPr>
                            <m:t>2</m:t>
                          </m:r>
                        </m:den>
                      </m:f>
                      <m:r>
                        <a:rPr lang="en-US" altLang="ja-JP" i="1">
                          <a:latin typeface="Cambria Math" panose="02040503050406030204" pitchFamily="18" charset="0"/>
                        </a:rPr>
                        <m:t> </m:t>
                      </m:r>
                      <m:r>
                        <a:rPr lang="en-US" altLang="ja-JP" b="0" i="1" smtClean="0">
                          <a:latin typeface="Cambria Math" panose="02040503050406030204" pitchFamily="18" charset="0"/>
                        </a:rPr>
                        <m:t>,</m:t>
                      </m:r>
                      <m:r>
                        <a:rPr lang="en-US" altLang="ja-JP" i="1">
                          <a:latin typeface="Cambria Math" panose="02040503050406030204" pitchFamily="18" charset="0"/>
                        </a:rPr>
                        <m:t>  </m:t>
                      </m:r>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𝑥</m:t>
                          </m:r>
                        </m:e>
                        <m:sub>
                          <m:r>
                            <a:rPr lang="en-US" altLang="ja-JP" b="0" i="1" smtClean="0">
                              <a:latin typeface="Cambria Math" panose="02040503050406030204" pitchFamily="18" charset="0"/>
                            </a:rPr>
                            <m:t>𝐼𝐷</m:t>
                          </m:r>
                          <m:r>
                            <a:rPr lang="en-US" altLang="ja-JP" b="0" i="1" smtClean="0">
                              <a:latin typeface="Cambria Math" panose="02040503050406030204" pitchFamily="18" charset="0"/>
                            </a:rPr>
                            <m:t>02</m:t>
                          </m:r>
                        </m:sub>
                        <m:sup>
                          <m:r>
                            <a:rPr lang="en-US" altLang="ja-JP" i="1">
                              <a:latin typeface="Cambria Math" panose="02040503050406030204" pitchFamily="18" charset="0"/>
                            </a:rPr>
                            <m:t>′</m:t>
                          </m:r>
                        </m:sup>
                      </m:sSubSup>
                      <m:r>
                        <a:rPr lang="en-US" altLang="ja-JP" i="1">
                          <a:latin typeface="Cambria Math" panose="02040503050406030204" pitchFamily="18" charset="0"/>
                        </a:rPr>
                        <m:t>=</m:t>
                      </m:r>
                      <m:f>
                        <m:fPr>
                          <m:ctrlPr>
                            <a:rPr lang="ja-JP" altLang="ja-JP" i="1">
                              <a:latin typeface="Cambria Math" panose="02040503050406030204" pitchFamily="18" charset="0"/>
                            </a:rPr>
                          </m:ctrlPr>
                        </m:fPr>
                        <m:num>
                          <m:sSub>
                            <m:sSubPr>
                              <m:ctrlPr>
                                <a:rPr lang="ja-JP"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2</m:t>
                              </m:r>
                            </m:sub>
                          </m:sSub>
                          <m:r>
                            <a:rPr lang="en-US" altLang="ja-JP" i="1">
                              <a:latin typeface="Cambria Math" panose="02040503050406030204" pitchFamily="18" charset="0"/>
                            </a:rPr>
                            <m:t>−</m:t>
                          </m:r>
                          <m:sSub>
                            <m:sSubPr>
                              <m:ctrlPr>
                                <a:rPr lang="ja-JP"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1</m:t>
                              </m:r>
                            </m:sub>
                          </m:sSub>
                        </m:num>
                        <m:den>
                          <m:r>
                            <a:rPr lang="en-US" altLang="ja-JP" i="1">
                              <a:latin typeface="Cambria Math" panose="02040503050406030204" pitchFamily="18" charset="0"/>
                            </a:rPr>
                            <m:t>𝑙</m:t>
                          </m:r>
                        </m:den>
                      </m:f>
                    </m:oMath>
                  </m:oMathPara>
                </a14:m>
                <a:endParaRPr lang="en-US" altLang="ja-JP" u="sng" dirty="0"/>
              </a:p>
              <a:p>
                <a:pPr algn="r"/>
                <a14:m>
                  <m:oMathPara xmlns:m="http://schemas.openxmlformats.org/officeDocument/2006/math">
                    <m:oMathParaPr>
                      <m:jc m:val="right"/>
                    </m:oMathParaPr>
                    <m:oMath xmlns:m="http://schemas.openxmlformats.org/officeDocument/2006/math">
                      <m:r>
                        <a:rPr lang="en-US" altLang="ja-JP" sz="1400" b="0" i="1" smtClean="0">
                          <a:latin typeface="Cambria Math" panose="02040503050406030204" pitchFamily="18" charset="0"/>
                        </a:rPr>
                        <m:t>𝑙</m:t>
                      </m:r>
                      <m:r>
                        <a:rPr lang="en-US" altLang="ja-JP" sz="1400" b="0" i="1" smtClean="0">
                          <a:latin typeface="Cambria Math" panose="02040503050406030204" pitchFamily="18" charset="0"/>
                        </a:rPr>
                        <m:t>=8.83 [</m:t>
                      </m:r>
                      <m:r>
                        <a:rPr lang="en-US" altLang="ja-JP" sz="1400" b="0" i="1" smtClean="0">
                          <a:latin typeface="Cambria Math" panose="02040503050406030204" pitchFamily="18" charset="0"/>
                        </a:rPr>
                        <m:t>𝑚</m:t>
                      </m:r>
                      <m:r>
                        <a:rPr lang="en-US" altLang="ja-JP" sz="1400" b="0" i="1" smtClean="0">
                          <a:latin typeface="Cambria Math" panose="02040503050406030204" pitchFamily="18" charset="0"/>
                        </a:rPr>
                        <m:t>]</m:t>
                      </m:r>
                    </m:oMath>
                  </m:oMathPara>
                </a14:m>
                <a:endParaRPr lang="en-US" altLang="ja-JP" sz="1400" dirty="0"/>
              </a:p>
              <a:p>
                <a:pPr algn="ctr"/>
                <a:r>
                  <a:rPr lang="ja-JP" altLang="en-US" b="1" dirty="0"/>
                  <a:t>↓</a:t>
                </a:r>
                <a:endParaRPr lang="en-US" altLang="ja-JP" b="1" dirty="0"/>
              </a:p>
              <a:p>
                <a:r>
                  <a:rPr lang="ja-JP" altLang="en-US" u="sng" dirty="0"/>
                  <a:t>入射点へ転送</a:t>
                </a:r>
                <a:endParaRPr lang="en-US" altLang="ja-JP" i="1" dirty="0"/>
              </a:p>
              <a:p>
                <a:pPr algn="ctr"/>
                <a14:m>
                  <m:oMathPara xmlns:m="http://schemas.openxmlformats.org/officeDocument/2006/math">
                    <m:oMathParaPr>
                      <m:jc m:val="centerGroup"/>
                    </m:oMathParaPr>
                    <m:oMath xmlns:m="http://schemas.openxmlformats.org/officeDocument/2006/math">
                      <m:sSub>
                        <m:sSubPr>
                          <m:ctrlPr>
                            <a:rPr lang="ja-JP" altLang="ja-JP" i="1">
                              <a:latin typeface="Cambria Math" panose="02040503050406030204" pitchFamily="18" charset="0"/>
                            </a:rPr>
                          </m:ctrlPr>
                        </m:sSubPr>
                        <m:e>
                          <m:d>
                            <m:dPr>
                              <m:ctrlPr>
                                <a:rPr lang="ja-JP" altLang="ja-JP" i="1">
                                  <a:latin typeface="Cambria Math" panose="02040503050406030204" pitchFamily="18" charset="0"/>
                                </a:rPr>
                              </m:ctrlPr>
                            </m:dPr>
                            <m:e>
                              <m:m>
                                <m:mPr>
                                  <m:mcs>
                                    <m:mc>
                                      <m:mcPr>
                                        <m:count m:val="1"/>
                                        <m:mcJc m:val="center"/>
                                      </m:mcPr>
                                    </m:mc>
                                  </m:mcs>
                                  <m:ctrlPr>
                                    <a:rPr lang="ja-JP" altLang="ja-JP" i="1">
                                      <a:latin typeface="Cambria Math" panose="02040503050406030204" pitchFamily="18" charset="0"/>
                                    </a:rPr>
                                  </m:ctrlPr>
                                </m:mPr>
                                <m:mr>
                                  <m:e>
                                    <m:r>
                                      <a:rPr lang="en-US" altLang="ja-JP" i="1">
                                        <a:latin typeface="Cambria Math" panose="02040503050406030204" pitchFamily="18" charset="0"/>
                                      </a:rPr>
                                      <m:t>𝑥</m:t>
                                    </m:r>
                                  </m:e>
                                </m:mr>
                                <m:mr>
                                  <m:e>
                                    <m:sSup>
                                      <m:sSupPr>
                                        <m:ctrlPr>
                                          <a:rPr lang="ja-JP" altLang="ja-JP" i="1">
                                            <a:latin typeface="Cambria Math" panose="02040503050406030204" pitchFamily="18" charset="0"/>
                                          </a:rPr>
                                        </m:ctrlPr>
                                      </m:sSupPr>
                                      <m:e>
                                        <m:r>
                                          <a:rPr lang="en-US" altLang="ja-JP" i="1">
                                            <a:latin typeface="Cambria Math" panose="02040503050406030204" pitchFamily="18" charset="0"/>
                                          </a:rPr>
                                          <m:t>𝑥</m:t>
                                        </m:r>
                                      </m:e>
                                      <m:sup>
                                        <m:r>
                                          <a:rPr lang="en-US" altLang="ja-JP" i="1">
                                            <a:latin typeface="Cambria Math" panose="02040503050406030204" pitchFamily="18" charset="0"/>
                                          </a:rPr>
                                          <m:t>′</m:t>
                                        </m:r>
                                      </m:sup>
                                    </m:sSup>
                                  </m:e>
                                </m:mr>
                              </m:m>
                            </m:e>
                          </m:d>
                        </m:e>
                        <m:sub>
                          <m:r>
                            <a:rPr lang="en-US" altLang="ja-JP" i="1">
                              <a:latin typeface="Cambria Math" panose="02040503050406030204" pitchFamily="18" charset="0"/>
                            </a:rPr>
                            <m:t>𝐼𝑛𝑗</m:t>
                          </m:r>
                        </m:sub>
                      </m:sSub>
                      <m:r>
                        <a:rPr lang="en-US" altLang="ja-JP" i="1">
                          <a:latin typeface="Cambria Math" panose="02040503050406030204" pitchFamily="18" charset="0"/>
                        </a:rPr>
                        <m:t>=</m:t>
                      </m:r>
                      <m:r>
                        <a:rPr lang="en-US" altLang="ja-JP" i="1">
                          <a:latin typeface="Cambria Math" panose="02040503050406030204" pitchFamily="18" charset="0"/>
                        </a:rPr>
                        <m:t>𝑀</m:t>
                      </m:r>
                      <m:sSub>
                        <m:sSubPr>
                          <m:ctrlPr>
                            <a:rPr lang="ja-JP" altLang="ja-JP" i="1">
                              <a:latin typeface="Cambria Math" panose="02040503050406030204" pitchFamily="18" charset="0"/>
                            </a:rPr>
                          </m:ctrlPr>
                        </m:sSubPr>
                        <m:e>
                          <m:d>
                            <m:dPr>
                              <m:ctrlPr>
                                <a:rPr lang="ja-JP" altLang="ja-JP" i="1">
                                  <a:latin typeface="Cambria Math" panose="02040503050406030204" pitchFamily="18" charset="0"/>
                                </a:rPr>
                              </m:ctrlPr>
                            </m:dPr>
                            <m:e>
                              <m:m>
                                <m:mPr>
                                  <m:mcs>
                                    <m:mc>
                                      <m:mcPr>
                                        <m:count m:val="1"/>
                                        <m:mcJc m:val="center"/>
                                      </m:mcPr>
                                    </m:mc>
                                  </m:mcs>
                                  <m:ctrlPr>
                                    <a:rPr lang="ja-JP" altLang="ja-JP" i="1">
                                      <a:latin typeface="Cambria Math" panose="02040503050406030204" pitchFamily="18" charset="0"/>
                                    </a:rPr>
                                  </m:ctrlPr>
                                </m:mPr>
                                <m:mr>
                                  <m:e>
                                    <m:r>
                                      <a:rPr lang="en-US" altLang="ja-JP" i="1">
                                        <a:latin typeface="Cambria Math" panose="02040503050406030204" pitchFamily="18" charset="0"/>
                                      </a:rPr>
                                      <m:t>𝑥</m:t>
                                    </m:r>
                                  </m:e>
                                </m:mr>
                                <m:mr>
                                  <m:e>
                                    <m:sSup>
                                      <m:sSupPr>
                                        <m:ctrlPr>
                                          <a:rPr lang="ja-JP" altLang="ja-JP" i="1">
                                            <a:latin typeface="Cambria Math" panose="02040503050406030204" pitchFamily="18" charset="0"/>
                                          </a:rPr>
                                        </m:ctrlPr>
                                      </m:sSupPr>
                                      <m:e>
                                        <m:r>
                                          <a:rPr lang="en-US" altLang="ja-JP" i="1">
                                            <a:latin typeface="Cambria Math" panose="02040503050406030204" pitchFamily="18" charset="0"/>
                                          </a:rPr>
                                          <m:t>𝑥</m:t>
                                        </m:r>
                                      </m:e>
                                      <m:sup>
                                        <m:r>
                                          <a:rPr lang="en-US" altLang="ja-JP" i="1">
                                            <a:latin typeface="Cambria Math" panose="02040503050406030204" pitchFamily="18" charset="0"/>
                                          </a:rPr>
                                          <m:t>′</m:t>
                                        </m:r>
                                      </m:sup>
                                    </m:sSup>
                                  </m:e>
                                </m:mr>
                              </m:m>
                            </m:e>
                          </m:d>
                        </m:e>
                        <m:sub>
                          <m:r>
                            <a:rPr lang="en-US" altLang="ja-JP" i="1">
                              <a:latin typeface="Cambria Math" panose="02040503050406030204" pitchFamily="18" charset="0"/>
                            </a:rPr>
                            <m:t>𝐼𝐷</m:t>
                          </m:r>
                          <m:r>
                            <a:rPr lang="en-US" altLang="ja-JP" i="1">
                              <a:latin typeface="Cambria Math" panose="02040503050406030204" pitchFamily="18" charset="0"/>
                            </a:rPr>
                            <m:t>02</m:t>
                          </m:r>
                        </m:sub>
                      </m:sSub>
                    </m:oMath>
                  </m:oMathPara>
                </a14:m>
                <a:endParaRPr lang="en-US" altLang="ja-JP" dirty="0"/>
              </a:p>
            </p:txBody>
          </p:sp>
        </mc:Choice>
        <mc:Fallback xmlns="">
          <p:sp>
            <p:nvSpPr>
              <p:cNvPr id="18" name="テキスト ボックス 17"/>
              <p:cNvSpPr txBox="1">
                <a:spLocks noRot="1" noChangeAspect="1" noMove="1" noResize="1" noEditPoints="1" noAdjustHandles="1" noChangeArrowheads="1" noChangeShapeType="1" noTextEdit="1"/>
              </p:cNvSpPr>
              <p:nvPr/>
            </p:nvSpPr>
            <p:spPr>
              <a:xfrm>
                <a:off x="4773505" y="2539966"/>
                <a:ext cx="3961422" cy="2742289"/>
              </a:xfrm>
              <a:prstGeom prst="rect">
                <a:avLst/>
              </a:prstGeom>
              <a:blipFill>
                <a:blip r:embed="rId3"/>
                <a:stretch>
                  <a:fillRect l="-1231" t="-2000"/>
                </a:stretch>
              </a:blipFill>
            </p:spPr>
            <p:txBody>
              <a:bodyPr/>
              <a:lstStyle/>
              <a:p>
                <a:r>
                  <a:rPr lang="ja-JP" altLang="en-US">
                    <a:noFill/>
                  </a:rPr>
                  <a:t> </a:t>
                </a:r>
              </a:p>
            </p:txBody>
          </p:sp>
        </mc:Fallback>
      </mc:AlternateContent>
      <p:sp>
        <p:nvSpPr>
          <p:cNvPr id="25" name="テキスト ボックス 24"/>
          <p:cNvSpPr txBox="1"/>
          <p:nvPr/>
        </p:nvSpPr>
        <p:spPr>
          <a:xfrm>
            <a:off x="890337" y="1276114"/>
            <a:ext cx="3870641" cy="861774"/>
          </a:xfrm>
          <a:prstGeom prst="rect">
            <a:avLst/>
          </a:prstGeom>
          <a:noFill/>
        </p:spPr>
        <p:txBody>
          <a:bodyPr wrap="square" rtlCol="0">
            <a:spAutoFit/>
          </a:bodyPr>
          <a:lstStyle/>
          <a:p>
            <a:pPr algn="r"/>
            <a:r>
              <a:rPr kumimoji="1" lang="en-US" altLang="ja-JP" sz="1600" dirty="0"/>
              <a:t>Injection</a:t>
            </a:r>
            <a:r>
              <a:rPr lang="ja-JP" altLang="en-US" sz="1600" dirty="0"/>
              <a:t> </a:t>
            </a:r>
            <a:r>
              <a:rPr kumimoji="1" lang="en-US" altLang="ja-JP" sz="1600" dirty="0"/>
              <a:t>beam</a:t>
            </a:r>
          </a:p>
          <a:p>
            <a:pPr algn="r"/>
            <a:r>
              <a:rPr lang="en-US" altLang="ja-JP" sz="1600" dirty="0"/>
              <a:t>Injected</a:t>
            </a:r>
            <a:r>
              <a:rPr lang="ja-JP" altLang="en-US" sz="1600" dirty="0"/>
              <a:t> </a:t>
            </a:r>
            <a:r>
              <a:rPr lang="en-US" altLang="ja-JP" sz="1600" dirty="0"/>
              <a:t>bunch = 0.28 nC, 1 Hz Rep.</a:t>
            </a:r>
          </a:p>
          <a:p>
            <a:pPr algn="r"/>
            <a:endParaRPr kumimoji="1" lang="ja-JP" altLang="en-US" dirty="0"/>
          </a:p>
        </p:txBody>
      </p:sp>
      <p:pic>
        <p:nvPicPr>
          <p:cNvPr id="10" name="図 9">
            <a:extLst>
              <a:ext uri="{FF2B5EF4-FFF2-40B4-BE49-F238E27FC236}">
                <a16:creationId xmlns="" xmlns:a16="http://schemas.microsoft.com/office/drawing/2014/main" id="{2FE785ED-2475-41AC-A4FB-0757C1A515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913742"/>
            <a:ext cx="4620270" cy="4410691"/>
          </a:xfrm>
          <a:prstGeom prst="rect">
            <a:avLst/>
          </a:prstGeom>
        </p:spPr>
      </p:pic>
      <p:sp>
        <p:nvSpPr>
          <p:cNvPr id="2" name="スライド番号プレースホルダー 1"/>
          <p:cNvSpPr>
            <a:spLocks noGrp="1"/>
          </p:cNvSpPr>
          <p:nvPr>
            <p:ph type="sldNum" sz="quarter" idx="12"/>
          </p:nvPr>
        </p:nvSpPr>
        <p:spPr/>
        <p:txBody>
          <a:bodyPr/>
          <a:lstStyle/>
          <a:p>
            <a:fld id="{26B42C4F-1ABF-421A-9D5F-F691A5F6974A}" type="slidenum">
              <a:rPr kumimoji="1" lang="ja-JP" altLang="en-US" smtClean="0"/>
              <a:t>7</a:t>
            </a:fld>
            <a:endParaRPr kumimoji="1" lang="ja-JP" altLang="en-US"/>
          </a:p>
        </p:txBody>
      </p:sp>
    </p:spTree>
    <p:extLst>
      <p:ext uri="{BB962C8B-B14F-4D97-AF65-F5344CB8AC3E}">
        <p14:creationId xmlns:p14="http://schemas.microsoft.com/office/powerpoint/2010/main" val="2713112757"/>
      </p:ext>
    </p:extLst>
  </p:cSld>
  <p:clrMapOvr>
    <a:masterClrMapping/>
  </p:clrMapOvr>
  <mc:AlternateContent xmlns:mc="http://schemas.openxmlformats.org/markup-compatibility/2006" xmlns:p14="http://schemas.microsoft.com/office/powerpoint/2010/main">
    <mc:Choice Requires="p14">
      <p:transition spd="slow" p14:dur="2000" advTm="74332"/>
    </mc:Choice>
    <mc:Fallback xmlns="">
      <p:transition spd="slow" advTm="7433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 xmlns:a16="http://schemas.microsoft.com/office/drawing/2014/main" id="{B0359F84-865D-4B7B-A06A-6B38ED4C6F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1044" y="2065685"/>
            <a:ext cx="3360000" cy="2880000"/>
          </a:xfrm>
          <a:prstGeom prst="rect">
            <a:avLst/>
          </a:prstGeom>
        </p:spPr>
      </p:pic>
      <p:pic>
        <p:nvPicPr>
          <p:cNvPr id="7" name="図 6">
            <a:extLst>
              <a:ext uri="{FF2B5EF4-FFF2-40B4-BE49-F238E27FC236}">
                <a16:creationId xmlns="" xmlns:a16="http://schemas.microsoft.com/office/drawing/2014/main" id="{24E06A4F-B6D7-402C-BC67-F911D2ABA4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1314" y="2060026"/>
            <a:ext cx="3360000" cy="2880000"/>
          </a:xfrm>
          <a:prstGeom prst="rect">
            <a:avLst/>
          </a:prstGeom>
        </p:spPr>
      </p:pic>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0" y="0"/>
            <a:ext cx="5448300" cy="646331"/>
          </a:xfrm>
          <a:prstGeom prst="rect">
            <a:avLst/>
          </a:prstGeom>
          <a:noFill/>
        </p:spPr>
        <p:txBody>
          <a:bodyPr wrap="square" rtlCol="0" anchor="ctr">
            <a:spAutoFit/>
          </a:bodyPr>
          <a:lstStyle/>
          <a:p>
            <a:r>
              <a:rPr lang="en-US" altLang="ja-JP" sz="3600" dirty="0">
                <a:solidFill>
                  <a:schemeClr val="accent1">
                    <a:lumMod val="75000"/>
                  </a:schemeClr>
                </a:solidFill>
              </a:rPr>
              <a:t>2-2</a:t>
            </a:r>
            <a:r>
              <a:rPr lang="ja-JP" altLang="en-US" sz="3600" dirty="0">
                <a:solidFill>
                  <a:schemeClr val="accent1">
                    <a:lumMod val="75000"/>
                  </a:schemeClr>
                </a:solidFill>
              </a:rPr>
              <a:t>　入射ビームの測定</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2988860" y="1603086"/>
            <a:ext cx="4804521" cy="584775"/>
          </a:xfrm>
          <a:prstGeom prst="rect">
            <a:avLst/>
          </a:prstGeom>
          <a:noFill/>
        </p:spPr>
        <p:txBody>
          <a:bodyPr wrap="square" rtlCol="0">
            <a:spAutoFit/>
          </a:bodyPr>
          <a:lstStyle/>
          <a:p>
            <a:pPr algn="r"/>
            <a:r>
              <a:rPr lang="en-US" altLang="ja-JP" sz="1600" dirty="0"/>
              <a:t>Phase Space 100 plots </a:t>
            </a:r>
            <a:endParaRPr kumimoji="1" lang="en-US" altLang="ja-JP" sz="1600" dirty="0"/>
          </a:p>
          <a:p>
            <a:pPr algn="r"/>
            <a:r>
              <a:rPr lang="en-US" altLang="ja-JP" sz="1600" dirty="0"/>
              <a:t>Injected</a:t>
            </a:r>
            <a:r>
              <a:rPr lang="ja-JP" altLang="en-US" sz="1600" dirty="0"/>
              <a:t> </a:t>
            </a:r>
            <a:r>
              <a:rPr lang="en-US" altLang="ja-JP" sz="1600" dirty="0"/>
              <a:t>bunch = 0.28 nC, 1 Hz Rep.</a:t>
            </a:r>
            <a:r>
              <a:rPr kumimoji="1" lang="en-US" altLang="ja-JP" sz="1600" dirty="0"/>
              <a:t> </a:t>
            </a:r>
          </a:p>
        </p:txBody>
      </p:sp>
      <p:sp>
        <p:nvSpPr>
          <p:cNvPr id="44" name="テキスト ボックス 43"/>
          <p:cNvSpPr txBox="1"/>
          <p:nvPr/>
        </p:nvSpPr>
        <p:spPr>
          <a:xfrm>
            <a:off x="2743986" y="4804357"/>
            <a:ext cx="1243438" cy="283547"/>
          </a:xfrm>
          <a:prstGeom prst="rect">
            <a:avLst/>
          </a:prstGeom>
          <a:noFill/>
        </p:spPr>
        <p:txBody>
          <a:bodyPr wrap="square" rtlCol="0">
            <a:spAutoFit/>
          </a:bodyPr>
          <a:lstStyle/>
          <a:p>
            <a:pPr algn="ctr"/>
            <a:r>
              <a:rPr kumimoji="1" lang="en-US" altLang="ja-JP" dirty="0"/>
              <a:t>X [mm]</a:t>
            </a:r>
            <a:endParaRPr kumimoji="1" lang="ja-JP" altLang="en-US" dirty="0"/>
          </a:p>
        </p:txBody>
      </p:sp>
      <p:sp>
        <p:nvSpPr>
          <p:cNvPr id="45" name="テキスト ボックス 44"/>
          <p:cNvSpPr txBox="1"/>
          <p:nvPr/>
        </p:nvSpPr>
        <p:spPr>
          <a:xfrm>
            <a:off x="5930104" y="4808487"/>
            <a:ext cx="1243438" cy="283547"/>
          </a:xfrm>
          <a:prstGeom prst="rect">
            <a:avLst/>
          </a:prstGeom>
          <a:noFill/>
        </p:spPr>
        <p:txBody>
          <a:bodyPr wrap="square" rtlCol="0">
            <a:spAutoFit/>
          </a:bodyPr>
          <a:lstStyle/>
          <a:p>
            <a:pPr algn="ctr"/>
            <a:r>
              <a:rPr lang="en-US" altLang="ja-JP" dirty="0"/>
              <a:t>Y </a:t>
            </a:r>
            <a:r>
              <a:rPr kumimoji="1" lang="en-US" altLang="ja-JP" dirty="0"/>
              <a:t>[mm]</a:t>
            </a:r>
            <a:endParaRPr kumimoji="1" lang="ja-JP" altLang="en-US" dirty="0"/>
          </a:p>
        </p:txBody>
      </p:sp>
      <p:sp>
        <p:nvSpPr>
          <p:cNvPr id="46" name="テキスト ボックス 45"/>
          <p:cNvSpPr txBox="1"/>
          <p:nvPr/>
        </p:nvSpPr>
        <p:spPr>
          <a:xfrm rot="16200000">
            <a:off x="4069964" y="3103618"/>
            <a:ext cx="1205681" cy="306020"/>
          </a:xfrm>
          <a:prstGeom prst="rect">
            <a:avLst/>
          </a:prstGeom>
          <a:noFill/>
        </p:spPr>
        <p:txBody>
          <a:bodyPr wrap="square" rtlCol="0">
            <a:spAutoFit/>
          </a:bodyPr>
          <a:lstStyle/>
          <a:p>
            <a:pPr algn="ctr"/>
            <a:r>
              <a:rPr lang="en-US" altLang="ja-JP" dirty="0"/>
              <a:t>Y’ </a:t>
            </a:r>
            <a:r>
              <a:rPr kumimoji="1" lang="en-US" altLang="ja-JP" dirty="0"/>
              <a:t>[mrad]</a:t>
            </a:r>
            <a:endParaRPr kumimoji="1" lang="ja-JP" altLang="en-US" dirty="0"/>
          </a:p>
        </p:txBody>
      </p:sp>
      <p:sp>
        <p:nvSpPr>
          <p:cNvPr id="47" name="テキスト ボックス 46"/>
          <p:cNvSpPr txBox="1"/>
          <p:nvPr/>
        </p:nvSpPr>
        <p:spPr>
          <a:xfrm rot="16200000">
            <a:off x="908473" y="3103618"/>
            <a:ext cx="1205682" cy="306020"/>
          </a:xfrm>
          <a:prstGeom prst="rect">
            <a:avLst/>
          </a:prstGeom>
          <a:noFill/>
        </p:spPr>
        <p:txBody>
          <a:bodyPr wrap="square" rtlCol="0">
            <a:spAutoFit/>
          </a:bodyPr>
          <a:lstStyle/>
          <a:p>
            <a:pPr algn="ctr"/>
            <a:r>
              <a:rPr lang="en-US" altLang="ja-JP" dirty="0"/>
              <a:t>X’ </a:t>
            </a:r>
            <a:r>
              <a:rPr kumimoji="1" lang="en-US" altLang="ja-JP" dirty="0"/>
              <a:t>[mrad]</a:t>
            </a:r>
            <a:endParaRPr kumimoji="1" lang="ja-JP" altLang="en-US" dirty="0"/>
          </a:p>
        </p:txBody>
      </p:sp>
      <p:sp>
        <p:nvSpPr>
          <p:cNvPr id="48" name="正方形/長方形 47"/>
          <p:cNvSpPr/>
          <p:nvPr/>
        </p:nvSpPr>
        <p:spPr>
          <a:xfrm>
            <a:off x="-4659" y="727399"/>
            <a:ext cx="3703258" cy="523220"/>
          </a:xfrm>
          <a:prstGeom prst="rect">
            <a:avLst/>
          </a:prstGeom>
        </p:spPr>
        <p:txBody>
          <a:bodyPr wrap="none">
            <a:spAutoFit/>
          </a:bodyPr>
          <a:lstStyle/>
          <a:p>
            <a:r>
              <a:rPr lang="ja-JP" altLang="en-US" sz="2800" dirty="0"/>
              <a:t>入射ビームの測定結果</a:t>
            </a:r>
            <a:endParaRPr lang="en-US" altLang="ja-JP" sz="2800" dirty="0"/>
          </a:p>
        </p:txBody>
      </p:sp>
      <p:sp>
        <p:nvSpPr>
          <p:cNvPr id="49" name="テキスト ボックス 48"/>
          <p:cNvSpPr txBox="1"/>
          <p:nvPr/>
        </p:nvSpPr>
        <p:spPr>
          <a:xfrm>
            <a:off x="146388" y="1183717"/>
            <a:ext cx="8820000" cy="400110"/>
          </a:xfrm>
          <a:prstGeom prst="rect">
            <a:avLst/>
          </a:prstGeom>
          <a:noFill/>
        </p:spPr>
        <p:txBody>
          <a:bodyPr wrap="square" rtlCol="0">
            <a:spAutoFit/>
          </a:bodyPr>
          <a:lstStyle/>
          <a:p>
            <a:pPr algn="just"/>
            <a:r>
              <a:rPr lang="ja-JP" altLang="en-US" sz="2000" dirty="0"/>
              <a:t>入射バンチを測定してセプタム電磁石出口まで転送して位相空間にプロット。</a:t>
            </a:r>
            <a:endParaRPr lang="en-US" altLang="ja-JP" sz="2000" dirty="0"/>
          </a:p>
        </p:txBody>
      </p:sp>
      <mc:AlternateContent xmlns:mc="http://schemas.openxmlformats.org/markup-compatibility/2006" xmlns:a14="http://schemas.microsoft.com/office/drawing/2010/main">
        <mc:Choice Requires="a14">
          <p:graphicFrame>
            <p:nvGraphicFramePr>
              <p:cNvPr id="50" name="表 49"/>
              <p:cNvGraphicFramePr>
                <a:graphicFrameLocks noGrp="1"/>
              </p:cNvGraphicFramePr>
              <p:nvPr>
                <p:extLst>
                  <p:ext uri="{D42A27DB-BD31-4B8C-83A1-F6EECF244321}">
                    <p14:modId xmlns:p14="http://schemas.microsoft.com/office/powerpoint/2010/main" val="1370585056"/>
                  </p:ext>
                </p:extLst>
              </p:nvPr>
            </p:nvGraphicFramePr>
            <p:xfrm>
              <a:off x="2385741" y="5510046"/>
              <a:ext cx="4535215" cy="1289546"/>
            </p:xfrm>
            <a:graphic>
              <a:graphicData uri="http://schemas.openxmlformats.org/drawingml/2006/table">
                <a:tbl>
                  <a:tblPr>
                    <a:tableStyleId>{5C22544A-7EE6-4342-B048-85BDC9FD1C3A}</a:tableStyleId>
                  </a:tblPr>
                  <a:tblGrid>
                    <a:gridCol w="1265455">
                      <a:extLst>
                        <a:ext uri="{9D8B030D-6E8A-4147-A177-3AD203B41FA5}">
                          <a16:colId xmlns="" xmlns:a16="http://schemas.microsoft.com/office/drawing/2014/main" val="20000"/>
                        </a:ext>
                      </a:extLst>
                    </a:gridCol>
                    <a:gridCol w="1634880">
                      <a:extLst>
                        <a:ext uri="{9D8B030D-6E8A-4147-A177-3AD203B41FA5}">
                          <a16:colId xmlns="" xmlns:a16="http://schemas.microsoft.com/office/drawing/2014/main" val="20001"/>
                        </a:ext>
                      </a:extLst>
                    </a:gridCol>
                    <a:gridCol w="1634880">
                      <a:extLst>
                        <a:ext uri="{9D8B030D-6E8A-4147-A177-3AD203B41FA5}">
                          <a16:colId xmlns="" xmlns:a16="http://schemas.microsoft.com/office/drawing/2014/main" val="20002"/>
                        </a:ext>
                      </a:extLst>
                    </a:gridCol>
                  </a:tblGrid>
                  <a:tr h="434870">
                    <a:tc>
                      <a:txBody>
                        <a:bodyPr/>
                        <a:lstStyle/>
                        <a:p>
                          <a:pPr algn="ctr">
                            <a:lnSpc>
                              <a:spcPts val="1100"/>
                            </a:lnSpc>
                            <a:spcBef>
                              <a:spcPts val="300"/>
                            </a:spcBef>
                            <a:spcAft>
                              <a:spcPts val="300"/>
                            </a:spcAft>
                          </a:pP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800" kern="800" dirty="0">
                              <a:effectLst/>
                            </a:rPr>
                            <a:t>position[mm]</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800" kern="800" dirty="0">
                              <a:effectLst/>
                            </a:rPr>
                            <a:t>angle[mrad]</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427338">
                    <a:tc>
                      <a:txBody>
                        <a:bodyPr/>
                        <a:lstStyle/>
                        <a:p>
                          <a:pPr algn="ctr">
                            <a:lnSpc>
                              <a:spcPts val="1100"/>
                            </a:lnSpc>
                            <a:spcBef>
                              <a:spcPts val="300"/>
                            </a:spcBef>
                            <a:spcAft>
                              <a:spcPts val="300"/>
                            </a:spcAft>
                          </a:pPr>
                          <a:r>
                            <a:rPr lang="en-US" sz="1800" kern="800" dirty="0">
                              <a:effectLst/>
                            </a:rPr>
                            <a:t>Horizontal</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r>
                                  <a:rPr lang="en-US" sz="1800" kern="800">
                                    <a:effectLst/>
                                    <a:latin typeface="Cambria Math" panose="02040503050406030204" pitchFamily="18" charset="0"/>
                                  </a:rPr>
                                  <m:t>3</m:t>
                                </m:r>
                                <m:r>
                                  <a:rPr lang="en-US" altLang="ja-JP" sz="1800" i="1" kern="800" smtClean="0">
                                    <a:effectLst/>
                                    <a:latin typeface="Cambria Math" panose="02040503050406030204" pitchFamily="18" charset="0"/>
                                  </a:rPr>
                                  <m:t>5.9</m:t>
                                </m:r>
                                <m:r>
                                  <a:rPr lang="en-US" sz="1800" kern="800">
                                    <a:effectLst/>
                                    <a:latin typeface="Cambria Math" panose="02040503050406030204" pitchFamily="18" charset="0"/>
                                  </a:rPr>
                                  <m:t>±3.2</m:t>
                                </m:r>
                              </m:oMath>
                            </m:oMathPara>
                          </a14:m>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r>
                                  <a:rPr lang="en-US" sz="1800" kern="800">
                                    <a:effectLst/>
                                    <a:latin typeface="Cambria Math" panose="02040503050406030204" pitchFamily="18" charset="0"/>
                                  </a:rPr>
                                  <m:t>3.</m:t>
                                </m:r>
                                <m:r>
                                  <a:rPr lang="en-US" altLang="ja-JP" sz="1800" i="1" kern="800" smtClean="0">
                                    <a:effectLst/>
                                    <a:latin typeface="Cambria Math" panose="02040503050406030204" pitchFamily="18" charset="0"/>
                                  </a:rPr>
                                  <m:t>95</m:t>
                                </m:r>
                                <m:r>
                                  <a:rPr lang="en-US" sz="1800" kern="800">
                                    <a:effectLst/>
                                    <a:latin typeface="Cambria Math" panose="02040503050406030204" pitchFamily="18" charset="0"/>
                                  </a:rPr>
                                  <m:t>±0.42</m:t>
                                </m:r>
                              </m:oMath>
                            </m:oMathPara>
                          </a14:m>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1"/>
                      </a:ext>
                    </a:extLst>
                  </a:tr>
                  <a:tr h="427338">
                    <a:tc>
                      <a:txBody>
                        <a:bodyPr/>
                        <a:lstStyle/>
                        <a:p>
                          <a:pPr algn="ctr">
                            <a:lnSpc>
                              <a:spcPts val="1100"/>
                            </a:lnSpc>
                            <a:spcBef>
                              <a:spcPts val="300"/>
                            </a:spcBef>
                            <a:spcAft>
                              <a:spcPts val="300"/>
                            </a:spcAft>
                          </a:pPr>
                          <a:r>
                            <a:rPr lang="en-US" sz="1800" kern="800" dirty="0">
                              <a:effectLst/>
                            </a:rPr>
                            <a:t>Vertical</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r>
                                  <a:rPr lang="en-US" sz="1800" b="0" i="0" kern="800" smtClean="0">
                                    <a:effectLst/>
                                    <a:latin typeface="Cambria Math" panose="02040503050406030204" pitchFamily="18" charset="0"/>
                                  </a:rPr>
                                  <m:t>−0.76</m:t>
                                </m:r>
                                <m:r>
                                  <a:rPr lang="en-US" sz="1800" kern="800">
                                    <a:effectLst/>
                                    <a:latin typeface="Cambria Math" panose="02040503050406030204" pitchFamily="18" charset="0"/>
                                  </a:rPr>
                                  <m:t>±0.23</m:t>
                                </m:r>
                              </m:oMath>
                            </m:oMathPara>
                          </a14:m>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ts val="1100"/>
                            </a:lnSpc>
                            <a:spcBef>
                              <a:spcPts val="3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r>
                                  <a:rPr lang="en-US" sz="1800" kern="800" smtClean="0">
                                    <a:effectLst/>
                                    <a:latin typeface="Cambria Math" panose="02040503050406030204" pitchFamily="18" charset="0"/>
                                  </a:rPr>
                                  <m:t>1.</m:t>
                                </m:r>
                                <m:r>
                                  <a:rPr lang="en-US" sz="1800" b="0" i="0" kern="800" smtClean="0">
                                    <a:effectLst/>
                                    <a:latin typeface="Cambria Math" panose="02040503050406030204" pitchFamily="18" charset="0"/>
                                  </a:rPr>
                                  <m:t>26</m:t>
                                </m:r>
                                <m:r>
                                  <m:rPr>
                                    <m:nor/>
                                  </m:rPr>
                                  <a:rPr lang="en-US" altLang="ja-JP" sz="1800" kern="800" dirty="0" smtClean="0">
                                    <a:effectLst/>
                                  </a:rPr>
                                  <m:t> </m:t>
                                </m:r>
                                <m:r>
                                  <a:rPr lang="en-US" sz="1800" kern="800">
                                    <a:effectLst/>
                                    <a:latin typeface="Cambria Math" panose="02040503050406030204" pitchFamily="18" charset="0"/>
                                  </a:rPr>
                                  <m:t>±0.23</m:t>
                                </m:r>
                              </m:oMath>
                            </m:oMathPara>
                          </a14:m>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bl>
              </a:graphicData>
            </a:graphic>
          </p:graphicFrame>
        </mc:Choice>
        <mc:Fallback xmlns="">
          <p:graphicFrame>
            <p:nvGraphicFramePr>
              <p:cNvPr id="50" name="表 49"/>
              <p:cNvGraphicFramePr>
                <a:graphicFrameLocks noGrp="1"/>
              </p:cNvGraphicFramePr>
              <p:nvPr>
                <p:extLst>
                  <p:ext uri="{D42A27DB-BD31-4B8C-83A1-F6EECF244321}">
                    <p14:modId xmlns:p14="http://schemas.microsoft.com/office/powerpoint/2010/main" val="1370585056"/>
                  </p:ext>
                </p:extLst>
              </p:nvPr>
            </p:nvGraphicFramePr>
            <p:xfrm>
              <a:off x="2385741" y="5510046"/>
              <a:ext cx="4535215" cy="1289546"/>
            </p:xfrm>
            <a:graphic>
              <a:graphicData uri="http://schemas.openxmlformats.org/drawingml/2006/table">
                <a:tbl>
                  <a:tblPr>
                    <a:tableStyleId>{5C22544A-7EE6-4342-B048-85BDC9FD1C3A}</a:tableStyleId>
                  </a:tblPr>
                  <a:tblGrid>
                    <a:gridCol w="1265455">
                      <a:extLst>
                        <a:ext uri="{9D8B030D-6E8A-4147-A177-3AD203B41FA5}">
                          <a16:colId xmlns:a16="http://schemas.microsoft.com/office/drawing/2014/main" val="20000"/>
                        </a:ext>
                      </a:extLst>
                    </a:gridCol>
                    <a:gridCol w="1634880">
                      <a:extLst>
                        <a:ext uri="{9D8B030D-6E8A-4147-A177-3AD203B41FA5}">
                          <a16:colId xmlns:a16="http://schemas.microsoft.com/office/drawing/2014/main" val="20001"/>
                        </a:ext>
                      </a:extLst>
                    </a:gridCol>
                    <a:gridCol w="1634880">
                      <a:extLst>
                        <a:ext uri="{9D8B030D-6E8A-4147-A177-3AD203B41FA5}">
                          <a16:colId xmlns:a16="http://schemas.microsoft.com/office/drawing/2014/main" val="20002"/>
                        </a:ext>
                      </a:extLst>
                    </a:gridCol>
                  </a:tblGrid>
                  <a:tr h="434870">
                    <a:tc>
                      <a:txBody>
                        <a:bodyPr/>
                        <a:lstStyle/>
                        <a:p>
                          <a:pPr algn="ctr">
                            <a:lnSpc>
                              <a:spcPts val="1100"/>
                            </a:lnSpc>
                            <a:spcBef>
                              <a:spcPts val="300"/>
                            </a:spcBef>
                            <a:spcAft>
                              <a:spcPts val="300"/>
                            </a:spcAft>
                          </a:pP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800" kern="800" dirty="0">
                              <a:effectLst/>
                            </a:rPr>
                            <a:t>position[mm]</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800" kern="800" dirty="0">
                              <a:effectLst/>
                            </a:rPr>
                            <a:t>angle[mrad]</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27338">
                    <a:tc>
                      <a:txBody>
                        <a:bodyPr/>
                        <a:lstStyle/>
                        <a:p>
                          <a:pPr algn="ctr">
                            <a:lnSpc>
                              <a:spcPts val="1100"/>
                            </a:lnSpc>
                            <a:spcBef>
                              <a:spcPts val="300"/>
                            </a:spcBef>
                            <a:spcAft>
                              <a:spcPts val="300"/>
                            </a:spcAft>
                          </a:pPr>
                          <a:r>
                            <a:rPr lang="en-US" sz="1800" kern="800" dirty="0">
                              <a:effectLst/>
                            </a:rPr>
                            <a:t>Horizontal</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endParaRPr lang="ja-JP"/>
                        </a:p>
                      </a:txBody>
                      <a:tcPr marL="68580" marR="68580" marT="0" marB="0" anchor="ctr">
                        <a:lnT w="12700" cap="flat" cmpd="sng" algn="ctr">
                          <a:solidFill>
                            <a:schemeClr val="tx1"/>
                          </a:solidFill>
                          <a:prstDash val="solid"/>
                          <a:round/>
                          <a:headEnd type="none" w="med" len="med"/>
                          <a:tailEnd type="none" w="med" len="med"/>
                        </a:lnT>
                        <a:blipFill>
                          <a:blip r:embed="rId5"/>
                          <a:stretch>
                            <a:fillRect l="-77985" t="-114286" r="-101119" b="-104286"/>
                          </a:stretch>
                        </a:blipFill>
                      </a:tcPr>
                    </a:tc>
                    <a:tc>
                      <a:txBody>
                        <a:bodyPr/>
                        <a:lstStyle/>
                        <a:p>
                          <a:endParaRPr lang="ja-JP"/>
                        </a:p>
                      </a:txBody>
                      <a:tcPr marL="68580" marR="68580" marT="0" marB="0" anchor="ctr">
                        <a:lnT w="12700" cap="flat" cmpd="sng" algn="ctr">
                          <a:solidFill>
                            <a:schemeClr val="tx1"/>
                          </a:solidFill>
                          <a:prstDash val="solid"/>
                          <a:round/>
                          <a:headEnd type="none" w="med" len="med"/>
                          <a:tailEnd type="none" w="med" len="med"/>
                        </a:lnT>
                        <a:blipFill>
                          <a:blip r:embed="rId5"/>
                          <a:stretch>
                            <a:fillRect l="-177323" t="-114286" r="-743" b="-104286"/>
                          </a:stretch>
                        </a:blipFill>
                      </a:tcPr>
                    </a:tc>
                    <a:extLst>
                      <a:ext uri="{0D108BD9-81ED-4DB2-BD59-A6C34878D82A}">
                        <a16:rowId xmlns:a16="http://schemas.microsoft.com/office/drawing/2014/main" val="10001"/>
                      </a:ext>
                    </a:extLst>
                  </a:tr>
                  <a:tr h="427338">
                    <a:tc>
                      <a:txBody>
                        <a:bodyPr/>
                        <a:lstStyle/>
                        <a:p>
                          <a:pPr algn="ctr">
                            <a:lnSpc>
                              <a:spcPts val="1100"/>
                            </a:lnSpc>
                            <a:spcBef>
                              <a:spcPts val="300"/>
                            </a:spcBef>
                            <a:spcAft>
                              <a:spcPts val="300"/>
                            </a:spcAft>
                          </a:pPr>
                          <a:r>
                            <a:rPr lang="en-US" sz="1800" kern="800" dirty="0">
                              <a:effectLst/>
                            </a:rPr>
                            <a:t>Vertical</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endParaRPr lang="ja-JP"/>
                        </a:p>
                      </a:txBody>
                      <a:tcPr marL="68580" marR="68580" marT="0" marB="0" anchor="ctr">
                        <a:lnB w="12700" cap="flat" cmpd="sng" algn="ctr">
                          <a:solidFill>
                            <a:schemeClr val="tx1"/>
                          </a:solidFill>
                          <a:prstDash val="solid"/>
                          <a:round/>
                          <a:headEnd type="none" w="med" len="med"/>
                          <a:tailEnd type="none" w="med" len="med"/>
                        </a:lnB>
                        <a:blipFill>
                          <a:blip r:embed="rId5"/>
                          <a:stretch>
                            <a:fillRect l="-77985" t="-211268" r="-101119" b="-2817"/>
                          </a:stretch>
                        </a:blipFill>
                      </a:tcPr>
                    </a:tc>
                    <a:tc>
                      <a:txBody>
                        <a:bodyPr/>
                        <a:lstStyle/>
                        <a:p>
                          <a:endParaRPr lang="ja-JP"/>
                        </a:p>
                      </a:txBody>
                      <a:tcPr marL="68580" marR="68580" marT="0" marB="0" anchor="ctr">
                        <a:lnB w="12700" cap="flat" cmpd="sng" algn="ctr">
                          <a:solidFill>
                            <a:schemeClr val="tx1"/>
                          </a:solidFill>
                          <a:prstDash val="solid"/>
                          <a:round/>
                          <a:headEnd type="none" w="med" len="med"/>
                          <a:tailEnd type="none" w="med" len="med"/>
                        </a:lnB>
                        <a:blipFill>
                          <a:blip r:embed="rId5"/>
                          <a:stretch>
                            <a:fillRect l="-177323" t="-211268" r="-743" b="-2817"/>
                          </a:stretch>
                        </a:blipFill>
                      </a:tcPr>
                    </a:tc>
                    <a:extLst>
                      <a:ext uri="{0D108BD9-81ED-4DB2-BD59-A6C34878D82A}">
                        <a16:rowId xmlns:a16="http://schemas.microsoft.com/office/drawing/2014/main" val="10002"/>
                      </a:ext>
                    </a:extLst>
                  </a:tr>
                </a:tbl>
              </a:graphicData>
            </a:graphic>
          </p:graphicFrame>
        </mc:Fallback>
      </mc:AlternateContent>
      <p:sp>
        <p:nvSpPr>
          <p:cNvPr id="51" name="テキスト ボックス 50"/>
          <p:cNvSpPr txBox="1"/>
          <p:nvPr/>
        </p:nvSpPr>
        <p:spPr>
          <a:xfrm>
            <a:off x="2956009" y="5135055"/>
            <a:ext cx="3595814" cy="369332"/>
          </a:xfrm>
          <a:prstGeom prst="rect">
            <a:avLst/>
          </a:prstGeom>
          <a:noFill/>
        </p:spPr>
        <p:txBody>
          <a:bodyPr wrap="square" rtlCol="0">
            <a:spAutoFit/>
          </a:bodyPr>
          <a:lstStyle/>
          <a:p>
            <a:pPr algn="ctr"/>
            <a:r>
              <a:rPr lang="ja-JP" altLang="en-US" dirty="0"/>
              <a:t>入射ビームの位相空間情報</a:t>
            </a:r>
            <a:endParaRPr kumimoji="1" lang="ja-JP" altLang="en-US" dirty="0"/>
          </a:p>
        </p:txBody>
      </p:sp>
      <p:sp>
        <p:nvSpPr>
          <p:cNvPr id="2" name="スライド番号プレースホルダー 1"/>
          <p:cNvSpPr>
            <a:spLocks noGrp="1"/>
          </p:cNvSpPr>
          <p:nvPr>
            <p:ph type="sldNum" sz="quarter" idx="12"/>
          </p:nvPr>
        </p:nvSpPr>
        <p:spPr/>
        <p:txBody>
          <a:bodyPr/>
          <a:lstStyle/>
          <a:p>
            <a:fld id="{26B42C4F-1ABF-421A-9D5F-F691A5F6974A}" type="slidenum">
              <a:rPr kumimoji="1" lang="ja-JP" altLang="en-US" smtClean="0"/>
              <a:t>8</a:t>
            </a:fld>
            <a:endParaRPr kumimoji="1" lang="ja-JP" altLang="en-US"/>
          </a:p>
        </p:txBody>
      </p:sp>
    </p:spTree>
    <p:extLst>
      <p:ext uri="{BB962C8B-B14F-4D97-AF65-F5344CB8AC3E}">
        <p14:creationId xmlns:p14="http://schemas.microsoft.com/office/powerpoint/2010/main" val="2081838676"/>
      </p:ext>
    </p:extLst>
  </p:cSld>
  <p:clrMapOvr>
    <a:masterClrMapping/>
  </p:clrMapOvr>
  <mc:AlternateContent xmlns:mc="http://schemas.openxmlformats.org/markup-compatibility/2006" xmlns:p14="http://schemas.microsoft.com/office/powerpoint/2010/main">
    <mc:Choice Requires="p14">
      <p:transition spd="slow" p14:dur="2000" advTm="51486"/>
    </mc:Choice>
    <mc:Fallback xmlns="">
      <p:transition spd="slow" advTm="5148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0" y="0"/>
            <a:ext cx="5575300" cy="646331"/>
          </a:xfrm>
          <a:prstGeom prst="rect">
            <a:avLst/>
          </a:prstGeom>
          <a:noFill/>
        </p:spPr>
        <p:txBody>
          <a:bodyPr wrap="square" rtlCol="0" anchor="ctr">
            <a:spAutoFit/>
          </a:bodyPr>
          <a:lstStyle/>
          <a:p>
            <a:r>
              <a:rPr lang="en-US" altLang="ja-JP" sz="3600" dirty="0">
                <a:solidFill>
                  <a:schemeClr val="accent1">
                    <a:lumMod val="75000"/>
                  </a:schemeClr>
                </a:solidFill>
              </a:rPr>
              <a:t>2-2</a:t>
            </a:r>
            <a:r>
              <a:rPr lang="ja-JP" altLang="en-US" sz="3600" dirty="0">
                <a:solidFill>
                  <a:schemeClr val="accent1">
                    <a:lumMod val="75000"/>
                  </a:schemeClr>
                </a:solidFill>
              </a:rPr>
              <a:t>　入射ビームの測定</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p:cNvSpPr/>
          <p:nvPr/>
        </p:nvSpPr>
        <p:spPr>
          <a:xfrm>
            <a:off x="-4659" y="727399"/>
            <a:ext cx="4745210" cy="523220"/>
          </a:xfrm>
          <a:prstGeom prst="rect">
            <a:avLst/>
          </a:prstGeom>
        </p:spPr>
        <p:txBody>
          <a:bodyPr wrap="none">
            <a:spAutoFit/>
          </a:bodyPr>
          <a:lstStyle/>
          <a:p>
            <a:r>
              <a:rPr lang="ja-JP" altLang="en-US" sz="2800" dirty="0"/>
              <a:t>入射点でのビームの位置関係</a:t>
            </a:r>
            <a:endParaRPr lang="en-US" altLang="ja-JP" sz="2800" dirty="0"/>
          </a:p>
        </p:txBody>
      </p:sp>
      <p:sp>
        <p:nvSpPr>
          <p:cNvPr id="49" name="テキスト ボックス 48"/>
          <p:cNvSpPr txBox="1"/>
          <p:nvPr/>
        </p:nvSpPr>
        <p:spPr>
          <a:xfrm>
            <a:off x="123739" y="1282516"/>
            <a:ext cx="8820000" cy="400110"/>
          </a:xfrm>
          <a:prstGeom prst="rect">
            <a:avLst/>
          </a:prstGeom>
          <a:noFill/>
        </p:spPr>
        <p:txBody>
          <a:bodyPr wrap="square" rtlCol="0">
            <a:spAutoFit/>
          </a:bodyPr>
          <a:lstStyle/>
          <a:p>
            <a:pPr algn="just"/>
            <a:r>
              <a:rPr lang="ja-JP" altLang="en-US" sz="2000" dirty="0"/>
              <a:t>入射ビームの位置を蓄積ビームとの相対座標になおす</a:t>
            </a:r>
            <a:endParaRPr lang="en-US" altLang="ja-JP" sz="2000" dirty="0"/>
          </a:p>
        </p:txBody>
      </p:sp>
      <mc:AlternateContent xmlns:mc="http://schemas.openxmlformats.org/markup-compatibility/2006" xmlns:a14="http://schemas.microsoft.com/office/drawing/2010/main">
        <mc:Choice Requires="a14">
          <p:graphicFrame>
            <p:nvGraphicFramePr>
              <p:cNvPr id="36" name="表 35"/>
              <p:cNvGraphicFramePr>
                <a:graphicFrameLocks noGrp="1"/>
              </p:cNvGraphicFramePr>
              <p:nvPr>
                <p:extLst>
                  <p:ext uri="{D42A27DB-BD31-4B8C-83A1-F6EECF244321}">
                    <p14:modId xmlns:p14="http://schemas.microsoft.com/office/powerpoint/2010/main" val="2701096805"/>
                  </p:ext>
                </p:extLst>
              </p:nvPr>
            </p:nvGraphicFramePr>
            <p:xfrm>
              <a:off x="5101016" y="4235852"/>
              <a:ext cx="3971168" cy="1552771"/>
            </p:xfrm>
            <a:graphic>
              <a:graphicData uri="http://schemas.openxmlformats.org/drawingml/2006/table">
                <a:tbl>
                  <a:tblPr>
                    <a:tableStyleId>{5C22544A-7EE6-4342-B048-85BDC9FD1C3A}</a:tableStyleId>
                  </a:tblPr>
                  <a:tblGrid>
                    <a:gridCol w="1108070">
                      <a:extLst>
                        <a:ext uri="{9D8B030D-6E8A-4147-A177-3AD203B41FA5}">
                          <a16:colId xmlns="" xmlns:a16="http://schemas.microsoft.com/office/drawing/2014/main" val="20000"/>
                        </a:ext>
                      </a:extLst>
                    </a:gridCol>
                    <a:gridCol w="1431549">
                      <a:extLst>
                        <a:ext uri="{9D8B030D-6E8A-4147-A177-3AD203B41FA5}">
                          <a16:colId xmlns="" xmlns:a16="http://schemas.microsoft.com/office/drawing/2014/main" val="20001"/>
                        </a:ext>
                      </a:extLst>
                    </a:gridCol>
                    <a:gridCol w="1431549">
                      <a:extLst>
                        <a:ext uri="{9D8B030D-6E8A-4147-A177-3AD203B41FA5}">
                          <a16:colId xmlns="" xmlns:a16="http://schemas.microsoft.com/office/drawing/2014/main" val="20002"/>
                        </a:ext>
                      </a:extLst>
                    </a:gridCol>
                  </a:tblGrid>
                  <a:tr h="523637">
                    <a:tc>
                      <a:txBody>
                        <a:bodyPr/>
                        <a:lstStyle/>
                        <a:p>
                          <a:pPr algn="ctr">
                            <a:lnSpc>
                              <a:spcPts val="1100"/>
                            </a:lnSpc>
                            <a:spcBef>
                              <a:spcPts val="300"/>
                            </a:spcBef>
                            <a:spcAft>
                              <a:spcPts val="300"/>
                            </a:spcAft>
                          </a:pP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800" kern="800" dirty="0">
                              <a:effectLst/>
                            </a:rPr>
                            <a:t>position[mm]</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800" kern="800" dirty="0">
                              <a:effectLst/>
                            </a:rPr>
                            <a:t>angle[mrad]</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514567">
                    <a:tc>
                      <a:txBody>
                        <a:bodyPr/>
                        <a:lstStyle/>
                        <a:p>
                          <a:pPr algn="ctr">
                            <a:lnSpc>
                              <a:spcPts val="1100"/>
                            </a:lnSpc>
                            <a:spcBef>
                              <a:spcPts val="300"/>
                            </a:spcBef>
                            <a:spcAft>
                              <a:spcPts val="300"/>
                            </a:spcAft>
                          </a:pPr>
                          <a:r>
                            <a:rPr lang="en-US" sz="1800" kern="800">
                              <a:effectLst/>
                            </a:rPr>
                            <a:t>Horizontal</a:t>
                          </a:r>
                          <a:endParaRPr lang="ja-JP" sz="20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r>
                                  <a:rPr lang="en-US" sz="1800" kern="800">
                                    <a:effectLst/>
                                    <a:latin typeface="Cambria Math" panose="02040503050406030204" pitchFamily="18" charset="0"/>
                                  </a:rPr>
                                  <m:t>30.5±3.2</m:t>
                                </m:r>
                              </m:oMath>
                            </m:oMathPara>
                          </a14:m>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r>
                                  <a:rPr lang="en-US" sz="1800" kern="800">
                                    <a:effectLst/>
                                    <a:latin typeface="Cambria Math" panose="02040503050406030204" pitchFamily="18" charset="0"/>
                                  </a:rPr>
                                  <m:t>3.11±0.42</m:t>
                                </m:r>
                              </m:oMath>
                            </m:oMathPara>
                          </a14:m>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1"/>
                      </a:ext>
                    </a:extLst>
                  </a:tr>
                  <a:tr h="514567">
                    <a:tc>
                      <a:txBody>
                        <a:bodyPr/>
                        <a:lstStyle/>
                        <a:p>
                          <a:pPr algn="ctr">
                            <a:lnSpc>
                              <a:spcPts val="1100"/>
                            </a:lnSpc>
                            <a:spcBef>
                              <a:spcPts val="300"/>
                            </a:spcBef>
                            <a:spcAft>
                              <a:spcPts val="300"/>
                            </a:spcAft>
                          </a:pPr>
                          <a:r>
                            <a:rPr lang="en-US" sz="1800" kern="800" dirty="0">
                              <a:effectLst/>
                            </a:rPr>
                            <a:t>Vertical</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r>
                                  <a:rPr lang="en-US" sz="1800" kern="800">
                                    <a:effectLst/>
                                    <a:latin typeface="Cambria Math" panose="02040503050406030204" pitchFamily="18" charset="0"/>
                                  </a:rPr>
                                  <m:t>0.06±0.23</m:t>
                                </m:r>
                              </m:oMath>
                            </m:oMathPara>
                          </a14:m>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ts val="1100"/>
                            </a:lnSpc>
                            <a:spcBef>
                              <a:spcPts val="3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r>
                                  <a:rPr lang="en-US" sz="1800" kern="800">
                                    <a:effectLst/>
                                    <a:latin typeface="Cambria Math" panose="02040503050406030204" pitchFamily="18" charset="0"/>
                                  </a:rPr>
                                  <m:t>1.02</m:t>
                                </m:r>
                                <m:r>
                                  <m:rPr>
                                    <m:nor/>
                                  </m:rPr>
                                  <a:rPr lang="en-US" altLang="ja-JP" sz="1800" kern="800" dirty="0" smtClean="0">
                                    <a:effectLst/>
                                  </a:rPr>
                                  <m:t> </m:t>
                                </m:r>
                                <m:r>
                                  <a:rPr lang="en-US" sz="1800" kern="800">
                                    <a:effectLst/>
                                    <a:latin typeface="Cambria Math" panose="02040503050406030204" pitchFamily="18" charset="0"/>
                                  </a:rPr>
                                  <m:t>±0.23</m:t>
                                </m:r>
                              </m:oMath>
                            </m:oMathPara>
                          </a14:m>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bl>
              </a:graphicData>
            </a:graphic>
          </p:graphicFrame>
        </mc:Choice>
        <mc:Fallback xmlns="">
          <p:graphicFrame>
            <p:nvGraphicFramePr>
              <p:cNvPr id="36" name="表 35"/>
              <p:cNvGraphicFramePr>
                <a:graphicFrameLocks noGrp="1"/>
              </p:cNvGraphicFramePr>
              <p:nvPr>
                <p:extLst>
                  <p:ext uri="{D42A27DB-BD31-4B8C-83A1-F6EECF244321}">
                    <p14:modId xmlns:p14="http://schemas.microsoft.com/office/powerpoint/2010/main" val="2701096805"/>
                  </p:ext>
                </p:extLst>
              </p:nvPr>
            </p:nvGraphicFramePr>
            <p:xfrm>
              <a:off x="5101016" y="4235852"/>
              <a:ext cx="3971168" cy="1552771"/>
            </p:xfrm>
            <a:graphic>
              <a:graphicData uri="http://schemas.openxmlformats.org/drawingml/2006/table">
                <a:tbl>
                  <a:tblPr>
                    <a:tableStyleId>{5C22544A-7EE6-4342-B048-85BDC9FD1C3A}</a:tableStyleId>
                  </a:tblPr>
                  <a:tblGrid>
                    <a:gridCol w="1108070"/>
                    <a:gridCol w="1431549"/>
                    <a:gridCol w="1431549"/>
                  </a:tblGrid>
                  <a:tr h="523637">
                    <a:tc>
                      <a:txBody>
                        <a:bodyPr/>
                        <a:lstStyle/>
                        <a:p>
                          <a:pPr algn="ctr">
                            <a:lnSpc>
                              <a:spcPts val="1100"/>
                            </a:lnSpc>
                            <a:spcBef>
                              <a:spcPts val="300"/>
                            </a:spcBef>
                            <a:spcAft>
                              <a:spcPts val="300"/>
                            </a:spcAft>
                          </a:pP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800" kern="800" dirty="0">
                              <a:effectLst/>
                            </a:rPr>
                            <a:t>position[mm]</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800" kern="800" dirty="0">
                              <a:effectLst/>
                            </a:rPr>
                            <a:t>angle[mrad]</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14567">
                    <a:tc>
                      <a:txBody>
                        <a:bodyPr/>
                        <a:lstStyle/>
                        <a:p>
                          <a:pPr algn="ctr">
                            <a:lnSpc>
                              <a:spcPts val="1100"/>
                            </a:lnSpc>
                            <a:spcBef>
                              <a:spcPts val="300"/>
                            </a:spcBef>
                            <a:spcAft>
                              <a:spcPts val="300"/>
                            </a:spcAft>
                          </a:pPr>
                          <a:r>
                            <a:rPr lang="en-US" sz="1800" kern="800">
                              <a:effectLst/>
                            </a:rPr>
                            <a:t>Horizontal</a:t>
                          </a:r>
                          <a:endParaRPr lang="ja-JP" sz="20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endParaRPr lang="ja-JP"/>
                        </a:p>
                      </a:txBody>
                      <a:tcPr marL="68580" marR="68580" marT="0" marB="0" anchor="ctr">
                        <a:lnT w="12700" cap="flat" cmpd="sng" algn="ctr">
                          <a:solidFill>
                            <a:schemeClr val="tx1"/>
                          </a:solidFill>
                          <a:prstDash val="solid"/>
                          <a:round/>
                          <a:headEnd type="none" w="med" len="med"/>
                          <a:tailEnd type="none" w="med" len="med"/>
                        </a:lnT>
                        <a:blipFill rotWithShape="0">
                          <a:blip r:embed="rId3"/>
                          <a:stretch>
                            <a:fillRect l="-77542" t="-102353" r="-100424" b="-102353"/>
                          </a:stretch>
                        </a:blipFill>
                      </a:tcPr>
                    </a:tc>
                    <a:tc>
                      <a:txBody>
                        <a:bodyPr/>
                        <a:lstStyle/>
                        <a:p>
                          <a:endParaRPr lang="ja-JP"/>
                        </a:p>
                      </a:txBody>
                      <a:tcPr marL="68580" marR="68580" marT="0" marB="0" anchor="ctr">
                        <a:lnT w="12700" cap="flat" cmpd="sng" algn="ctr">
                          <a:solidFill>
                            <a:schemeClr val="tx1"/>
                          </a:solidFill>
                          <a:prstDash val="solid"/>
                          <a:round/>
                          <a:headEnd type="none" w="med" len="med"/>
                          <a:tailEnd type="none" w="med" len="med"/>
                        </a:lnT>
                        <a:blipFill rotWithShape="0">
                          <a:blip r:embed="rId3"/>
                          <a:stretch>
                            <a:fillRect l="-178298" t="-102353" r="-851" b="-102353"/>
                          </a:stretch>
                        </a:blipFill>
                      </a:tcPr>
                    </a:tc>
                  </a:tr>
                  <a:tr h="514567">
                    <a:tc>
                      <a:txBody>
                        <a:bodyPr/>
                        <a:lstStyle/>
                        <a:p>
                          <a:pPr algn="ctr">
                            <a:lnSpc>
                              <a:spcPts val="1100"/>
                            </a:lnSpc>
                            <a:spcBef>
                              <a:spcPts val="300"/>
                            </a:spcBef>
                            <a:spcAft>
                              <a:spcPts val="300"/>
                            </a:spcAft>
                          </a:pPr>
                          <a:r>
                            <a:rPr lang="en-US" sz="1800" kern="800" dirty="0">
                              <a:effectLst/>
                            </a:rPr>
                            <a:t>Vertical</a:t>
                          </a:r>
                          <a:endParaRPr lang="ja-JP" sz="20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endParaRPr lang="ja-JP"/>
                        </a:p>
                      </a:txBody>
                      <a:tcPr marL="68580" marR="68580" marT="0" marB="0" anchor="ctr">
                        <a:lnB w="12700" cap="flat" cmpd="sng" algn="ctr">
                          <a:solidFill>
                            <a:schemeClr val="tx1"/>
                          </a:solidFill>
                          <a:prstDash val="solid"/>
                          <a:round/>
                          <a:headEnd type="none" w="med" len="med"/>
                          <a:tailEnd type="none" w="med" len="med"/>
                        </a:lnB>
                        <a:blipFill rotWithShape="0">
                          <a:blip r:embed="rId3"/>
                          <a:stretch>
                            <a:fillRect l="-77542" t="-202353" r="-100424" b="-2353"/>
                          </a:stretch>
                        </a:blipFill>
                      </a:tcPr>
                    </a:tc>
                    <a:tc>
                      <a:txBody>
                        <a:bodyPr/>
                        <a:lstStyle/>
                        <a:p>
                          <a:endParaRPr lang="ja-JP"/>
                        </a:p>
                      </a:txBody>
                      <a:tcPr marL="68580" marR="68580" marT="0" marB="0" anchor="ctr">
                        <a:lnB w="12700" cap="flat" cmpd="sng" algn="ctr">
                          <a:solidFill>
                            <a:schemeClr val="tx1"/>
                          </a:solidFill>
                          <a:prstDash val="solid"/>
                          <a:round/>
                          <a:headEnd type="none" w="med" len="med"/>
                          <a:tailEnd type="none" w="med" len="med"/>
                        </a:lnB>
                        <a:blipFill rotWithShape="0">
                          <a:blip r:embed="rId3"/>
                          <a:stretch>
                            <a:fillRect l="-178298" t="-202353" r="-851" b="-2353"/>
                          </a:stretch>
                        </a:blipFill>
                      </a:tcPr>
                    </a:tc>
                  </a:tr>
                </a:tbl>
              </a:graphicData>
            </a:graphic>
          </p:graphicFrame>
        </mc:Fallback>
      </mc:AlternateContent>
      <p:sp>
        <p:nvSpPr>
          <p:cNvPr id="37" name="テキスト ボックス 36"/>
          <p:cNvSpPr txBox="1"/>
          <p:nvPr/>
        </p:nvSpPr>
        <p:spPr>
          <a:xfrm>
            <a:off x="158869" y="6022582"/>
            <a:ext cx="8820000" cy="707886"/>
          </a:xfrm>
          <a:prstGeom prst="rect">
            <a:avLst/>
          </a:prstGeom>
          <a:noFill/>
        </p:spPr>
        <p:txBody>
          <a:bodyPr wrap="square" rtlCol="0">
            <a:spAutoFit/>
          </a:bodyPr>
          <a:lstStyle/>
          <a:p>
            <a:pPr marL="342900" indent="-342900" algn="just">
              <a:buFont typeface="Arial" panose="020B0604020202020204" pitchFamily="34" charset="0"/>
              <a:buChar char="•"/>
            </a:pPr>
            <a:r>
              <a:rPr lang="ja-JP" altLang="en-US" sz="2000" dirty="0"/>
              <a:t>測量結果とビームベース測定の結果は一致。</a:t>
            </a:r>
            <a:endParaRPr lang="en-US" altLang="ja-JP" sz="2000" dirty="0"/>
          </a:p>
          <a:p>
            <a:pPr marL="342900" indent="-342900" algn="just">
              <a:buFont typeface="Arial" panose="020B0604020202020204" pitchFamily="34" charset="0"/>
              <a:buChar char="•"/>
            </a:pPr>
            <a:r>
              <a:rPr lang="ja-JP" altLang="en-US" sz="2000" dirty="0"/>
              <a:t>水平方向の計算値 </a:t>
            </a:r>
            <a:r>
              <a:rPr lang="en-US" altLang="ja-JP" sz="2000" dirty="0"/>
              <a:t>(27 mm</a:t>
            </a:r>
            <a:r>
              <a:rPr lang="ja-JP" altLang="en-US" sz="2000" dirty="0" err="1"/>
              <a:t>、</a:t>
            </a:r>
            <a:r>
              <a:rPr lang="en-US" altLang="ja-JP" sz="2000" dirty="0"/>
              <a:t> 2.4 mrad)</a:t>
            </a:r>
            <a:r>
              <a:rPr lang="ja-JP" altLang="en-US" sz="2000" dirty="0"/>
              <a:t>からずれの傾向を確認。</a:t>
            </a:r>
            <a:endParaRPr lang="en-US" altLang="ja-JP" sz="2000" dirty="0"/>
          </a:p>
        </p:txBody>
      </p:sp>
      <p:sp>
        <p:nvSpPr>
          <p:cNvPr id="38" name="テキスト ボックス 37"/>
          <p:cNvSpPr txBox="1"/>
          <p:nvPr/>
        </p:nvSpPr>
        <p:spPr>
          <a:xfrm>
            <a:off x="5288693" y="3875162"/>
            <a:ext cx="3595814" cy="369332"/>
          </a:xfrm>
          <a:prstGeom prst="rect">
            <a:avLst/>
          </a:prstGeom>
          <a:noFill/>
        </p:spPr>
        <p:txBody>
          <a:bodyPr wrap="square" rtlCol="0">
            <a:spAutoFit/>
          </a:bodyPr>
          <a:lstStyle/>
          <a:p>
            <a:pPr algn="ctr"/>
            <a:r>
              <a:rPr lang="ja-JP" altLang="en-US" dirty="0"/>
              <a:t>中心軌道との相対座標</a:t>
            </a:r>
            <a:endParaRPr kumimoji="1" lang="ja-JP" altLang="en-US" dirty="0"/>
          </a:p>
        </p:txBody>
      </p:sp>
      <p:cxnSp>
        <p:nvCxnSpPr>
          <p:cNvPr id="17" name="直線矢印コネクタ 16"/>
          <p:cNvCxnSpPr/>
          <p:nvPr/>
        </p:nvCxnSpPr>
        <p:spPr>
          <a:xfrm flipV="1">
            <a:off x="1588116" y="1985269"/>
            <a:ext cx="0" cy="13340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p:nvPr/>
        </p:nvCxnSpPr>
        <p:spPr>
          <a:xfrm flipV="1">
            <a:off x="1120596" y="2652306"/>
            <a:ext cx="360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1610862" y="2708863"/>
            <a:ext cx="1474915" cy="584775"/>
          </a:xfrm>
          <a:prstGeom prst="rect">
            <a:avLst/>
          </a:prstGeom>
          <a:noFill/>
        </p:spPr>
        <p:txBody>
          <a:bodyPr wrap="square" rtlCol="0">
            <a:spAutoFit/>
          </a:bodyPr>
          <a:lstStyle/>
          <a:p>
            <a:r>
              <a:rPr lang="en-US" altLang="ja-JP" sz="1600" dirty="0">
                <a:latin typeface="+mn-ea"/>
              </a:rPr>
              <a:t>Injection Bump</a:t>
            </a:r>
          </a:p>
          <a:p>
            <a:r>
              <a:rPr lang="en-US" altLang="ja-JP" sz="1600" dirty="0">
                <a:latin typeface="+mn-ea"/>
              </a:rPr>
              <a:t>19</a:t>
            </a:r>
            <a:r>
              <a:rPr kumimoji="1" lang="en-US" altLang="ja-JP" sz="1600" dirty="0">
                <a:latin typeface="+mn-ea"/>
              </a:rPr>
              <a:t>mm</a:t>
            </a:r>
            <a:endParaRPr kumimoji="1" lang="ja-JP" altLang="en-US" sz="1600" dirty="0">
              <a:latin typeface="+mn-ea"/>
            </a:endParaRPr>
          </a:p>
        </p:txBody>
      </p:sp>
      <p:sp>
        <p:nvSpPr>
          <p:cNvPr id="20" name="円/楕円 19"/>
          <p:cNvSpPr/>
          <p:nvPr/>
        </p:nvSpPr>
        <p:spPr>
          <a:xfrm>
            <a:off x="3542740" y="2526306"/>
            <a:ext cx="900000" cy="252000"/>
          </a:xfrm>
          <a:prstGeom prst="ellipse">
            <a:avLst/>
          </a:prstGeom>
          <a:solidFill>
            <a:schemeClr val="accent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p:nvSpPr>
        <p:spPr>
          <a:xfrm>
            <a:off x="2771777" y="2589285"/>
            <a:ext cx="273004" cy="126000"/>
          </a:xfrm>
          <a:prstGeom prst="ellipse">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p:cNvSpPr/>
          <p:nvPr/>
        </p:nvSpPr>
        <p:spPr>
          <a:xfrm>
            <a:off x="1460922" y="2589306"/>
            <a:ext cx="273004" cy="126000"/>
          </a:xfrm>
          <a:prstGeom prst="ellipse">
            <a:avLst/>
          </a:pr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矢印コネクタ 22"/>
          <p:cNvCxnSpPr/>
          <p:nvPr/>
        </p:nvCxnSpPr>
        <p:spPr>
          <a:xfrm flipV="1">
            <a:off x="1751122" y="2652285"/>
            <a:ext cx="1037501" cy="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62244" y="2656963"/>
            <a:ext cx="1309616" cy="338554"/>
          </a:xfrm>
          <a:prstGeom prst="rect">
            <a:avLst/>
          </a:prstGeom>
          <a:noFill/>
        </p:spPr>
        <p:txBody>
          <a:bodyPr wrap="square" rtlCol="0">
            <a:spAutoFit/>
          </a:bodyPr>
          <a:lstStyle/>
          <a:p>
            <a:pPr algn="ctr"/>
            <a:r>
              <a:rPr kumimoji="1" lang="en-US" altLang="ja-JP" sz="1600" dirty="0">
                <a:latin typeface="+mn-ea"/>
              </a:rPr>
              <a:t>Stored Beam</a:t>
            </a:r>
            <a:endParaRPr kumimoji="1" lang="ja-JP" altLang="en-US" sz="1600" dirty="0">
              <a:latin typeface="+mn-ea"/>
            </a:endParaRPr>
          </a:p>
        </p:txBody>
      </p:sp>
      <p:sp>
        <p:nvSpPr>
          <p:cNvPr id="25" name="テキスト ボックス 24"/>
          <p:cNvSpPr txBox="1"/>
          <p:nvPr/>
        </p:nvSpPr>
        <p:spPr>
          <a:xfrm>
            <a:off x="3425760" y="2170697"/>
            <a:ext cx="1427647" cy="338554"/>
          </a:xfrm>
          <a:prstGeom prst="rect">
            <a:avLst/>
          </a:prstGeom>
          <a:noFill/>
        </p:spPr>
        <p:txBody>
          <a:bodyPr wrap="square" rtlCol="0">
            <a:spAutoFit/>
          </a:bodyPr>
          <a:lstStyle/>
          <a:p>
            <a:pPr algn="ctr"/>
            <a:r>
              <a:rPr kumimoji="1" lang="en-US" altLang="ja-JP" sz="1600" dirty="0">
                <a:latin typeface="+mn-ea"/>
              </a:rPr>
              <a:t>Injected Beam</a:t>
            </a:r>
          </a:p>
        </p:txBody>
      </p:sp>
      <p:cxnSp>
        <p:nvCxnSpPr>
          <p:cNvPr id="26" name="直線矢印コネクタ 25"/>
          <p:cNvCxnSpPr/>
          <p:nvPr/>
        </p:nvCxnSpPr>
        <p:spPr>
          <a:xfrm>
            <a:off x="1584123" y="2396983"/>
            <a:ext cx="15120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p:cNvSpPr txBox="1"/>
          <p:nvPr/>
        </p:nvSpPr>
        <p:spPr>
          <a:xfrm>
            <a:off x="1919828" y="2078739"/>
            <a:ext cx="840590" cy="338554"/>
          </a:xfrm>
          <a:prstGeom prst="rect">
            <a:avLst/>
          </a:prstGeom>
          <a:noFill/>
        </p:spPr>
        <p:txBody>
          <a:bodyPr wrap="square" rtlCol="0">
            <a:spAutoFit/>
          </a:bodyPr>
          <a:lstStyle/>
          <a:p>
            <a:pPr algn="ctr"/>
            <a:r>
              <a:rPr kumimoji="1" lang="en-US" altLang="ja-JP" sz="1600" dirty="0">
                <a:latin typeface="+mn-ea"/>
              </a:rPr>
              <a:t>21mm</a:t>
            </a:r>
            <a:endParaRPr kumimoji="1" lang="ja-JP" altLang="en-US" sz="1600" dirty="0">
              <a:latin typeface="+mn-ea"/>
            </a:endParaRPr>
          </a:p>
        </p:txBody>
      </p:sp>
      <p:sp>
        <p:nvSpPr>
          <p:cNvPr id="28" name="テキスト ボックス 27"/>
          <p:cNvSpPr txBox="1"/>
          <p:nvPr/>
        </p:nvSpPr>
        <p:spPr>
          <a:xfrm>
            <a:off x="2781906" y="3402851"/>
            <a:ext cx="998380" cy="338554"/>
          </a:xfrm>
          <a:prstGeom prst="rect">
            <a:avLst/>
          </a:prstGeom>
          <a:noFill/>
        </p:spPr>
        <p:txBody>
          <a:bodyPr wrap="square" rtlCol="0">
            <a:spAutoFit/>
          </a:bodyPr>
          <a:lstStyle/>
          <a:p>
            <a:pPr algn="ctr"/>
            <a:r>
              <a:rPr lang="ja-JP" altLang="en-US" sz="1600" dirty="0">
                <a:latin typeface="+mn-ea"/>
              </a:rPr>
              <a:t>～</a:t>
            </a:r>
            <a:r>
              <a:rPr lang="en-US" altLang="ja-JP" sz="1600" dirty="0">
                <a:latin typeface="+mn-ea"/>
              </a:rPr>
              <a:t>5</a:t>
            </a:r>
            <a:r>
              <a:rPr kumimoji="1" lang="en-US" altLang="ja-JP" sz="1600" dirty="0">
                <a:latin typeface="+mn-ea"/>
              </a:rPr>
              <a:t>mm</a:t>
            </a:r>
            <a:endParaRPr kumimoji="1" lang="ja-JP" altLang="en-US" sz="1600" dirty="0">
              <a:latin typeface="+mn-ea"/>
            </a:endParaRPr>
          </a:p>
        </p:txBody>
      </p:sp>
      <p:sp>
        <p:nvSpPr>
          <p:cNvPr id="29" name="正方形/長方形 28"/>
          <p:cNvSpPr/>
          <p:nvPr/>
        </p:nvSpPr>
        <p:spPr>
          <a:xfrm>
            <a:off x="2671323" y="1685616"/>
            <a:ext cx="1237839" cy="338554"/>
          </a:xfrm>
          <a:prstGeom prst="rect">
            <a:avLst/>
          </a:prstGeom>
        </p:spPr>
        <p:txBody>
          <a:bodyPr wrap="none">
            <a:spAutoFit/>
          </a:bodyPr>
          <a:lstStyle/>
          <a:p>
            <a:pPr algn="ctr"/>
            <a:r>
              <a:rPr lang="en-US" altLang="ja-JP" sz="1600" dirty="0">
                <a:latin typeface="+mn-ea"/>
              </a:rPr>
              <a:t>Septum Wall</a:t>
            </a:r>
          </a:p>
        </p:txBody>
      </p:sp>
      <p:sp>
        <p:nvSpPr>
          <p:cNvPr id="30" name="正方形/長方形 29"/>
          <p:cNvSpPr/>
          <p:nvPr/>
        </p:nvSpPr>
        <p:spPr>
          <a:xfrm>
            <a:off x="4713756" y="2483008"/>
            <a:ext cx="308098" cy="338554"/>
          </a:xfrm>
          <a:prstGeom prst="rect">
            <a:avLst/>
          </a:prstGeom>
        </p:spPr>
        <p:txBody>
          <a:bodyPr wrap="none">
            <a:spAutoFit/>
          </a:bodyPr>
          <a:lstStyle/>
          <a:p>
            <a:pPr algn="ctr"/>
            <a:r>
              <a:rPr lang="en-US" altLang="ja-JP" sz="1600" dirty="0">
                <a:latin typeface="+mn-ea"/>
              </a:rPr>
              <a:t>X</a:t>
            </a:r>
          </a:p>
        </p:txBody>
      </p:sp>
      <p:sp>
        <p:nvSpPr>
          <p:cNvPr id="31" name="正方形/長方形 30"/>
          <p:cNvSpPr/>
          <p:nvPr/>
        </p:nvSpPr>
        <p:spPr>
          <a:xfrm>
            <a:off x="1448512" y="1671526"/>
            <a:ext cx="306495" cy="338554"/>
          </a:xfrm>
          <a:prstGeom prst="rect">
            <a:avLst/>
          </a:prstGeom>
        </p:spPr>
        <p:txBody>
          <a:bodyPr wrap="none">
            <a:spAutoFit/>
          </a:bodyPr>
          <a:lstStyle/>
          <a:p>
            <a:pPr algn="ctr"/>
            <a:r>
              <a:rPr lang="en-US" altLang="ja-JP" sz="1600" dirty="0">
                <a:latin typeface="+mn-ea"/>
              </a:rPr>
              <a:t>Y</a:t>
            </a:r>
          </a:p>
        </p:txBody>
      </p:sp>
      <p:sp>
        <p:nvSpPr>
          <p:cNvPr id="32" name="正方形/長方形 31"/>
          <p:cNvSpPr/>
          <p:nvPr/>
        </p:nvSpPr>
        <p:spPr>
          <a:xfrm>
            <a:off x="3093997" y="2014527"/>
            <a:ext cx="360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矢印コネクタ 32"/>
          <p:cNvCxnSpPr/>
          <p:nvPr/>
        </p:nvCxnSpPr>
        <p:spPr>
          <a:xfrm>
            <a:off x="3096123" y="3347217"/>
            <a:ext cx="3600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p:cNvCxnSpPr/>
          <p:nvPr/>
        </p:nvCxnSpPr>
        <p:spPr>
          <a:xfrm>
            <a:off x="2876878" y="2656543"/>
            <a:ext cx="11520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3408382" y="2716213"/>
            <a:ext cx="1405686" cy="584775"/>
          </a:xfrm>
          <a:prstGeom prst="rect">
            <a:avLst/>
          </a:prstGeom>
          <a:noFill/>
        </p:spPr>
        <p:txBody>
          <a:bodyPr wrap="square" rtlCol="0">
            <a:spAutoFit/>
          </a:bodyPr>
          <a:lstStyle/>
          <a:p>
            <a:r>
              <a:rPr lang="en-US" altLang="ja-JP" sz="1600" dirty="0">
                <a:latin typeface="+mn-ea"/>
              </a:rPr>
              <a:t>Initial Amplitude</a:t>
            </a:r>
          </a:p>
        </p:txBody>
      </p:sp>
      <p:sp>
        <p:nvSpPr>
          <p:cNvPr id="44" name="円/楕円 43"/>
          <p:cNvSpPr/>
          <p:nvPr/>
        </p:nvSpPr>
        <p:spPr>
          <a:xfrm rot="21180000">
            <a:off x="3345677" y="4837965"/>
            <a:ext cx="926318" cy="11736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p:cNvSpPr txBox="1"/>
          <p:nvPr/>
        </p:nvSpPr>
        <p:spPr>
          <a:xfrm>
            <a:off x="1276101" y="3875162"/>
            <a:ext cx="651317" cy="338553"/>
          </a:xfrm>
          <a:prstGeom prst="rect">
            <a:avLst/>
          </a:prstGeom>
          <a:noFill/>
          <a:ln w="6350">
            <a:noFill/>
          </a:ln>
        </p:spPr>
        <p:txBody>
          <a:bodyPr wrap="square" rtlCol="0">
            <a:spAutoFit/>
          </a:bodyPr>
          <a:lstStyle/>
          <a:p>
            <a:pPr algn="ctr"/>
            <a:r>
              <a:rPr kumimoji="1" lang="en-US" altLang="ja-JP" sz="1600" dirty="0">
                <a:latin typeface="+mn-ea"/>
              </a:rPr>
              <a:t>X’</a:t>
            </a:r>
            <a:endParaRPr kumimoji="1" lang="ja-JP" altLang="en-US" sz="1600" dirty="0">
              <a:latin typeface="+mn-ea"/>
            </a:endParaRPr>
          </a:p>
        </p:txBody>
      </p:sp>
      <p:sp>
        <p:nvSpPr>
          <p:cNvPr id="46" name="テキスト ボックス 45"/>
          <p:cNvSpPr txBox="1"/>
          <p:nvPr/>
        </p:nvSpPr>
        <p:spPr>
          <a:xfrm>
            <a:off x="3815482" y="4740297"/>
            <a:ext cx="1206372" cy="338553"/>
          </a:xfrm>
          <a:prstGeom prst="rect">
            <a:avLst/>
          </a:prstGeom>
          <a:noFill/>
          <a:ln w="6350">
            <a:noFill/>
          </a:ln>
        </p:spPr>
        <p:txBody>
          <a:bodyPr wrap="square" rtlCol="0">
            <a:spAutoFit/>
          </a:bodyPr>
          <a:lstStyle/>
          <a:p>
            <a:pPr algn="r"/>
            <a:r>
              <a:rPr lang="en-US" altLang="ja-JP" sz="1600" dirty="0">
                <a:latin typeface="+mn-ea"/>
              </a:rPr>
              <a:t>X</a:t>
            </a:r>
            <a:endParaRPr kumimoji="1" lang="ja-JP" altLang="en-US" sz="1600" dirty="0">
              <a:latin typeface="+mn-ea"/>
            </a:endParaRPr>
          </a:p>
        </p:txBody>
      </p:sp>
      <p:sp>
        <p:nvSpPr>
          <p:cNvPr id="47" name="正方形/長方形 46"/>
          <p:cNvSpPr/>
          <p:nvPr/>
        </p:nvSpPr>
        <p:spPr>
          <a:xfrm>
            <a:off x="3093076" y="4198417"/>
            <a:ext cx="361843" cy="146703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49"/>
          <p:cNvSpPr/>
          <p:nvPr/>
        </p:nvSpPr>
        <p:spPr>
          <a:xfrm rot="21180000">
            <a:off x="3577257" y="4867306"/>
            <a:ext cx="463159" cy="5868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楕円 50"/>
          <p:cNvSpPr/>
          <p:nvPr/>
        </p:nvSpPr>
        <p:spPr>
          <a:xfrm rot="21240000">
            <a:off x="72094" y="4766575"/>
            <a:ext cx="3039481" cy="32274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矢印コネクタ 51"/>
          <p:cNvCxnSpPr/>
          <p:nvPr/>
        </p:nvCxnSpPr>
        <p:spPr>
          <a:xfrm flipH="1" flipV="1">
            <a:off x="1591834" y="4198417"/>
            <a:ext cx="0" cy="1467035"/>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flipV="1">
            <a:off x="40596" y="4927949"/>
            <a:ext cx="4680000"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円/楕円 53"/>
          <p:cNvSpPr/>
          <p:nvPr/>
        </p:nvSpPr>
        <p:spPr>
          <a:xfrm rot="21240000">
            <a:off x="1397470" y="4790386"/>
            <a:ext cx="3039481" cy="322748"/>
          </a:xfrm>
          <a:prstGeom prst="ellipse">
            <a:avLst/>
          </a:prstGeom>
          <a:noFill/>
          <a:ln w="3175" cap="sq">
            <a:solidFill>
              <a:schemeClr val="tx1"/>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p:cNvSpPr txBox="1"/>
          <p:nvPr/>
        </p:nvSpPr>
        <p:spPr>
          <a:xfrm>
            <a:off x="3290243" y="4330112"/>
            <a:ext cx="1698680" cy="338553"/>
          </a:xfrm>
          <a:prstGeom prst="rect">
            <a:avLst/>
          </a:prstGeom>
          <a:noFill/>
          <a:ln w="6350">
            <a:noFill/>
          </a:ln>
        </p:spPr>
        <p:txBody>
          <a:bodyPr wrap="square" rtlCol="0">
            <a:spAutoFit/>
          </a:bodyPr>
          <a:lstStyle/>
          <a:p>
            <a:pPr algn="ctr"/>
            <a:r>
              <a:rPr lang="en-US" altLang="ja-JP" sz="1600" dirty="0">
                <a:latin typeface="+mn-ea"/>
              </a:rPr>
              <a:t>Injected </a:t>
            </a:r>
            <a:r>
              <a:rPr kumimoji="1" lang="en-US" altLang="ja-JP" sz="1600" dirty="0">
                <a:latin typeface="+mn-ea"/>
              </a:rPr>
              <a:t>Beam</a:t>
            </a:r>
            <a:endParaRPr kumimoji="1" lang="ja-JP" altLang="en-US" sz="1600" dirty="0">
              <a:latin typeface="+mn-ea"/>
            </a:endParaRPr>
          </a:p>
        </p:txBody>
      </p:sp>
      <p:sp>
        <p:nvSpPr>
          <p:cNvPr id="43" name="テキスト ボックス 42"/>
          <p:cNvSpPr txBox="1"/>
          <p:nvPr/>
        </p:nvSpPr>
        <p:spPr>
          <a:xfrm>
            <a:off x="301770" y="4376674"/>
            <a:ext cx="1255959" cy="338553"/>
          </a:xfrm>
          <a:prstGeom prst="rect">
            <a:avLst/>
          </a:prstGeom>
          <a:noFill/>
          <a:ln w="6350">
            <a:noFill/>
          </a:ln>
        </p:spPr>
        <p:txBody>
          <a:bodyPr wrap="square" rtlCol="0">
            <a:spAutoFit/>
          </a:bodyPr>
          <a:lstStyle/>
          <a:p>
            <a:pPr algn="r"/>
            <a:r>
              <a:rPr lang="en-US" altLang="ja-JP" sz="1600" dirty="0">
                <a:latin typeface="+mn-ea"/>
              </a:rPr>
              <a:t>Acceptance</a:t>
            </a:r>
            <a:endParaRPr kumimoji="1" lang="ja-JP" altLang="en-US" sz="1600" dirty="0">
              <a:latin typeface="+mn-ea"/>
            </a:endParaRPr>
          </a:p>
        </p:txBody>
      </p:sp>
      <p:sp>
        <p:nvSpPr>
          <p:cNvPr id="55" name="テキスト ボックス 54"/>
          <p:cNvSpPr txBox="1"/>
          <p:nvPr/>
        </p:nvSpPr>
        <p:spPr>
          <a:xfrm>
            <a:off x="1610862" y="5096512"/>
            <a:ext cx="1474915" cy="584775"/>
          </a:xfrm>
          <a:prstGeom prst="rect">
            <a:avLst/>
          </a:prstGeom>
          <a:noFill/>
        </p:spPr>
        <p:txBody>
          <a:bodyPr wrap="square" rtlCol="0">
            <a:spAutoFit/>
          </a:bodyPr>
          <a:lstStyle/>
          <a:p>
            <a:r>
              <a:rPr lang="en-US" altLang="ja-JP" sz="1600" dirty="0">
                <a:latin typeface="+mn-ea"/>
              </a:rPr>
              <a:t>Injection Bump</a:t>
            </a:r>
          </a:p>
          <a:p>
            <a:r>
              <a:rPr lang="en-US" altLang="ja-JP" sz="1600" dirty="0">
                <a:latin typeface="+mn-ea"/>
              </a:rPr>
              <a:t>17.5</a:t>
            </a:r>
            <a:r>
              <a:rPr kumimoji="1" lang="en-US" altLang="ja-JP" sz="1600" dirty="0">
                <a:latin typeface="+mn-ea"/>
              </a:rPr>
              <a:t>mm</a:t>
            </a:r>
            <a:endParaRPr kumimoji="1" lang="ja-JP" altLang="en-US" sz="1600" dirty="0">
              <a:latin typeface="+mn-ea"/>
            </a:endParaRPr>
          </a:p>
        </p:txBody>
      </p:sp>
      <p:cxnSp>
        <p:nvCxnSpPr>
          <p:cNvPr id="56" name="直線矢印コネクタ 55"/>
          <p:cNvCxnSpPr/>
          <p:nvPr/>
        </p:nvCxnSpPr>
        <p:spPr>
          <a:xfrm>
            <a:off x="1591812" y="4927112"/>
            <a:ext cx="1332000" cy="36000"/>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a:xfrm>
            <a:off x="1176384" y="5661891"/>
            <a:ext cx="2632452" cy="369332"/>
          </a:xfrm>
          <a:prstGeom prst="rect">
            <a:avLst/>
          </a:prstGeom>
        </p:spPr>
        <p:txBody>
          <a:bodyPr wrap="none">
            <a:spAutoFit/>
          </a:bodyPr>
          <a:lstStyle/>
          <a:p>
            <a:r>
              <a:rPr lang="ja-JP" altLang="en-US" u="sng" dirty="0"/>
              <a:t>ビームベース測定の結果</a:t>
            </a:r>
          </a:p>
        </p:txBody>
      </p:sp>
      <p:sp>
        <p:nvSpPr>
          <p:cNvPr id="57" name="正方形/長方形 56"/>
          <p:cNvSpPr/>
          <p:nvPr/>
        </p:nvSpPr>
        <p:spPr>
          <a:xfrm>
            <a:off x="1702211" y="3610670"/>
            <a:ext cx="1723549" cy="369332"/>
          </a:xfrm>
          <a:prstGeom prst="rect">
            <a:avLst/>
          </a:prstGeom>
        </p:spPr>
        <p:txBody>
          <a:bodyPr wrap="none">
            <a:spAutoFit/>
          </a:bodyPr>
          <a:lstStyle/>
          <a:p>
            <a:r>
              <a:rPr lang="ja-JP" altLang="en-US" u="sng" dirty="0"/>
              <a:t>測量による推定</a:t>
            </a:r>
          </a:p>
        </p:txBody>
      </p:sp>
      <p:sp>
        <p:nvSpPr>
          <p:cNvPr id="2" name="スライド番号プレースホルダー 1"/>
          <p:cNvSpPr>
            <a:spLocks noGrp="1"/>
          </p:cNvSpPr>
          <p:nvPr>
            <p:ph type="sldNum" sz="quarter" idx="12"/>
          </p:nvPr>
        </p:nvSpPr>
        <p:spPr/>
        <p:txBody>
          <a:bodyPr/>
          <a:lstStyle/>
          <a:p>
            <a:fld id="{26B42C4F-1ABF-421A-9D5F-F691A5F6974A}" type="slidenum">
              <a:rPr kumimoji="1" lang="ja-JP" altLang="en-US" smtClean="0"/>
              <a:t>9</a:t>
            </a:fld>
            <a:endParaRPr kumimoji="1" lang="ja-JP" altLang="en-US"/>
          </a:p>
        </p:txBody>
      </p:sp>
    </p:spTree>
    <p:extLst>
      <p:ext uri="{BB962C8B-B14F-4D97-AF65-F5344CB8AC3E}">
        <p14:creationId xmlns:p14="http://schemas.microsoft.com/office/powerpoint/2010/main" val="2756032496"/>
      </p:ext>
    </p:extLst>
  </p:cSld>
  <p:clrMapOvr>
    <a:masterClrMapping/>
  </p:clrMapOvr>
  <mc:AlternateContent xmlns:mc="http://schemas.openxmlformats.org/markup-compatibility/2006" xmlns:p14="http://schemas.microsoft.com/office/powerpoint/2010/main">
    <mc:Choice Requires="p14">
      <p:transition spd="slow" p14:dur="2000" advTm="137143"/>
    </mc:Choice>
    <mc:Fallback xmlns="">
      <p:transition spd="slow" advTm="13714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0" y="728180"/>
            <a:ext cx="4817344" cy="523220"/>
          </a:xfrm>
          <a:prstGeom prst="rect">
            <a:avLst/>
          </a:prstGeom>
        </p:spPr>
        <p:txBody>
          <a:bodyPr wrap="none">
            <a:spAutoFit/>
          </a:bodyPr>
          <a:lstStyle/>
          <a:p>
            <a:r>
              <a:rPr lang="ja-JP" altLang="en-US" sz="2800" dirty="0"/>
              <a:t>位置情報の導出（蓄積ビーム）</a:t>
            </a:r>
            <a:endParaRPr lang="en-US" altLang="ja-JP" sz="2800" dirty="0"/>
          </a:p>
        </p:txBody>
      </p:sp>
      <p:grpSp>
        <p:nvGrpSpPr>
          <p:cNvPr id="5" name="グループ化 4"/>
          <p:cNvGrpSpPr/>
          <p:nvPr/>
        </p:nvGrpSpPr>
        <p:grpSpPr>
          <a:xfrm>
            <a:off x="3960000" y="2381860"/>
            <a:ext cx="616516" cy="800756"/>
            <a:chOff x="4062444" y="3444276"/>
            <a:chExt cx="616516" cy="800756"/>
          </a:xfrm>
        </p:grpSpPr>
        <p:sp>
          <p:nvSpPr>
            <p:cNvPr id="10" name="右矢印 9"/>
            <p:cNvSpPr/>
            <p:nvPr/>
          </p:nvSpPr>
          <p:spPr>
            <a:xfrm>
              <a:off x="4062444" y="3786649"/>
              <a:ext cx="616516" cy="4583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p:nvSpPr>
          <p:spPr>
            <a:xfrm>
              <a:off x="4111984" y="3444276"/>
              <a:ext cx="543739" cy="307777"/>
            </a:xfrm>
            <a:prstGeom prst="rect">
              <a:avLst/>
            </a:prstGeom>
          </p:spPr>
          <p:txBody>
            <a:bodyPr wrap="none">
              <a:spAutoFit/>
            </a:bodyPr>
            <a:lstStyle/>
            <a:p>
              <a:r>
                <a:rPr lang="ja-JP" altLang="en-US" sz="1400" dirty="0"/>
                <a:t>計算</a:t>
              </a:r>
              <a:endParaRPr lang="en-US" altLang="ja-JP" sz="1400" dirty="0"/>
            </a:p>
          </p:txBody>
        </p:sp>
      </p:grpSp>
      <p:pic>
        <p:nvPicPr>
          <p:cNvPr id="13" name="図 12"/>
          <p:cNvPicPr>
            <a:picLocks noChangeAspect="1"/>
          </p:cNvPicPr>
          <p:nvPr/>
        </p:nvPicPr>
        <p:blipFill>
          <a:blip r:embed="rId3"/>
          <a:stretch>
            <a:fillRect/>
          </a:stretch>
        </p:blipFill>
        <p:spPr>
          <a:xfrm>
            <a:off x="22302" y="1847180"/>
            <a:ext cx="3960000" cy="2640000"/>
          </a:xfrm>
          <a:prstGeom prst="rect">
            <a:avLst/>
          </a:prstGeom>
        </p:spPr>
      </p:pic>
      <p:sp>
        <p:nvSpPr>
          <p:cNvPr id="19" name="テキスト ボックス 18"/>
          <p:cNvSpPr txBox="1"/>
          <p:nvPr/>
        </p:nvSpPr>
        <p:spPr>
          <a:xfrm>
            <a:off x="782075" y="1450706"/>
            <a:ext cx="3177925" cy="523220"/>
          </a:xfrm>
          <a:prstGeom prst="rect">
            <a:avLst/>
          </a:prstGeom>
          <a:noFill/>
        </p:spPr>
        <p:txBody>
          <a:bodyPr wrap="square" rtlCol="0">
            <a:spAutoFit/>
          </a:bodyPr>
          <a:lstStyle/>
          <a:p>
            <a:pPr algn="r"/>
            <a:r>
              <a:rPr kumimoji="1" lang="en-US" altLang="ja-JP" sz="1400" dirty="0"/>
              <a:t>Stored </a:t>
            </a:r>
            <a:r>
              <a:rPr lang="en-US" altLang="ja-JP" sz="1400" dirty="0"/>
              <a:t>beam</a:t>
            </a:r>
            <a:endParaRPr kumimoji="1" lang="en-US" altLang="ja-JP" sz="1400" dirty="0"/>
          </a:p>
          <a:p>
            <a:pPr algn="r"/>
            <a:r>
              <a:rPr kumimoji="1" lang="en-US" altLang="ja-JP" sz="1400" dirty="0"/>
              <a:t>  single bunch</a:t>
            </a:r>
            <a:r>
              <a:rPr lang="en-US" altLang="ja-JP" sz="1400" dirty="0"/>
              <a:t> = 2.8mA</a:t>
            </a:r>
            <a:endParaRPr kumimoji="1" lang="ja-JP" altLang="en-US" sz="1400" dirty="0"/>
          </a:p>
        </p:txBody>
      </p:sp>
      <p:sp>
        <p:nvSpPr>
          <p:cNvPr id="36" name="テキスト ボックス 35"/>
          <p:cNvSpPr txBox="1"/>
          <p:nvPr/>
        </p:nvSpPr>
        <p:spPr>
          <a:xfrm>
            <a:off x="0" y="0"/>
            <a:ext cx="7835900" cy="646331"/>
          </a:xfrm>
          <a:prstGeom prst="rect">
            <a:avLst/>
          </a:prstGeom>
          <a:noFill/>
        </p:spPr>
        <p:txBody>
          <a:bodyPr wrap="square" rtlCol="0" anchor="ctr">
            <a:spAutoFit/>
          </a:bodyPr>
          <a:lstStyle/>
          <a:p>
            <a:r>
              <a:rPr lang="en-US" altLang="ja-JP" sz="3600" dirty="0">
                <a:solidFill>
                  <a:schemeClr val="accent1">
                    <a:lumMod val="75000"/>
                  </a:schemeClr>
                </a:solidFill>
              </a:rPr>
              <a:t>2-3</a:t>
            </a:r>
            <a:r>
              <a:rPr lang="ja-JP" altLang="en-US" sz="3600" dirty="0">
                <a:solidFill>
                  <a:schemeClr val="accent1">
                    <a:lumMod val="75000"/>
                  </a:schemeClr>
                </a:solidFill>
              </a:rPr>
              <a:t>　キッカー電磁石のビーム応答測定</a:t>
            </a:r>
            <a:endParaRPr lang="ja-JP" altLang="ja-JP" sz="2000" dirty="0">
              <a:solidFill>
                <a:schemeClr val="accent1">
                  <a:lumMod val="75000"/>
                </a:schemeClr>
              </a:solidFill>
            </a:endParaRPr>
          </a:p>
        </p:txBody>
      </p:sp>
      <p:sp>
        <p:nvSpPr>
          <p:cNvPr id="41" name="テキスト ボックス 40"/>
          <p:cNvSpPr txBox="1"/>
          <p:nvPr/>
        </p:nvSpPr>
        <p:spPr>
          <a:xfrm>
            <a:off x="5287368" y="1066734"/>
            <a:ext cx="1731057" cy="369332"/>
          </a:xfrm>
          <a:prstGeom prst="rect">
            <a:avLst/>
          </a:prstGeom>
          <a:noFill/>
          <a:ln>
            <a:solidFill>
              <a:schemeClr val="accent1"/>
            </a:solidFill>
          </a:ln>
        </p:spPr>
        <p:txBody>
          <a:bodyPr wrap="square" rtlCol="0">
            <a:spAutoFit/>
          </a:bodyPr>
          <a:lstStyle/>
          <a:p>
            <a:pPr algn="ctr"/>
            <a:r>
              <a:rPr kumimoji="1" lang="ja-JP" altLang="en-US" dirty="0"/>
              <a:t>測定タイミング</a:t>
            </a:r>
          </a:p>
        </p:txBody>
      </p:sp>
      <p:grpSp>
        <p:nvGrpSpPr>
          <p:cNvPr id="7" name="グループ化 6">
            <a:extLst>
              <a:ext uri="{FF2B5EF4-FFF2-40B4-BE49-F238E27FC236}">
                <a16:creationId xmlns="" xmlns:a16="http://schemas.microsoft.com/office/drawing/2014/main" id="{85C3CF69-79EC-4511-8B1A-0B188E3AB56E}"/>
              </a:ext>
            </a:extLst>
          </p:cNvPr>
          <p:cNvGrpSpPr/>
          <p:nvPr/>
        </p:nvGrpSpPr>
        <p:grpSpPr>
          <a:xfrm>
            <a:off x="4538657" y="1436066"/>
            <a:ext cx="4605343" cy="4481189"/>
            <a:chOff x="4612412" y="1436066"/>
            <a:chExt cx="4605343" cy="4481189"/>
          </a:xfrm>
        </p:grpSpPr>
        <p:cxnSp>
          <p:nvCxnSpPr>
            <p:cNvPr id="38" name="直線矢印コネクタ 37"/>
            <p:cNvCxnSpPr>
              <a:stCxn id="41" idx="2"/>
            </p:cNvCxnSpPr>
            <p:nvPr/>
          </p:nvCxnSpPr>
          <p:spPr>
            <a:xfrm>
              <a:off x="6152897" y="1436066"/>
              <a:ext cx="0" cy="332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 name="グループ化 23"/>
            <p:cNvGrpSpPr/>
            <p:nvPr/>
          </p:nvGrpSpPr>
          <p:grpSpPr>
            <a:xfrm>
              <a:off x="4612412" y="1768202"/>
              <a:ext cx="4605343" cy="4149053"/>
              <a:chOff x="2476301" y="1499918"/>
              <a:chExt cx="5226909" cy="4073309"/>
            </a:xfrm>
          </p:grpSpPr>
          <p:pic>
            <p:nvPicPr>
              <p:cNvPr id="25" name="図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7150" y="1499918"/>
                <a:ext cx="4906060" cy="3858163"/>
              </a:xfrm>
              <a:prstGeom prst="rect">
                <a:avLst/>
              </a:prstGeom>
            </p:spPr>
          </p:pic>
          <p:sp>
            <p:nvSpPr>
              <p:cNvPr id="26" name="テキスト ボックス 25"/>
              <p:cNvSpPr txBox="1"/>
              <p:nvPr/>
            </p:nvSpPr>
            <p:spPr>
              <a:xfrm rot="16200000">
                <a:off x="1834048" y="4040772"/>
                <a:ext cx="1623060" cy="338554"/>
              </a:xfrm>
              <a:prstGeom prst="rect">
                <a:avLst/>
              </a:prstGeom>
              <a:noFill/>
            </p:spPr>
            <p:txBody>
              <a:bodyPr wrap="square" rtlCol="0">
                <a:spAutoFit/>
              </a:bodyPr>
              <a:lstStyle/>
              <a:p>
                <a:pPr algn="ctr"/>
                <a:r>
                  <a:rPr lang="en-US" altLang="ja-JP" sz="1600" dirty="0"/>
                  <a:t>Charge [</a:t>
                </a:r>
                <a:r>
                  <a:rPr lang="en-US" altLang="ja-JP" sz="1600" dirty="0" err="1"/>
                  <a:t>a.u</a:t>
                </a:r>
                <a:r>
                  <a:rPr lang="en-US" altLang="ja-JP" sz="1600" dirty="0"/>
                  <a:t>.]</a:t>
                </a:r>
                <a:endParaRPr kumimoji="1" lang="ja-JP" altLang="en-US" sz="1600" dirty="0"/>
              </a:p>
            </p:txBody>
          </p:sp>
          <p:sp>
            <p:nvSpPr>
              <p:cNvPr id="37" name="テキスト ボックス 36"/>
              <p:cNvSpPr txBox="1"/>
              <p:nvPr/>
            </p:nvSpPr>
            <p:spPr>
              <a:xfrm rot="16200000">
                <a:off x="1871578" y="2328756"/>
                <a:ext cx="1548000" cy="338554"/>
              </a:xfrm>
              <a:prstGeom prst="rect">
                <a:avLst/>
              </a:prstGeom>
              <a:noFill/>
            </p:spPr>
            <p:txBody>
              <a:bodyPr wrap="square" rtlCol="0">
                <a:spAutoFit/>
              </a:bodyPr>
              <a:lstStyle/>
              <a:p>
                <a:pPr algn="ctr"/>
                <a:r>
                  <a:rPr lang="en-US" altLang="ja-JP" sz="1600" dirty="0" err="1"/>
                  <a:t>Xpos</a:t>
                </a:r>
                <a:r>
                  <a:rPr lang="en-US" altLang="ja-JP" sz="1600" dirty="0"/>
                  <a:t> [mm]</a:t>
                </a:r>
                <a:endParaRPr kumimoji="1" lang="ja-JP" altLang="en-US" sz="1600" dirty="0"/>
              </a:p>
            </p:txBody>
          </p:sp>
          <p:sp>
            <p:nvSpPr>
              <p:cNvPr id="39" name="テキスト ボックス 38"/>
              <p:cNvSpPr txBox="1"/>
              <p:nvPr/>
            </p:nvSpPr>
            <p:spPr>
              <a:xfrm>
                <a:off x="4533966" y="5203895"/>
                <a:ext cx="1432427" cy="369332"/>
              </a:xfrm>
              <a:prstGeom prst="rect">
                <a:avLst/>
              </a:prstGeom>
              <a:noFill/>
            </p:spPr>
            <p:txBody>
              <a:bodyPr wrap="square" rtlCol="0">
                <a:spAutoFit/>
              </a:bodyPr>
              <a:lstStyle/>
              <a:p>
                <a:pPr algn="ctr"/>
                <a:r>
                  <a:rPr lang="en-US" altLang="ja-JP" dirty="0"/>
                  <a:t>Turns</a:t>
                </a:r>
                <a:endParaRPr kumimoji="1" lang="ja-JP" altLang="en-US" dirty="0"/>
              </a:p>
            </p:txBody>
          </p:sp>
        </p:grpSp>
        <p:sp>
          <p:nvSpPr>
            <p:cNvPr id="2" name="正方形/長方形 1">
              <a:extLst>
                <a:ext uri="{FF2B5EF4-FFF2-40B4-BE49-F238E27FC236}">
                  <a16:creationId xmlns="" xmlns:a16="http://schemas.microsoft.com/office/drawing/2014/main" id="{B7196CD6-6BBB-4C61-8539-F1C215C3B8FB}"/>
                </a:ext>
              </a:extLst>
            </p:cNvPr>
            <p:cNvSpPr/>
            <p:nvPr/>
          </p:nvSpPr>
          <p:spPr>
            <a:xfrm>
              <a:off x="8468815" y="1955596"/>
              <a:ext cx="540000" cy="288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5" name="直線コネクタ 34">
            <a:extLst>
              <a:ext uri="{FF2B5EF4-FFF2-40B4-BE49-F238E27FC236}">
                <a16:creationId xmlns="" xmlns:a16="http://schemas.microsoft.com/office/drawing/2014/main" id="{0C2C82DC-C7DD-4915-ACFA-F5C0B44A6031}"/>
              </a:ext>
            </a:extLst>
          </p:cNvPr>
          <p:cNvCxnSpPr/>
          <p:nvPr/>
        </p:nvCxnSpPr>
        <p:spPr>
          <a:xfrm>
            <a:off x="6079142" y="1776261"/>
            <a:ext cx="0" cy="3600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グループ化 8">
            <a:extLst>
              <a:ext uri="{FF2B5EF4-FFF2-40B4-BE49-F238E27FC236}">
                <a16:creationId xmlns="" xmlns:a16="http://schemas.microsoft.com/office/drawing/2014/main" id="{AA453693-8FA6-40F8-9663-3F2C24BCB9FC}"/>
              </a:ext>
            </a:extLst>
          </p:cNvPr>
          <p:cNvGrpSpPr/>
          <p:nvPr/>
        </p:nvGrpSpPr>
        <p:grpSpPr>
          <a:xfrm>
            <a:off x="116770" y="4389613"/>
            <a:ext cx="4178678" cy="2363717"/>
            <a:chOff x="198964" y="4506412"/>
            <a:chExt cx="4178678" cy="2363717"/>
          </a:xfrm>
        </p:grpSpPr>
        <p:sp>
          <p:nvSpPr>
            <p:cNvPr id="40" name="正方形/長方形 39">
              <a:extLst>
                <a:ext uri="{FF2B5EF4-FFF2-40B4-BE49-F238E27FC236}">
                  <a16:creationId xmlns="" xmlns:a16="http://schemas.microsoft.com/office/drawing/2014/main" id="{5CED2F33-FC34-440B-8944-14CE23ECA9DB}"/>
                </a:ext>
              </a:extLst>
            </p:cNvPr>
            <p:cNvSpPr/>
            <p:nvPr/>
          </p:nvSpPr>
          <p:spPr>
            <a:xfrm>
              <a:off x="201642" y="4511332"/>
              <a:ext cx="4176000" cy="233346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1" name="グラフ 20">
              <a:extLst>
                <a:ext uri="{FF2B5EF4-FFF2-40B4-BE49-F238E27FC236}">
                  <a16:creationId xmlns="" xmlns:a16="http://schemas.microsoft.com/office/drawing/2014/main" id="{A48C8346-CA6D-4599-93EC-5987E31740ED}"/>
                </a:ext>
              </a:extLst>
            </p:cNvPr>
            <p:cNvGraphicFramePr>
              <a:graphicFrameLocks/>
            </p:cNvGraphicFramePr>
            <p:nvPr>
              <p:extLst>
                <p:ext uri="{D42A27DB-BD31-4B8C-83A1-F6EECF244321}">
                  <p14:modId xmlns:p14="http://schemas.microsoft.com/office/powerpoint/2010/main" val="3571689939"/>
                </p:ext>
              </p:extLst>
            </p:nvPr>
          </p:nvGraphicFramePr>
          <p:xfrm>
            <a:off x="1379325" y="4718439"/>
            <a:ext cx="2489011" cy="1644706"/>
          </p:xfrm>
          <a:graphic>
            <a:graphicData uri="http://schemas.openxmlformats.org/drawingml/2006/chart">
              <c:chart xmlns:c="http://schemas.openxmlformats.org/drawingml/2006/chart" xmlns:r="http://schemas.openxmlformats.org/officeDocument/2006/relationships" r:id="rId5"/>
            </a:graphicData>
          </a:graphic>
        </p:graphicFrame>
        <p:cxnSp>
          <p:nvCxnSpPr>
            <p:cNvPr id="11" name="直線矢印コネクタ 10">
              <a:extLst>
                <a:ext uri="{FF2B5EF4-FFF2-40B4-BE49-F238E27FC236}">
                  <a16:creationId xmlns="" xmlns:a16="http://schemas.microsoft.com/office/drawing/2014/main" id="{CB5A0C79-79D3-4AC3-8D3C-72F4E9786DBD}"/>
                </a:ext>
              </a:extLst>
            </p:cNvPr>
            <p:cNvCxnSpPr/>
            <p:nvPr/>
          </p:nvCxnSpPr>
          <p:spPr>
            <a:xfrm>
              <a:off x="798809" y="6348397"/>
              <a:ext cx="291130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 xmlns:a16="http://schemas.microsoft.com/office/drawing/2014/main" id="{2685B294-3EEE-45AA-B832-35453EB9E2F5}"/>
                </a:ext>
              </a:extLst>
            </p:cNvPr>
            <p:cNvSpPr txBox="1"/>
            <p:nvPr/>
          </p:nvSpPr>
          <p:spPr>
            <a:xfrm>
              <a:off x="1876532" y="6500797"/>
              <a:ext cx="1262088" cy="369332"/>
            </a:xfrm>
            <a:prstGeom prst="rect">
              <a:avLst/>
            </a:prstGeom>
            <a:noFill/>
          </p:spPr>
          <p:txBody>
            <a:bodyPr wrap="square" rtlCol="0">
              <a:spAutoFit/>
            </a:bodyPr>
            <a:lstStyle/>
            <a:p>
              <a:pPr algn="ctr"/>
              <a:r>
                <a:rPr lang="en-US" altLang="ja-JP" dirty="0"/>
                <a:t>1.2</a:t>
              </a:r>
              <a:r>
                <a:rPr lang="ja-JP" altLang="en-US" dirty="0"/>
                <a:t>　</a:t>
              </a:r>
              <a:r>
                <a:rPr lang="en-US" altLang="ja-JP" dirty="0" err="1"/>
                <a:t>μs</a:t>
              </a:r>
              <a:endParaRPr kumimoji="1" lang="ja-JP" altLang="en-US" dirty="0"/>
            </a:p>
          </p:txBody>
        </p:sp>
        <p:cxnSp>
          <p:nvCxnSpPr>
            <p:cNvPr id="15" name="直線矢印コネクタ 14">
              <a:extLst>
                <a:ext uri="{FF2B5EF4-FFF2-40B4-BE49-F238E27FC236}">
                  <a16:creationId xmlns="" xmlns:a16="http://schemas.microsoft.com/office/drawing/2014/main" id="{29077F83-8CC9-46EE-AD5F-D19361C9066C}"/>
                </a:ext>
              </a:extLst>
            </p:cNvPr>
            <p:cNvCxnSpPr/>
            <p:nvPr/>
          </p:nvCxnSpPr>
          <p:spPr>
            <a:xfrm>
              <a:off x="1467276" y="6515245"/>
              <a:ext cx="2080600"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 xmlns:a16="http://schemas.microsoft.com/office/drawing/2014/main" id="{F8DC2266-1CAA-4CD6-ADCB-05A35A015CDB}"/>
                </a:ext>
              </a:extLst>
            </p:cNvPr>
            <p:cNvSpPr txBox="1"/>
            <p:nvPr/>
          </p:nvSpPr>
          <p:spPr>
            <a:xfrm>
              <a:off x="3470921" y="6145913"/>
              <a:ext cx="681316" cy="369332"/>
            </a:xfrm>
            <a:prstGeom prst="rect">
              <a:avLst/>
            </a:prstGeom>
            <a:noFill/>
          </p:spPr>
          <p:txBody>
            <a:bodyPr wrap="square" rtlCol="0">
              <a:spAutoFit/>
            </a:bodyPr>
            <a:lstStyle/>
            <a:p>
              <a:pPr algn="ctr"/>
              <a:r>
                <a:rPr lang="en-US" altLang="ja-JP" dirty="0"/>
                <a:t>t</a:t>
              </a:r>
              <a:endParaRPr kumimoji="1" lang="ja-JP" altLang="en-US" dirty="0"/>
            </a:p>
          </p:txBody>
        </p:sp>
        <p:graphicFrame>
          <p:nvGraphicFramePr>
            <p:cNvPr id="31" name="グラフ 30">
              <a:extLst>
                <a:ext uri="{FF2B5EF4-FFF2-40B4-BE49-F238E27FC236}">
                  <a16:creationId xmlns="" xmlns:a16="http://schemas.microsoft.com/office/drawing/2014/main" id="{440553F9-080F-47B6-8D0D-B4F3A6A9259E}"/>
                </a:ext>
              </a:extLst>
            </p:cNvPr>
            <p:cNvGraphicFramePr>
              <a:graphicFrameLocks/>
            </p:cNvGraphicFramePr>
            <p:nvPr>
              <p:extLst>
                <p:ext uri="{D42A27DB-BD31-4B8C-83A1-F6EECF244321}">
                  <p14:modId xmlns:p14="http://schemas.microsoft.com/office/powerpoint/2010/main" val="2891254552"/>
                </p:ext>
              </p:extLst>
            </p:nvPr>
          </p:nvGraphicFramePr>
          <p:xfrm>
            <a:off x="1118772" y="4723359"/>
            <a:ext cx="2489011" cy="1644706"/>
          </p:xfrm>
          <a:graphic>
            <a:graphicData uri="http://schemas.openxmlformats.org/drawingml/2006/chart">
              <c:chart xmlns:c="http://schemas.openxmlformats.org/drawingml/2006/chart" xmlns:r="http://schemas.openxmlformats.org/officeDocument/2006/relationships" r:id="rId6"/>
            </a:graphicData>
          </a:graphic>
        </p:graphicFrame>
        <p:cxnSp>
          <p:nvCxnSpPr>
            <p:cNvPr id="17" name="直線コネクタ 16">
              <a:extLst>
                <a:ext uri="{FF2B5EF4-FFF2-40B4-BE49-F238E27FC236}">
                  <a16:creationId xmlns="" xmlns:a16="http://schemas.microsoft.com/office/drawing/2014/main" id="{7714014F-2AA2-41B8-A398-2BA521FA795E}"/>
                </a:ext>
              </a:extLst>
            </p:cNvPr>
            <p:cNvCxnSpPr/>
            <p:nvPr/>
          </p:nvCxnSpPr>
          <p:spPr>
            <a:xfrm>
              <a:off x="1475542" y="4656397"/>
              <a:ext cx="0" cy="169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 xmlns:a16="http://schemas.microsoft.com/office/drawing/2014/main" id="{70435394-91FE-4AF6-9BEB-512A14B185E8}"/>
                </a:ext>
              </a:extLst>
            </p:cNvPr>
            <p:cNvCxnSpPr/>
            <p:nvPr/>
          </p:nvCxnSpPr>
          <p:spPr>
            <a:xfrm>
              <a:off x="1475542" y="4890492"/>
              <a:ext cx="1008000"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 xmlns:a16="http://schemas.microsoft.com/office/drawing/2014/main" id="{8C32CBEF-B40E-472F-8412-A41CED5D5EC6}"/>
                </a:ext>
              </a:extLst>
            </p:cNvPr>
            <p:cNvSpPr txBox="1"/>
            <p:nvPr/>
          </p:nvSpPr>
          <p:spPr>
            <a:xfrm>
              <a:off x="1747817" y="4506412"/>
              <a:ext cx="1634960" cy="369332"/>
            </a:xfrm>
            <a:prstGeom prst="rect">
              <a:avLst/>
            </a:prstGeom>
            <a:noFill/>
          </p:spPr>
          <p:txBody>
            <a:bodyPr wrap="square" rtlCol="0">
              <a:spAutoFit/>
            </a:bodyPr>
            <a:lstStyle/>
            <a:p>
              <a:pPr algn="ctr"/>
              <a:r>
                <a:rPr lang="en-US" altLang="ja-JP"/>
                <a:t>1 Turn =0.6</a:t>
              </a:r>
              <a:r>
                <a:rPr lang="ja-JP" altLang="en-US" dirty="0"/>
                <a:t>　</a:t>
              </a:r>
              <a:r>
                <a:rPr lang="en-US" altLang="ja-JP" dirty="0" err="1"/>
                <a:t>μs</a:t>
              </a:r>
              <a:endParaRPr kumimoji="1" lang="ja-JP" altLang="en-US" dirty="0"/>
            </a:p>
          </p:txBody>
        </p:sp>
        <p:sp>
          <p:nvSpPr>
            <p:cNvPr id="20" name="矢印: 左 19">
              <a:extLst>
                <a:ext uri="{FF2B5EF4-FFF2-40B4-BE49-F238E27FC236}">
                  <a16:creationId xmlns="" xmlns:a16="http://schemas.microsoft.com/office/drawing/2014/main" id="{C200AFF8-8E0C-45AF-A2F5-15D0689F7348}"/>
                </a:ext>
              </a:extLst>
            </p:cNvPr>
            <p:cNvSpPr/>
            <p:nvPr/>
          </p:nvSpPr>
          <p:spPr>
            <a:xfrm>
              <a:off x="1218310" y="5917255"/>
              <a:ext cx="257232" cy="2125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 xmlns:a16="http://schemas.microsoft.com/office/drawing/2014/main" id="{E5C2FF71-9449-41C6-B071-B0480B36F328}"/>
                </a:ext>
              </a:extLst>
            </p:cNvPr>
            <p:cNvSpPr txBox="1"/>
            <p:nvPr/>
          </p:nvSpPr>
          <p:spPr>
            <a:xfrm>
              <a:off x="198964" y="5587708"/>
              <a:ext cx="1331316" cy="369332"/>
            </a:xfrm>
            <a:prstGeom prst="rect">
              <a:avLst/>
            </a:prstGeom>
            <a:noFill/>
          </p:spPr>
          <p:txBody>
            <a:bodyPr wrap="square" rtlCol="0">
              <a:spAutoFit/>
            </a:bodyPr>
            <a:lstStyle/>
            <a:p>
              <a:pPr algn="ctr"/>
              <a:r>
                <a:rPr lang="en-US" altLang="ja-JP" dirty="0"/>
                <a:t>Delay time</a:t>
              </a:r>
              <a:endParaRPr kumimoji="1" lang="ja-JP" altLang="en-US" dirty="0"/>
            </a:p>
          </p:txBody>
        </p:sp>
      </p:grpSp>
      <p:sp>
        <p:nvSpPr>
          <p:cNvPr id="12" name="スライド番号プレースホルダー 11"/>
          <p:cNvSpPr>
            <a:spLocks noGrp="1"/>
          </p:cNvSpPr>
          <p:nvPr>
            <p:ph type="sldNum" sz="quarter" idx="12"/>
          </p:nvPr>
        </p:nvSpPr>
        <p:spPr/>
        <p:txBody>
          <a:bodyPr/>
          <a:lstStyle/>
          <a:p>
            <a:fld id="{26B42C4F-1ABF-421A-9D5F-F691A5F6974A}" type="slidenum">
              <a:rPr kumimoji="1" lang="ja-JP" altLang="en-US" smtClean="0"/>
              <a:t>10</a:t>
            </a:fld>
            <a:endParaRPr kumimoji="1" lang="ja-JP" altLang="en-US"/>
          </a:p>
        </p:txBody>
      </p:sp>
    </p:spTree>
    <p:extLst>
      <p:ext uri="{BB962C8B-B14F-4D97-AF65-F5344CB8AC3E}">
        <p14:creationId xmlns:p14="http://schemas.microsoft.com/office/powerpoint/2010/main" val="3589986655"/>
      </p:ext>
    </p:extLst>
  </p:cSld>
  <p:clrMapOvr>
    <a:masterClrMapping/>
  </p:clrMapOvr>
  <mc:AlternateContent xmlns:mc="http://schemas.openxmlformats.org/markup-compatibility/2006" xmlns:p14="http://schemas.microsoft.com/office/powerpoint/2010/main">
    <mc:Choice Requires="p14">
      <p:transition spd="slow" p14:dur="2000" advTm="2681"/>
    </mc:Choice>
    <mc:Fallback xmlns="">
      <p:transition spd="slow" advTm="268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p:cNvSpPr/>
          <p:nvPr/>
        </p:nvSpPr>
        <p:spPr>
          <a:xfrm>
            <a:off x="210869" y="2222553"/>
            <a:ext cx="8722262" cy="163192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0" y="0"/>
            <a:ext cx="7835900" cy="646331"/>
          </a:xfrm>
          <a:prstGeom prst="rect">
            <a:avLst/>
          </a:prstGeom>
          <a:noFill/>
        </p:spPr>
        <p:txBody>
          <a:bodyPr wrap="square" rtlCol="0" anchor="ctr">
            <a:spAutoFit/>
          </a:bodyPr>
          <a:lstStyle/>
          <a:p>
            <a:r>
              <a:rPr lang="en-US" altLang="ja-JP" sz="3600" dirty="0">
                <a:solidFill>
                  <a:schemeClr val="accent1">
                    <a:lumMod val="75000"/>
                  </a:schemeClr>
                </a:solidFill>
              </a:rPr>
              <a:t>2-3</a:t>
            </a:r>
            <a:r>
              <a:rPr lang="ja-JP" altLang="en-US" sz="3600" dirty="0">
                <a:solidFill>
                  <a:schemeClr val="accent1">
                    <a:lumMod val="75000"/>
                  </a:schemeClr>
                </a:solidFill>
              </a:rPr>
              <a:t>　キッカー電磁石のビーム応答測定</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0" y="731308"/>
            <a:ext cx="4631396" cy="523220"/>
          </a:xfrm>
          <a:prstGeom prst="rect">
            <a:avLst/>
          </a:prstGeom>
        </p:spPr>
        <p:txBody>
          <a:bodyPr wrap="none">
            <a:spAutoFit/>
          </a:bodyPr>
          <a:lstStyle/>
          <a:p>
            <a:r>
              <a:rPr lang="ja-JP" altLang="en-US" sz="2800" dirty="0"/>
              <a:t>キッカーパルス波形の再構築</a:t>
            </a:r>
            <a:endParaRPr lang="en-US" altLang="ja-JP" sz="2800" dirty="0"/>
          </a:p>
        </p:txBody>
      </p:sp>
      <p:graphicFrame>
        <p:nvGraphicFramePr>
          <p:cNvPr id="14" name="グラフ 13"/>
          <p:cNvGraphicFramePr>
            <a:graphicFrameLocks/>
          </p:cNvGraphicFramePr>
          <p:nvPr>
            <p:extLst>
              <p:ext uri="{D42A27DB-BD31-4B8C-83A1-F6EECF244321}">
                <p14:modId xmlns:p14="http://schemas.microsoft.com/office/powerpoint/2010/main" val="924448644"/>
              </p:ext>
            </p:extLst>
          </p:nvPr>
        </p:nvGraphicFramePr>
        <p:xfrm>
          <a:off x="439752" y="4109594"/>
          <a:ext cx="3600000" cy="277200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25" name="Rectangle 3"/>
              <p:cNvSpPr>
                <a:spLocks noChangeArrowheads="1"/>
              </p:cNvSpPr>
              <p:nvPr/>
            </p:nvSpPr>
            <p:spPr bwMode="auto">
              <a:xfrm>
                <a:off x="162000" y="2258903"/>
                <a:ext cx="8820000" cy="148181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19063"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19063" algn="l" defTabSz="914400" rtl="0" eaLnBrk="0" fontAlgn="base" latinLnBrk="0" hangingPunct="0">
                  <a:lnSpc>
                    <a:spcPct val="100000"/>
                  </a:lnSpc>
                  <a:spcBef>
                    <a:spcPct val="0"/>
                  </a:spcBef>
                  <a:spcAft>
                    <a:spcPct val="0"/>
                  </a:spcAft>
                  <a:buClrTx/>
                  <a:buSzTx/>
                  <a:buFontTx/>
                  <a:buNone/>
                  <a:tabLst/>
                </a:pPr>
                <a:r>
                  <a:rPr kumimoji="0" lang="ja-JP" altLang="en-US" dirty="0">
                    <a:latin typeface="ＭＳ Ｐ明朝" panose="02020600040205080304" pitchFamily="18" charset="-128"/>
                    <a:ea typeface="ＭＳ Ｐ明朝" panose="02020600040205080304" pitchFamily="18" charset="-128"/>
                    <a:cs typeface="Times New Roman" panose="02020603050405020304" pitchFamily="18" charset="0"/>
                  </a:rPr>
                  <a:t>・</a:t>
                </a:r>
                <a:r>
                  <a:rPr kumimoji="0" lang="ja-JP" altLang="en-US" dirty="0">
                    <a:latin typeface="+mn-ea"/>
                    <a:cs typeface="Times New Roman" panose="02020603050405020304" pitchFamily="18" charset="0"/>
                  </a:rPr>
                  <a:t>パルス波形の計算</a:t>
                </a:r>
                <a:endParaRPr kumimoji="0" lang="en-US" altLang="ja-JP" b="0" i="0" u="none" strike="noStrike" cap="none" normalizeH="0" baseline="0" dirty="0">
                  <a:ln>
                    <a:noFill/>
                  </a:ln>
                  <a:solidFill>
                    <a:schemeClr val="tx1"/>
                  </a:solidFill>
                  <a:effectLst/>
                  <a:latin typeface="+mn-ea"/>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ja-JP" altLang="ja-JP" sz="1600" i="1">
                              <a:latin typeface="Cambria Math" panose="02040503050406030204" pitchFamily="18" charset="0"/>
                            </a:rPr>
                          </m:ctrlPr>
                        </m:sSubPr>
                        <m:e>
                          <m:d>
                            <m:dPr>
                              <m:ctrlPr>
                                <a:rPr lang="ja-JP" altLang="ja-JP" sz="1600" i="1">
                                  <a:latin typeface="Cambria Math" panose="02040503050406030204" pitchFamily="18" charset="0"/>
                                </a:rPr>
                              </m:ctrlPr>
                            </m:dPr>
                            <m:e>
                              <m:m>
                                <m:mPr>
                                  <m:mcs>
                                    <m:mc>
                                      <m:mcPr>
                                        <m:count m:val="1"/>
                                        <m:mcJc m:val="center"/>
                                      </m:mcPr>
                                    </m:mc>
                                  </m:mcs>
                                  <m:ctrlPr>
                                    <a:rPr lang="ja-JP" altLang="ja-JP" sz="1600" i="1">
                                      <a:latin typeface="Cambria Math" panose="02040503050406030204" pitchFamily="18" charset="0"/>
                                    </a:rPr>
                                  </m:ctrlPr>
                                </m:mPr>
                                <m:mr>
                                  <m:e>
                                    <m:sSub>
                                      <m:sSubPr>
                                        <m:ctrlPr>
                                          <a:rPr lang="ja-JP" altLang="ja-JP" sz="1600" i="1">
                                            <a:latin typeface="Cambria Math" panose="02040503050406030204" pitchFamily="18" charset="0"/>
                                          </a:rPr>
                                        </m:ctrlPr>
                                      </m:sSubPr>
                                      <m:e>
                                        <m:r>
                                          <a:rPr lang="en-US" altLang="ja-JP" sz="1600">
                                            <a:latin typeface="Cambria Math" panose="02040503050406030204" pitchFamily="18" charset="0"/>
                                          </a:rPr>
                                          <m:t>𝑥</m:t>
                                        </m:r>
                                      </m:e>
                                      <m:sub>
                                        <m:r>
                                          <m:rPr>
                                            <m:sty m:val="p"/>
                                          </m:rPr>
                                          <a:rPr lang="en-US" altLang="ja-JP" sz="1600" b="0" i="0" smtClean="0">
                                            <a:latin typeface="Cambria Math" panose="02040503050406030204" pitchFamily="18" charset="0"/>
                                          </a:rPr>
                                          <m:t>n</m:t>
                                        </m:r>
                                        <m:r>
                                          <a:rPr lang="en-US" altLang="ja-JP" sz="1600" b="0" i="0" smtClean="0">
                                            <a:latin typeface="Cambria Math" panose="02040503050406030204" pitchFamily="18" charset="0"/>
                                          </a:rPr>
                                          <m:t>+1</m:t>
                                        </m:r>
                                      </m:sub>
                                    </m:sSub>
                                  </m:e>
                                </m:mr>
                                <m:mr>
                                  <m:e>
                                    <m:sSubSup>
                                      <m:sSubSupPr>
                                        <m:ctrlPr>
                                          <a:rPr lang="ja-JP" altLang="ja-JP" sz="1600" i="1">
                                            <a:latin typeface="Cambria Math" panose="02040503050406030204" pitchFamily="18" charset="0"/>
                                          </a:rPr>
                                        </m:ctrlPr>
                                      </m:sSubSupPr>
                                      <m:e>
                                        <m:r>
                                          <a:rPr lang="en-US" altLang="ja-JP" sz="1600">
                                            <a:latin typeface="Cambria Math" panose="02040503050406030204" pitchFamily="18" charset="0"/>
                                          </a:rPr>
                                          <m:t>𝑥</m:t>
                                        </m:r>
                                      </m:e>
                                      <m:sub>
                                        <m:r>
                                          <m:rPr>
                                            <m:sty m:val="p"/>
                                          </m:rPr>
                                          <a:rPr lang="en-US" altLang="ja-JP" sz="1600" b="0" i="0" smtClean="0">
                                            <a:latin typeface="Cambria Math" panose="02040503050406030204" pitchFamily="18" charset="0"/>
                                          </a:rPr>
                                          <m:t>n</m:t>
                                        </m:r>
                                        <m:r>
                                          <a:rPr lang="en-US" altLang="ja-JP" sz="1600" b="0" i="0" smtClean="0">
                                            <a:latin typeface="Cambria Math" panose="02040503050406030204" pitchFamily="18" charset="0"/>
                                          </a:rPr>
                                          <m:t>+1</m:t>
                                        </m:r>
                                      </m:sub>
                                      <m:sup>
                                        <m:r>
                                          <a:rPr lang="en-US" altLang="ja-JP" sz="1600">
                                            <a:latin typeface="Cambria Math" panose="02040503050406030204" pitchFamily="18" charset="0"/>
                                          </a:rPr>
                                          <m:t>′</m:t>
                                        </m:r>
                                      </m:sup>
                                    </m:sSubSup>
                                  </m:e>
                                </m:mr>
                              </m:m>
                            </m:e>
                          </m:d>
                        </m:e>
                        <m:sub>
                          <m:r>
                            <a:rPr lang="en-US" altLang="ja-JP" sz="1600">
                              <a:latin typeface="Cambria Math" panose="02040503050406030204" pitchFamily="18" charset="0"/>
                            </a:rPr>
                            <m:t>𝐵𝑃𝑀</m:t>
                          </m:r>
                        </m:sub>
                      </m:sSub>
                      <m:r>
                        <a:rPr lang="en-US" altLang="ja-JP" sz="1600">
                          <a:latin typeface="Cambria Math" panose="02040503050406030204" pitchFamily="18" charset="0"/>
                        </a:rPr>
                        <m:t>=</m:t>
                      </m:r>
                      <m:d>
                        <m:dPr>
                          <m:begChr m:val="{"/>
                          <m:endChr m:val=""/>
                          <m:ctrlPr>
                            <a:rPr lang="en-US" altLang="ja-JP" sz="1600" i="1" smtClean="0">
                              <a:latin typeface="Cambria Math" panose="02040503050406030204" pitchFamily="18" charset="0"/>
                            </a:rPr>
                          </m:ctrlPr>
                        </m:dPr>
                        <m:e>
                          <m:m>
                            <m:mPr>
                              <m:mcs>
                                <m:mc>
                                  <m:mcPr>
                                    <m:count m:val="1"/>
                                    <m:mcJc m:val="center"/>
                                  </m:mcPr>
                                </m:mc>
                              </m:mcs>
                              <m:ctrlPr>
                                <a:rPr lang="en-US" altLang="ja-JP" sz="1600" i="1" smtClean="0">
                                  <a:latin typeface="Cambria Math" panose="02040503050406030204" pitchFamily="18" charset="0"/>
                                </a:rPr>
                              </m:ctrlPr>
                            </m:mPr>
                            <m:mr>
                              <m:e>
                                <m:sSub>
                                  <m:sSubPr>
                                    <m:ctrlPr>
                                      <a:rPr lang="ja-JP" altLang="ja-JP" sz="1600" i="1">
                                        <a:latin typeface="Cambria Math" panose="02040503050406030204" pitchFamily="18" charset="0"/>
                                      </a:rPr>
                                    </m:ctrlPr>
                                  </m:sSubPr>
                                  <m:e>
                                    <m:r>
                                      <a:rPr lang="en-US" altLang="ja-JP" sz="1600">
                                        <a:latin typeface="Cambria Math" panose="02040503050406030204" pitchFamily="18" charset="0"/>
                                      </a:rPr>
                                      <m:t>𝑀</m:t>
                                    </m:r>
                                  </m:e>
                                  <m:sub>
                                    <m:r>
                                      <a:rPr lang="en-US" altLang="ja-JP" sz="1600">
                                        <a:latin typeface="Cambria Math" panose="02040503050406030204" pitchFamily="18" charset="0"/>
                                      </a:rPr>
                                      <m:t>𝐵𝐾</m:t>
                                    </m:r>
                                  </m:sub>
                                </m:sSub>
                                <m:d>
                                  <m:dPr>
                                    <m:begChr m:val="{"/>
                                    <m:endChr m:val="}"/>
                                    <m:ctrlPr>
                                      <a:rPr lang="ja-JP" altLang="ja-JP" sz="1600" i="1">
                                        <a:latin typeface="Cambria Math" panose="02040503050406030204" pitchFamily="18" charset="0"/>
                                      </a:rPr>
                                    </m:ctrlPr>
                                  </m:dPr>
                                  <m:e>
                                    <m:sSub>
                                      <m:sSubPr>
                                        <m:ctrlPr>
                                          <a:rPr lang="ja-JP" altLang="ja-JP" sz="1600" i="1">
                                            <a:latin typeface="Cambria Math" panose="02040503050406030204" pitchFamily="18" charset="0"/>
                                          </a:rPr>
                                        </m:ctrlPr>
                                      </m:sSubPr>
                                      <m:e>
                                        <m:sSub>
                                          <m:sSubPr>
                                            <m:ctrlPr>
                                              <a:rPr lang="ja-JP" altLang="ja-JP" sz="1600" i="1">
                                                <a:latin typeface="Cambria Math" panose="02040503050406030204" pitchFamily="18" charset="0"/>
                                              </a:rPr>
                                            </m:ctrlPr>
                                          </m:sSubPr>
                                          <m:e>
                                            <m:r>
                                              <a:rPr lang="en-US" altLang="ja-JP" sz="1600">
                                                <a:latin typeface="Cambria Math" panose="02040503050406030204" pitchFamily="18" charset="0"/>
                                              </a:rPr>
                                              <m:t>𝑀</m:t>
                                            </m:r>
                                          </m:e>
                                          <m:sub>
                                            <m:r>
                                              <a:rPr lang="en-US" altLang="ja-JP" sz="1600">
                                                <a:latin typeface="Cambria Math" panose="02040503050406030204" pitchFamily="18" charset="0"/>
                                              </a:rPr>
                                              <m:t>𝐾𝐵</m:t>
                                            </m:r>
                                          </m:sub>
                                        </m:sSub>
                                        <m:d>
                                          <m:dPr>
                                            <m:ctrlPr>
                                              <a:rPr lang="ja-JP" altLang="ja-JP" sz="1600" i="1">
                                                <a:latin typeface="Cambria Math" panose="02040503050406030204" pitchFamily="18" charset="0"/>
                                              </a:rPr>
                                            </m:ctrlPr>
                                          </m:dPr>
                                          <m:e>
                                            <m:m>
                                              <m:mPr>
                                                <m:mcs>
                                                  <m:mc>
                                                    <m:mcPr>
                                                      <m:count m:val="1"/>
                                                      <m:mcJc m:val="center"/>
                                                    </m:mcPr>
                                                  </m:mc>
                                                </m:mcs>
                                                <m:ctrlPr>
                                                  <a:rPr lang="ja-JP" altLang="ja-JP" sz="1600" i="1">
                                                    <a:latin typeface="Cambria Math" panose="02040503050406030204" pitchFamily="18" charset="0"/>
                                                  </a:rPr>
                                                </m:ctrlPr>
                                              </m:mPr>
                                              <m:mr>
                                                <m:e>
                                                  <m:sSub>
                                                    <m:sSubPr>
                                                      <m:ctrlPr>
                                                        <a:rPr lang="ja-JP" altLang="ja-JP" sz="1600" i="1">
                                                          <a:latin typeface="Cambria Math" panose="02040503050406030204" pitchFamily="18" charset="0"/>
                                                        </a:rPr>
                                                      </m:ctrlPr>
                                                    </m:sSubPr>
                                                    <m:e>
                                                      <m:r>
                                                        <a:rPr lang="en-US" altLang="ja-JP" sz="1600">
                                                          <a:latin typeface="Cambria Math" panose="02040503050406030204" pitchFamily="18" charset="0"/>
                                                        </a:rPr>
                                                        <m:t>𝑥</m:t>
                                                      </m:r>
                                                    </m:e>
                                                    <m:sub>
                                                      <m:r>
                                                        <m:rPr>
                                                          <m:sty m:val="p"/>
                                                        </m:rPr>
                                                        <a:rPr lang="en-US" altLang="ja-JP" sz="1600">
                                                          <a:latin typeface="Cambria Math" panose="02040503050406030204" pitchFamily="18" charset="0"/>
                                                        </a:rPr>
                                                        <m:t>n</m:t>
                                                      </m:r>
                                                    </m:sub>
                                                  </m:sSub>
                                                </m:e>
                                              </m:mr>
                                              <m:mr>
                                                <m:e>
                                                  <m:sSubSup>
                                                    <m:sSubSupPr>
                                                      <m:ctrlPr>
                                                        <a:rPr lang="ja-JP" altLang="ja-JP" sz="1600" i="1">
                                                          <a:latin typeface="Cambria Math" panose="02040503050406030204" pitchFamily="18" charset="0"/>
                                                        </a:rPr>
                                                      </m:ctrlPr>
                                                    </m:sSubSupPr>
                                                    <m:e>
                                                      <m:r>
                                                        <a:rPr lang="en-US" altLang="ja-JP" sz="1600">
                                                          <a:latin typeface="Cambria Math" panose="02040503050406030204" pitchFamily="18" charset="0"/>
                                                        </a:rPr>
                                                        <m:t>𝑥</m:t>
                                                      </m:r>
                                                    </m:e>
                                                    <m:sub>
                                                      <m:r>
                                                        <m:rPr>
                                                          <m:sty m:val="p"/>
                                                        </m:rPr>
                                                        <a:rPr lang="en-US" altLang="ja-JP" sz="1600">
                                                          <a:latin typeface="Cambria Math" panose="02040503050406030204" pitchFamily="18" charset="0"/>
                                                        </a:rPr>
                                                        <m:t>n</m:t>
                                                      </m:r>
                                                    </m:sub>
                                                    <m:sup>
                                                      <m:r>
                                                        <a:rPr lang="en-US" altLang="ja-JP" sz="1600">
                                                          <a:latin typeface="Cambria Math" panose="02040503050406030204" pitchFamily="18" charset="0"/>
                                                        </a:rPr>
                                                        <m:t>′</m:t>
                                                      </m:r>
                                                    </m:sup>
                                                  </m:sSubSup>
                                                </m:e>
                                              </m:mr>
                                            </m:m>
                                          </m:e>
                                        </m:d>
                                      </m:e>
                                      <m:sub>
                                        <m:r>
                                          <a:rPr lang="en-US" altLang="ja-JP" sz="1600">
                                            <a:latin typeface="Cambria Math" panose="02040503050406030204" pitchFamily="18" charset="0"/>
                                          </a:rPr>
                                          <m:t>𝐵𝑃𝑀</m:t>
                                        </m:r>
                                      </m:sub>
                                    </m:sSub>
                                    <m:r>
                                      <a:rPr lang="en-US" altLang="ja-JP" sz="1600">
                                        <a:latin typeface="Cambria Math" panose="02040503050406030204" pitchFamily="18" charset="0"/>
                                      </a:rPr>
                                      <m:t>+</m:t>
                                    </m:r>
                                    <m:sSub>
                                      <m:sSubPr>
                                        <m:ctrlPr>
                                          <a:rPr lang="ja-JP" altLang="ja-JP" sz="1600" i="1">
                                            <a:latin typeface="Cambria Math" panose="02040503050406030204" pitchFamily="18" charset="0"/>
                                          </a:rPr>
                                        </m:ctrlPr>
                                      </m:sSubPr>
                                      <m:e>
                                        <m:d>
                                          <m:dPr>
                                            <m:ctrlPr>
                                              <a:rPr lang="ja-JP" altLang="ja-JP" sz="1600" i="1">
                                                <a:latin typeface="Cambria Math" panose="02040503050406030204" pitchFamily="18" charset="0"/>
                                              </a:rPr>
                                            </m:ctrlPr>
                                          </m:dPr>
                                          <m:e>
                                            <m:m>
                                              <m:mPr>
                                                <m:mcs>
                                                  <m:mc>
                                                    <m:mcPr>
                                                      <m:count m:val="1"/>
                                                      <m:mcJc m:val="center"/>
                                                    </m:mcPr>
                                                  </m:mc>
                                                </m:mcs>
                                                <m:ctrlPr>
                                                  <a:rPr lang="ja-JP" altLang="ja-JP" sz="1600" i="1">
                                                    <a:latin typeface="Cambria Math" panose="02040503050406030204" pitchFamily="18" charset="0"/>
                                                  </a:rPr>
                                                </m:ctrlPr>
                                              </m:mPr>
                                              <m:mr>
                                                <m:e>
                                                  <m:r>
                                                    <a:rPr lang="en-US" altLang="ja-JP" sz="1600">
                                                      <a:latin typeface="Cambria Math" panose="02040503050406030204" pitchFamily="18" charset="0"/>
                                                    </a:rPr>
                                                    <m:t>0</m:t>
                                                  </m:r>
                                                </m:e>
                                              </m:mr>
                                              <m:mr>
                                                <m:e>
                                                  <m:r>
                                                    <a:rPr lang="en-US" altLang="ja-JP" sz="1600">
                                                      <a:latin typeface="Cambria Math" panose="02040503050406030204" pitchFamily="18" charset="0"/>
                                                    </a:rPr>
                                                    <m:t>𝜃</m:t>
                                                  </m:r>
                                                  <m:d>
                                                    <m:dPr>
                                                      <m:ctrlPr>
                                                        <a:rPr lang="ja-JP" altLang="ja-JP" sz="1600" i="1">
                                                          <a:latin typeface="Cambria Math" panose="02040503050406030204" pitchFamily="18" charset="0"/>
                                                        </a:rPr>
                                                      </m:ctrlPr>
                                                    </m:dPr>
                                                    <m:e>
                                                      <m:r>
                                                        <a:rPr lang="en-US" altLang="ja-JP" sz="1600">
                                                          <a:latin typeface="Cambria Math" panose="02040503050406030204" pitchFamily="18" charset="0"/>
                                                        </a:rPr>
                                                        <m:t>𝑡</m:t>
                                                      </m:r>
                                                    </m:e>
                                                  </m:d>
                                                </m:e>
                                              </m:mr>
                                            </m:m>
                                          </m:e>
                                        </m:d>
                                      </m:e>
                                      <m:sub>
                                        <m:r>
                                          <a:rPr lang="en-US" altLang="ja-JP" sz="1600">
                                            <a:latin typeface="Cambria Math" panose="02040503050406030204" pitchFamily="18" charset="0"/>
                                          </a:rPr>
                                          <m:t>𝐾𝑖𝑐𝑘𝑒𝑟</m:t>
                                        </m:r>
                                      </m:sub>
                                    </m:sSub>
                                  </m:e>
                                </m:d>
                              </m:e>
                            </m:mr>
                            <m:mr>
                              <m:e>
                                <m:sSubSup>
                                  <m:sSubSupPr>
                                    <m:ctrlPr>
                                      <a:rPr lang="ja-JP" altLang="ja-JP" sz="1600" i="1">
                                        <a:latin typeface="Cambria Math" panose="02040503050406030204" pitchFamily="18" charset="0"/>
                                      </a:rPr>
                                    </m:ctrlPr>
                                  </m:sSubSupPr>
                                  <m:e>
                                    <m:r>
                                      <a:rPr lang="en-US" altLang="ja-JP" sz="1600">
                                        <a:latin typeface="Cambria Math" panose="02040503050406030204" pitchFamily="18" charset="0"/>
                                      </a:rPr>
                                      <m:t>𝑀</m:t>
                                    </m:r>
                                  </m:e>
                                  <m:sub>
                                    <m:r>
                                      <a:rPr lang="en-US" altLang="ja-JP" sz="1600">
                                        <a:latin typeface="Cambria Math" panose="02040503050406030204" pitchFamily="18" charset="0"/>
                                      </a:rPr>
                                      <m:t>𝑐</m:t>
                                    </m:r>
                                  </m:sub>
                                  <m:sup>
                                    <m:r>
                                      <a:rPr lang="en-US" altLang="ja-JP" sz="1600">
                                        <a:latin typeface="Cambria Math" panose="02040503050406030204" pitchFamily="18" charset="0"/>
                                      </a:rPr>
                                      <m:t>𝑛</m:t>
                                    </m:r>
                                  </m:sup>
                                </m:sSubSup>
                                <m:sSub>
                                  <m:sSubPr>
                                    <m:ctrlPr>
                                      <a:rPr lang="ja-JP" altLang="ja-JP" sz="1600" i="1">
                                        <a:latin typeface="Cambria Math" panose="02040503050406030204" pitchFamily="18" charset="0"/>
                                      </a:rPr>
                                    </m:ctrlPr>
                                  </m:sSubPr>
                                  <m:e>
                                    <m:d>
                                      <m:dPr>
                                        <m:ctrlPr>
                                          <a:rPr lang="ja-JP" altLang="ja-JP" sz="1600" i="1">
                                            <a:latin typeface="Cambria Math" panose="02040503050406030204" pitchFamily="18" charset="0"/>
                                          </a:rPr>
                                        </m:ctrlPr>
                                      </m:dPr>
                                      <m:e>
                                        <m:m>
                                          <m:mPr>
                                            <m:mcs>
                                              <m:mc>
                                                <m:mcPr>
                                                  <m:count m:val="1"/>
                                                  <m:mcJc m:val="center"/>
                                                </m:mcPr>
                                              </m:mc>
                                            </m:mcs>
                                            <m:ctrlPr>
                                              <a:rPr lang="ja-JP" altLang="ja-JP" sz="1600" i="1">
                                                <a:latin typeface="Cambria Math" panose="02040503050406030204" pitchFamily="18" charset="0"/>
                                              </a:rPr>
                                            </m:ctrlPr>
                                          </m:mPr>
                                          <m:mr>
                                            <m:e>
                                              <m:sSub>
                                                <m:sSubPr>
                                                  <m:ctrlPr>
                                                    <a:rPr lang="ja-JP" altLang="ja-JP" sz="1600" i="1">
                                                      <a:latin typeface="Cambria Math" panose="02040503050406030204" pitchFamily="18" charset="0"/>
                                                    </a:rPr>
                                                  </m:ctrlPr>
                                                </m:sSubPr>
                                                <m:e>
                                                  <m:r>
                                                    <a:rPr lang="en-US" altLang="ja-JP" sz="1600">
                                                      <a:latin typeface="Cambria Math" panose="02040503050406030204" pitchFamily="18" charset="0"/>
                                                    </a:rPr>
                                                    <m:t>𝑥</m:t>
                                                  </m:r>
                                                </m:e>
                                                <m:sub>
                                                  <m:r>
                                                    <a:rPr lang="en-US" altLang="ja-JP" sz="1600">
                                                      <a:latin typeface="Cambria Math" panose="02040503050406030204" pitchFamily="18" charset="0"/>
                                                    </a:rPr>
                                                    <m:t>𝑛</m:t>
                                                  </m:r>
                                                </m:sub>
                                              </m:sSub>
                                            </m:e>
                                          </m:mr>
                                          <m:mr>
                                            <m:e>
                                              <m:sSubSup>
                                                <m:sSubSupPr>
                                                  <m:ctrlPr>
                                                    <a:rPr lang="ja-JP" altLang="ja-JP" sz="1600" i="1">
                                                      <a:latin typeface="Cambria Math" panose="02040503050406030204" pitchFamily="18" charset="0"/>
                                                    </a:rPr>
                                                  </m:ctrlPr>
                                                </m:sSubSupPr>
                                                <m:e>
                                                  <m:r>
                                                    <a:rPr lang="en-US" altLang="ja-JP" sz="1600">
                                                      <a:latin typeface="Cambria Math" panose="02040503050406030204" pitchFamily="18" charset="0"/>
                                                    </a:rPr>
                                                    <m:t>𝑥</m:t>
                                                  </m:r>
                                                </m:e>
                                                <m:sub>
                                                  <m:r>
                                                    <a:rPr lang="en-US" altLang="ja-JP" sz="1600">
                                                      <a:latin typeface="Cambria Math" panose="02040503050406030204" pitchFamily="18" charset="0"/>
                                                    </a:rPr>
                                                    <m:t>𝑛</m:t>
                                                  </m:r>
                                                </m:sub>
                                                <m:sup>
                                                  <m:r>
                                                    <a:rPr lang="en-US" altLang="ja-JP" sz="1600">
                                                      <a:latin typeface="Cambria Math" panose="02040503050406030204" pitchFamily="18" charset="0"/>
                                                    </a:rPr>
                                                    <m:t>′</m:t>
                                                  </m:r>
                                                </m:sup>
                                              </m:sSubSup>
                                            </m:e>
                                          </m:mr>
                                        </m:m>
                                      </m:e>
                                    </m:d>
                                  </m:e>
                                  <m:sub>
                                    <m:r>
                                      <a:rPr lang="en-US" altLang="ja-JP" sz="1600">
                                        <a:latin typeface="Cambria Math" panose="02040503050406030204" pitchFamily="18" charset="0"/>
                                      </a:rPr>
                                      <m:t>𝐵𝑃𝑀</m:t>
                                    </m:r>
                                  </m:sub>
                                </m:sSub>
                                <m:r>
                                  <m:rPr>
                                    <m:nor/>
                                  </m:rPr>
                                  <a:rPr kumimoji="0" lang="en-US" altLang="ja-JP" sz="1600" dirty="0">
                                    <a:latin typeface="ＭＳ Ｐ明朝" panose="02020600040205080304" pitchFamily="18" charset="-128"/>
                                    <a:ea typeface="ＭＳ Ｐ明朝" panose="02020600040205080304" pitchFamily="18" charset="-128"/>
                                    <a:cs typeface="Times New Roman" panose="02020603050405020304" pitchFamily="18" charset="0"/>
                                  </a:rPr>
                                  <m:t> </m:t>
                                </m:r>
                              </m:e>
                            </m:mr>
                          </m:m>
                        </m:e>
                      </m:d>
                    </m:oMath>
                  </m:oMathPara>
                </a14:m>
                <a:endParaRPr kumimoji="0" lang="en-US" altLang="ja-JP" sz="1600" b="0" i="0" u="none" strike="noStrike" cap="none" normalizeH="0" baseline="0" dirty="0">
                  <a:ln>
                    <a:noFill/>
                  </a:ln>
                  <a:solidFill>
                    <a:schemeClr val="tx1"/>
                  </a:solidFill>
                  <a:effectLst/>
                </a:endParaRPr>
              </a:p>
            </p:txBody>
          </p:sp>
        </mc:Choice>
        <mc:Fallback xmlns="">
          <p:sp>
            <p:nvSpPr>
              <p:cNvPr id="25" name="Rectangle 3"/>
              <p:cNvSpPr>
                <a:spLocks noRot="1" noChangeAspect="1" noMove="1" noResize="1" noEditPoints="1" noAdjustHandles="1" noChangeArrowheads="1" noChangeShapeType="1" noTextEdit="1"/>
              </p:cNvSpPr>
              <p:nvPr/>
            </p:nvSpPr>
            <p:spPr bwMode="auto">
              <a:xfrm>
                <a:off x="162000" y="2258903"/>
                <a:ext cx="8820000" cy="1481816"/>
              </a:xfrm>
              <a:prstGeom prst="rect">
                <a:avLst/>
              </a:prstGeom>
              <a:blipFill>
                <a:blip r:embed="rId4"/>
                <a:stretch>
                  <a:fillRect t="-20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ja-JP" altLang="en-US">
                    <a:noFill/>
                  </a:rPr>
                  <a:t> </a:t>
                </a:r>
              </a:p>
            </p:txBody>
          </p:sp>
        </mc:Fallback>
      </mc:AlternateContent>
      <p:sp>
        <p:nvSpPr>
          <p:cNvPr id="16" name="テキスト ボックス 15"/>
          <p:cNvSpPr txBox="1"/>
          <p:nvPr/>
        </p:nvSpPr>
        <p:spPr>
          <a:xfrm>
            <a:off x="162000" y="1206890"/>
            <a:ext cx="8820000" cy="1015663"/>
          </a:xfrm>
          <a:prstGeom prst="rect">
            <a:avLst/>
          </a:prstGeom>
          <a:noFill/>
        </p:spPr>
        <p:txBody>
          <a:bodyPr wrap="square" rtlCol="0">
            <a:spAutoFit/>
          </a:bodyPr>
          <a:lstStyle/>
          <a:p>
            <a:pPr algn="just"/>
            <a:r>
              <a:rPr lang="ja-JP" altLang="en-US" sz="2000" dirty="0"/>
              <a:t>キッカー</a:t>
            </a:r>
            <a:r>
              <a:rPr lang="ja-JP" altLang="ja-JP" sz="2000" dirty="0"/>
              <a:t>電磁石</a:t>
            </a:r>
            <a:r>
              <a:rPr lang="ja-JP" altLang="en-US" sz="2000" dirty="0"/>
              <a:t>を励磁して</a:t>
            </a:r>
            <a:r>
              <a:rPr lang="ja-JP" altLang="en-US" sz="2000" u="sng" dirty="0"/>
              <a:t>蓄積ビーム</a:t>
            </a:r>
            <a:r>
              <a:rPr lang="ja-JP" altLang="en-US" sz="2000" dirty="0"/>
              <a:t>の振動を測定。直線部の情報から</a:t>
            </a:r>
            <a:r>
              <a:rPr lang="ja-JP" altLang="ja-JP" sz="2000" dirty="0"/>
              <a:t>蹴り角</a:t>
            </a:r>
            <a:r>
              <a:rPr lang="ja-JP" altLang="en-US" sz="2000" dirty="0"/>
              <a:t>を</a:t>
            </a:r>
            <a:r>
              <a:rPr lang="ja-JP" altLang="ja-JP" sz="2000" dirty="0"/>
              <a:t>導出</a:t>
            </a:r>
            <a:r>
              <a:rPr lang="ja-JP" altLang="en-US" sz="2000" dirty="0"/>
              <a:t>、</a:t>
            </a:r>
            <a:r>
              <a:rPr lang="ja-JP" altLang="ja-JP" sz="2000" dirty="0"/>
              <a:t>パルスのタイミングを遅延時間方向に掃引した結果</a:t>
            </a:r>
            <a:r>
              <a:rPr lang="ja-JP" altLang="en-US" sz="2000" dirty="0"/>
              <a:t>からパルス波形に再構築する。</a:t>
            </a:r>
            <a:endParaRPr lang="en-US" altLang="ja-JP" sz="2000" dirty="0"/>
          </a:p>
        </p:txBody>
      </p:sp>
      <mc:AlternateContent xmlns:mc="http://schemas.openxmlformats.org/markup-compatibility/2006" xmlns:a14="http://schemas.microsoft.com/office/drawing/2010/main">
        <mc:Choice Requires="a14">
          <p:sp>
            <p:nvSpPr>
              <p:cNvPr id="7" name="正方形/長方形 6"/>
              <p:cNvSpPr/>
              <p:nvPr/>
            </p:nvSpPr>
            <p:spPr>
              <a:xfrm>
                <a:off x="6858000" y="2727660"/>
                <a:ext cx="108003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ja-JP" sz="1600" b="0" i="0" smtClean="0">
                          <a:latin typeface="Cambria Math" panose="02040503050406030204" pitchFamily="18" charset="0"/>
                        </a:rPr>
                        <m:t>:</m:t>
                      </m:r>
                      <m:r>
                        <a:rPr lang="en-US" altLang="ja-JP" sz="1600">
                          <a:latin typeface="Cambria Math" panose="02040503050406030204" pitchFamily="18" charset="0"/>
                        </a:rPr>
                        <m:t>𝜃</m:t>
                      </m:r>
                      <m:d>
                        <m:dPr>
                          <m:ctrlPr>
                            <a:rPr lang="ja-JP" altLang="ja-JP" sz="1600" i="1">
                              <a:latin typeface="Cambria Math" panose="02040503050406030204" pitchFamily="18" charset="0"/>
                            </a:rPr>
                          </m:ctrlPr>
                        </m:dPr>
                        <m:e>
                          <m:r>
                            <a:rPr lang="en-US" altLang="ja-JP" sz="1600">
                              <a:latin typeface="Cambria Math" panose="02040503050406030204" pitchFamily="18" charset="0"/>
                            </a:rPr>
                            <m:t>𝑡</m:t>
                          </m:r>
                        </m:e>
                      </m:d>
                      <m:r>
                        <a:rPr lang="en-US" altLang="ja-JP" sz="1600" dirty="0">
                          <a:latin typeface="Cambria Math" panose="02040503050406030204" pitchFamily="18" charset="0"/>
                          <a:ea typeface="Cambria Math" panose="02040503050406030204" pitchFamily="18" charset="0"/>
                        </a:rPr>
                        <m:t>≠0</m:t>
                      </m:r>
                    </m:oMath>
                  </m:oMathPara>
                </a14:m>
                <a:endParaRPr lang="ja-JP" altLang="en-US" sz="1600" dirty="0"/>
              </a:p>
            </p:txBody>
          </p:sp>
        </mc:Choice>
        <mc:Fallback xmlns="">
          <p:sp>
            <p:nvSpPr>
              <p:cNvPr id="7" name="正方形/長方形 6"/>
              <p:cNvSpPr>
                <a:spLocks noRot="1" noChangeAspect="1" noMove="1" noResize="1" noEditPoints="1" noAdjustHandles="1" noChangeArrowheads="1" noChangeShapeType="1" noTextEdit="1"/>
              </p:cNvSpPr>
              <p:nvPr/>
            </p:nvSpPr>
            <p:spPr>
              <a:xfrm>
                <a:off x="6858000" y="2727660"/>
                <a:ext cx="1080039" cy="338554"/>
              </a:xfrm>
              <a:prstGeom prst="rect">
                <a:avLst/>
              </a:prstGeom>
              <a:blipFill rotWithShape="0">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正方形/長方形 17"/>
              <p:cNvSpPr/>
              <p:nvPr/>
            </p:nvSpPr>
            <p:spPr>
              <a:xfrm>
                <a:off x="6858000" y="3277791"/>
                <a:ext cx="108003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ja-JP" sz="1600" b="0" i="0" smtClean="0">
                          <a:latin typeface="Cambria Math" panose="02040503050406030204" pitchFamily="18" charset="0"/>
                        </a:rPr>
                        <m:t>:</m:t>
                      </m:r>
                      <m:r>
                        <a:rPr lang="en-US" altLang="ja-JP" sz="1600" smtClean="0">
                          <a:latin typeface="Cambria Math" panose="02040503050406030204" pitchFamily="18" charset="0"/>
                        </a:rPr>
                        <m:t>𝜃</m:t>
                      </m:r>
                      <m:d>
                        <m:dPr>
                          <m:ctrlPr>
                            <a:rPr lang="ja-JP" altLang="ja-JP" sz="1600" i="1">
                              <a:latin typeface="Cambria Math" panose="02040503050406030204" pitchFamily="18" charset="0"/>
                            </a:rPr>
                          </m:ctrlPr>
                        </m:dPr>
                        <m:e>
                          <m:r>
                            <a:rPr lang="en-US" altLang="ja-JP" sz="1600">
                              <a:latin typeface="Cambria Math" panose="02040503050406030204" pitchFamily="18" charset="0"/>
                            </a:rPr>
                            <m:t>𝑡</m:t>
                          </m:r>
                        </m:e>
                      </m:d>
                      <m:r>
                        <a:rPr lang="en-US" altLang="ja-JP" sz="1600" b="0" i="0" smtClean="0">
                          <a:latin typeface="Cambria Math" panose="02040503050406030204" pitchFamily="18" charset="0"/>
                        </a:rPr>
                        <m:t>=</m:t>
                      </m:r>
                      <m:r>
                        <a:rPr lang="en-US" altLang="ja-JP" sz="1600" dirty="0">
                          <a:latin typeface="Cambria Math" panose="02040503050406030204" pitchFamily="18" charset="0"/>
                          <a:ea typeface="Cambria Math" panose="02040503050406030204" pitchFamily="18" charset="0"/>
                        </a:rPr>
                        <m:t>0</m:t>
                      </m:r>
                    </m:oMath>
                  </m:oMathPara>
                </a14:m>
                <a:endParaRPr lang="ja-JP" altLang="en-US" sz="1600" dirty="0"/>
              </a:p>
            </p:txBody>
          </p:sp>
        </mc:Choice>
        <mc:Fallback xmlns="">
          <p:sp>
            <p:nvSpPr>
              <p:cNvPr id="18" name="正方形/長方形 17"/>
              <p:cNvSpPr>
                <a:spLocks noRot="1" noChangeAspect="1" noMove="1" noResize="1" noEditPoints="1" noAdjustHandles="1" noChangeArrowheads="1" noChangeShapeType="1" noTextEdit="1"/>
              </p:cNvSpPr>
              <p:nvPr/>
            </p:nvSpPr>
            <p:spPr>
              <a:xfrm>
                <a:off x="6858000" y="3277791"/>
                <a:ext cx="1080039" cy="338554"/>
              </a:xfrm>
              <a:prstGeom prst="rect">
                <a:avLst/>
              </a:prstGeom>
              <a:blipFill rotWithShape="0">
                <a:blip r:embed="rId6"/>
                <a:stretch>
                  <a:fillRect/>
                </a:stretch>
              </a:blipFill>
            </p:spPr>
            <p:txBody>
              <a:bodyPr/>
              <a:lstStyle/>
              <a:p>
                <a:r>
                  <a:rPr lang="ja-JP" altLang="en-US">
                    <a:noFill/>
                  </a:rPr>
                  <a:t> </a:t>
                </a:r>
              </a:p>
            </p:txBody>
          </p:sp>
        </mc:Fallback>
      </mc:AlternateContent>
      <p:graphicFrame>
        <p:nvGraphicFramePr>
          <p:cNvPr id="19" name="グラフ 18"/>
          <p:cNvGraphicFramePr>
            <a:graphicFrameLocks/>
          </p:cNvGraphicFramePr>
          <p:nvPr>
            <p:extLst>
              <p:ext uri="{D42A27DB-BD31-4B8C-83A1-F6EECF244321}">
                <p14:modId xmlns:p14="http://schemas.microsoft.com/office/powerpoint/2010/main" val="837620522"/>
              </p:ext>
            </p:extLst>
          </p:nvPr>
        </p:nvGraphicFramePr>
        <p:xfrm>
          <a:off x="4791876" y="3987327"/>
          <a:ext cx="3600000" cy="2882382"/>
        </p:xfrm>
        <a:graphic>
          <a:graphicData uri="http://schemas.openxmlformats.org/drawingml/2006/chart">
            <c:chart xmlns:c="http://schemas.openxmlformats.org/drawingml/2006/chart" xmlns:r="http://schemas.openxmlformats.org/officeDocument/2006/relationships" r:id="rId7"/>
          </a:graphicData>
        </a:graphic>
      </p:graphicFrame>
      <p:sp>
        <p:nvSpPr>
          <p:cNvPr id="20" name="右矢印 19"/>
          <p:cNvSpPr/>
          <p:nvPr/>
        </p:nvSpPr>
        <p:spPr>
          <a:xfrm>
            <a:off x="4175360" y="5144136"/>
            <a:ext cx="616516" cy="458383"/>
          </a:xfrm>
          <a:prstGeom prst="rightArrow">
            <a:avLst/>
          </a:prstGeom>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p:cNvSpPr txBox="1"/>
          <p:nvPr/>
        </p:nvSpPr>
        <p:spPr>
          <a:xfrm>
            <a:off x="726735" y="3708630"/>
            <a:ext cx="3177925" cy="523220"/>
          </a:xfrm>
          <a:prstGeom prst="rect">
            <a:avLst/>
          </a:prstGeom>
          <a:noFill/>
        </p:spPr>
        <p:txBody>
          <a:bodyPr wrap="square" rtlCol="0">
            <a:spAutoFit/>
          </a:bodyPr>
          <a:lstStyle/>
          <a:p>
            <a:pPr algn="r"/>
            <a:r>
              <a:rPr kumimoji="1" lang="en-US" altLang="ja-JP" sz="1400" dirty="0"/>
              <a:t>Stored beam</a:t>
            </a:r>
            <a:endParaRPr lang="en-US" altLang="ja-JP" sz="1400" dirty="0"/>
          </a:p>
          <a:p>
            <a:pPr algn="r"/>
            <a:r>
              <a:rPr kumimoji="1" lang="en-US" altLang="ja-JP" sz="1400" dirty="0"/>
              <a:t>single bunch = 2.8 mA,</a:t>
            </a:r>
            <a:r>
              <a:rPr lang="ja-JP" altLang="en-US" sz="1400" dirty="0"/>
              <a:t> </a:t>
            </a:r>
            <a:r>
              <a:rPr kumimoji="1" lang="en-US" altLang="ja-JP" sz="1400" dirty="0"/>
              <a:t>K3</a:t>
            </a:r>
            <a:endParaRPr kumimoji="1" lang="ja-JP" altLang="en-US" sz="1400" dirty="0"/>
          </a:p>
        </p:txBody>
      </p:sp>
      <p:grpSp>
        <p:nvGrpSpPr>
          <p:cNvPr id="10" name="グループ化 9"/>
          <p:cNvGrpSpPr/>
          <p:nvPr/>
        </p:nvGrpSpPr>
        <p:grpSpPr>
          <a:xfrm>
            <a:off x="7357075" y="3915997"/>
            <a:ext cx="1334404" cy="407240"/>
            <a:chOff x="7374972" y="4396576"/>
            <a:chExt cx="1334404" cy="407240"/>
          </a:xfrm>
        </p:grpSpPr>
        <p:sp>
          <p:nvSpPr>
            <p:cNvPr id="2" name="左右矢印 1"/>
            <p:cNvSpPr/>
            <p:nvPr/>
          </p:nvSpPr>
          <p:spPr>
            <a:xfrm>
              <a:off x="7480839" y="4673575"/>
              <a:ext cx="660400" cy="130241"/>
            </a:xfrm>
            <a:prstGeom prst="lef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7374972" y="4396576"/>
              <a:ext cx="1334404" cy="276999"/>
            </a:xfrm>
            <a:prstGeom prst="rect">
              <a:avLst/>
            </a:prstGeom>
          </p:spPr>
          <p:txBody>
            <a:bodyPr wrap="none">
              <a:spAutoFit/>
            </a:bodyPr>
            <a:lstStyle/>
            <a:p>
              <a:r>
                <a:rPr lang="en-US" altLang="ja-JP" sz="1200" b="1" dirty="0"/>
                <a:t>Revolution period</a:t>
              </a:r>
              <a:endParaRPr lang="ja-JP" altLang="en-US" sz="1200" dirty="0"/>
            </a:p>
          </p:txBody>
        </p:sp>
      </p:grpSp>
      <p:sp>
        <p:nvSpPr>
          <p:cNvPr id="11" name="スライド番号プレースホルダー 10"/>
          <p:cNvSpPr>
            <a:spLocks noGrp="1"/>
          </p:cNvSpPr>
          <p:nvPr>
            <p:ph type="sldNum" sz="quarter" idx="12"/>
          </p:nvPr>
        </p:nvSpPr>
        <p:spPr/>
        <p:txBody>
          <a:bodyPr/>
          <a:lstStyle/>
          <a:p>
            <a:fld id="{26B42C4F-1ABF-421A-9D5F-F691A5F6974A}" type="slidenum">
              <a:rPr kumimoji="1" lang="ja-JP" altLang="en-US" smtClean="0"/>
              <a:t>11</a:t>
            </a:fld>
            <a:endParaRPr kumimoji="1" lang="ja-JP" altLang="en-US"/>
          </a:p>
        </p:txBody>
      </p:sp>
    </p:spTree>
    <p:extLst>
      <p:ext uri="{BB962C8B-B14F-4D97-AF65-F5344CB8AC3E}">
        <p14:creationId xmlns:p14="http://schemas.microsoft.com/office/powerpoint/2010/main" val="615816766"/>
      </p:ext>
    </p:extLst>
  </p:cSld>
  <p:clrMapOvr>
    <a:masterClrMapping/>
  </p:clrMapOvr>
  <mc:AlternateContent xmlns:mc="http://schemas.openxmlformats.org/markup-compatibility/2006" xmlns:p14="http://schemas.microsoft.com/office/powerpoint/2010/main">
    <mc:Choice Requires="p14">
      <p:transition spd="slow" p14:dur="2000" advTm="1423"/>
    </mc:Choice>
    <mc:Fallback xmlns="">
      <p:transition spd="slow" advTm="142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0" y="728180"/>
            <a:ext cx="4990469" cy="523220"/>
          </a:xfrm>
          <a:prstGeom prst="rect">
            <a:avLst/>
          </a:prstGeom>
        </p:spPr>
        <p:txBody>
          <a:bodyPr wrap="none">
            <a:spAutoFit/>
          </a:bodyPr>
          <a:lstStyle/>
          <a:p>
            <a:r>
              <a:rPr lang="ja-JP" altLang="en-US" sz="2800" dirty="0"/>
              <a:t>キッカーパルス波形の測定結果</a:t>
            </a:r>
            <a:endParaRPr lang="en-US" altLang="ja-JP" sz="2800" dirty="0"/>
          </a:p>
        </p:txBody>
      </p:sp>
      <p:graphicFrame>
        <p:nvGraphicFramePr>
          <p:cNvPr id="2" name="表 1"/>
          <p:cNvGraphicFramePr>
            <a:graphicFrameLocks noGrp="1"/>
          </p:cNvGraphicFramePr>
          <p:nvPr>
            <p:extLst>
              <p:ext uri="{D42A27DB-BD31-4B8C-83A1-F6EECF244321}">
                <p14:modId xmlns:p14="http://schemas.microsoft.com/office/powerpoint/2010/main" val="1649044994"/>
              </p:ext>
            </p:extLst>
          </p:nvPr>
        </p:nvGraphicFramePr>
        <p:xfrm>
          <a:off x="5346000" y="4269601"/>
          <a:ext cx="3636000" cy="1582330"/>
        </p:xfrm>
        <a:graphic>
          <a:graphicData uri="http://schemas.openxmlformats.org/drawingml/2006/table">
            <a:tbl>
              <a:tblPr>
                <a:tableStyleId>{5C22544A-7EE6-4342-B048-85BDC9FD1C3A}</a:tableStyleId>
              </a:tblPr>
              <a:tblGrid>
                <a:gridCol w="1044000">
                  <a:extLst>
                    <a:ext uri="{9D8B030D-6E8A-4147-A177-3AD203B41FA5}">
                      <a16:colId xmlns="" xmlns:a16="http://schemas.microsoft.com/office/drawing/2014/main" val="20000"/>
                    </a:ext>
                  </a:extLst>
                </a:gridCol>
                <a:gridCol w="648000">
                  <a:extLst>
                    <a:ext uri="{9D8B030D-6E8A-4147-A177-3AD203B41FA5}">
                      <a16:colId xmlns="" xmlns:a16="http://schemas.microsoft.com/office/drawing/2014/main" val="20001"/>
                    </a:ext>
                  </a:extLst>
                </a:gridCol>
                <a:gridCol w="648000">
                  <a:extLst>
                    <a:ext uri="{9D8B030D-6E8A-4147-A177-3AD203B41FA5}">
                      <a16:colId xmlns="" xmlns:a16="http://schemas.microsoft.com/office/drawing/2014/main" val="20002"/>
                    </a:ext>
                  </a:extLst>
                </a:gridCol>
                <a:gridCol w="648000">
                  <a:extLst>
                    <a:ext uri="{9D8B030D-6E8A-4147-A177-3AD203B41FA5}">
                      <a16:colId xmlns="" xmlns:a16="http://schemas.microsoft.com/office/drawing/2014/main" val="20003"/>
                    </a:ext>
                  </a:extLst>
                </a:gridCol>
                <a:gridCol w="648000">
                  <a:extLst>
                    <a:ext uri="{9D8B030D-6E8A-4147-A177-3AD203B41FA5}">
                      <a16:colId xmlns="" xmlns:a16="http://schemas.microsoft.com/office/drawing/2014/main" val="20004"/>
                    </a:ext>
                  </a:extLst>
                </a:gridCol>
              </a:tblGrid>
              <a:tr h="358330">
                <a:tc>
                  <a:txBody>
                    <a:bodyPr/>
                    <a:lstStyle/>
                    <a:p>
                      <a:pPr algn="just">
                        <a:lnSpc>
                          <a:spcPts val="1100"/>
                        </a:lnSpc>
                        <a:spcBef>
                          <a:spcPts val="300"/>
                        </a:spcBef>
                        <a:spcAft>
                          <a:spcPts val="300"/>
                        </a:spcAft>
                      </a:pPr>
                      <a:r>
                        <a:rPr lang="en-US" sz="1400" kern="800" dirty="0">
                          <a:effectLst/>
                        </a:rPr>
                        <a:t> </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1100"/>
                        </a:lnSpc>
                        <a:spcBef>
                          <a:spcPts val="300"/>
                        </a:spcBef>
                        <a:spcAft>
                          <a:spcPts val="300"/>
                        </a:spcAft>
                      </a:pPr>
                      <a:r>
                        <a:rPr lang="en-US" sz="1400" kern="800" dirty="0">
                          <a:effectLst/>
                        </a:rPr>
                        <a:t>K1</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1100"/>
                        </a:lnSpc>
                        <a:spcBef>
                          <a:spcPts val="300"/>
                        </a:spcBef>
                        <a:spcAft>
                          <a:spcPts val="300"/>
                        </a:spcAft>
                      </a:pPr>
                      <a:r>
                        <a:rPr lang="en-US" sz="1400" kern="800">
                          <a:effectLst/>
                        </a:rPr>
                        <a:t>K2</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1100"/>
                        </a:lnSpc>
                        <a:spcBef>
                          <a:spcPts val="300"/>
                        </a:spcBef>
                        <a:spcAft>
                          <a:spcPts val="300"/>
                        </a:spcAft>
                      </a:pPr>
                      <a:r>
                        <a:rPr lang="en-US" sz="1400" kern="800" dirty="0">
                          <a:effectLst/>
                        </a:rPr>
                        <a:t>K3</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1100"/>
                        </a:lnSpc>
                        <a:spcBef>
                          <a:spcPts val="300"/>
                        </a:spcBef>
                        <a:spcAft>
                          <a:spcPts val="300"/>
                        </a:spcAft>
                      </a:pPr>
                      <a:r>
                        <a:rPr lang="en-US" sz="1400" kern="800" dirty="0">
                          <a:effectLst/>
                        </a:rPr>
                        <a:t>K4</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612000">
                <a:tc>
                  <a:txBody>
                    <a:bodyPr/>
                    <a:lstStyle/>
                    <a:p>
                      <a:pPr algn="ctr">
                        <a:lnSpc>
                          <a:spcPct val="100000"/>
                        </a:lnSpc>
                        <a:spcBef>
                          <a:spcPts val="300"/>
                        </a:spcBef>
                        <a:spcAft>
                          <a:spcPts val="300"/>
                        </a:spcAft>
                      </a:pPr>
                      <a:r>
                        <a:rPr lang="en-US" sz="1400" dirty="0">
                          <a:effectLst/>
                        </a:rPr>
                        <a:t>Kick angle [mrad]</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a:lnSpc>
                          <a:spcPts val="1100"/>
                        </a:lnSpc>
                        <a:spcBef>
                          <a:spcPts val="300"/>
                        </a:spcBef>
                        <a:spcAft>
                          <a:spcPts val="300"/>
                        </a:spcAft>
                      </a:pPr>
                      <a:r>
                        <a:rPr lang="en-US" sz="1400" kern="800" dirty="0">
                          <a:effectLst/>
                        </a:rPr>
                        <a:t>-0.414</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a:lnSpc>
                          <a:spcPts val="1100"/>
                        </a:lnSpc>
                        <a:spcBef>
                          <a:spcPts val="300"/>
                        </a:spcBef>
                        <a:spcAft>
                          <a:spcPts val="300"/>
                        </a:spcAft>
                      </a:pPr>
                      <a:r>
                        <a:rPr lang="en-US" sz="1400" kern="800" dirty="0">
                          <a:effectLst/>
                        </a:rPr>
                        <a:t>0.351</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a:lnSpc>
                          <a:spcPts val="1100"/>
                        </a:lnSpc>
                        <a:spcBef>
                          <a:spcPts val="300"/>
                        </a:spcBef>
                        <a:spcAft>
                          <a:spcPts val="300"/>
                        </a:spcAft>
                      </a:pPr>
                      <a:r>
                        <a:rPr lang="en-US" sz="1400" kern="800" dirty="0">
                          <a:effectLst/>
                        </a:rPr>
                        <a:t>-0.452</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solidFill>
                      <a:schemeClr val="bg1"/>
                    </a:solidFill>
                  </a:tcPr>
                </a:tc>
                <a:tc>
                  <a:txBody>
                    <a:bodyPr/>
                    <a:lstStyle/>
                    <a:p>
                      <a:pPr algn="ctr">
                        <a:lnSpc>
                          <a:spcPts val="1100"/>
                        </a:lnSpc>
                        <a:spcBef>
                          <a:spcPts val="300"/>
                        </a:spcBef>
                        <a:spcAft>
                          <a:spcPts val="300"/>
                        </a:spcAft>
                      </a:pPr>
                      <a:r>
                        <a:rPr lang="en-US" sz="1400" kern="800">
                          <a:effectLst/>
                        </a:rPr>
                        <a:t>-0.539</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 xmlns:a16="http://schemas.microsoft.com/office/drawing/2014/main" val="10001"/>
                  </a:ext>
                </a:extLst>
              </a:tr>
              <a:tr h="612000">
                <a:tc>
                  <a:txBody>
                    <a:bodyPr/>
                    <a:lstStyle/>
                    <a:p>
                      <a:pPr algn="ctr">
                        <a:lnSpc>
                          <a:spcPct val="100000"/>
                        </a:lnSpc>
                        <a:spcBef>
                          <a:spcPts val="300"/>
                        </a:spcBef>
                        <a:spcAft>
                          <a:spcPts val="300"/>
                        </a:spcAft>
                      </a:pPr>
                      <a:r>
                        <a:rPr lang="en-US" sz="1400" kern="800" dirty="0">
                          <a:effectLst/>
                        </a:rPr>
                        <a:t>Pulse</a:t>
                      </a:r>
                      <a:r>
                        <a:rPr lang="en-US" sz="1400" kern="800" baseline="0" dirty="0">
                          <a:effectLst/>
                        </a:rPr>
                        <a:t> </a:t>
                      </a:r>
                      <a:r>
                        <a:rPr lang="en-US" sz="1400" kern="800" dirty="0">
                          <a:effectLst/>
                        </a:rPr>
                        <a:t>length [nsec]</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1100"/>
                        </a:lnSpc>
                        <a:spcBef>
                          <a:spcPts val="300"/>
                        </a:spcBef>
                        <a:spcAft>
                          <a:spcPts val="300"/>
                        </a:spcAft>
                      </a:pPr>
                      <a:r>
                        <a:rPr lang="en-US" sz="1400" kern="800" dirty="0">
                          <a:effectLst/>
                        </a:rPr>
                        <a:t>1550</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1100"/>
                        </a:lnSpc>
                        <a:spcBef>
                          <a:spcPts val="300"/>
                        </a:spcBef>
                        <a:spcAft>
                          <a:spcPts val="300"/>
                        </a:spcAft>
                      </a:pPr>
                      <a:r>
                        <a:rPr lang="en-US" sz="1400" kern="800" dirty="0">
                          <a:effectLst/>
                        </a:rPr>
                        <a:t>1625</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1100"/>
                        </a:lnSpc>
                        <a:spcBef>
                          <a:spcPts val="300"/>
                        </a:spcBef>
                        <a:spcAft>
                          <a:spcPts val="300"/>
                        </a:spcAft>
                      </a:pPr>
                      <a:r>
                        <a:rPr lang="en-US" sz="1400" b="1" kern="800" dirty="0">
                          <a:effectLst/>
                        </a:rPr>
                        <a:t>15</a:t>
                      </a:r>
                      <a:r>
                        <a:rPr lang="en-US" altLang="ja-JP" sz="1400" b="1" kern="800" dirty="0">
                          <a:effectLst/>
                        </a:rPr>
                        <a:t>75</a:t>
                      </a:r>
                      <a:endParaRPr lang="ja-JP" sz="1600" b="1"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a:lnSpc>
                          <a:spcPts val="1100"/>
                        </a:lnSpc>
                        <a:spcBef>
                          <a:spcPts val="300"/>
                        </a:spcBef>
                        <a:spcAft>
                          <a:spcPts val="300"/>
                        </a:spcAft>
                      </a:pPr>
                      <a:r>
                        <a:rPr lang="en-US" sz="1400" kern="800" dirty="0">
                          <a:effectLst/>
                        </a:rPr>
                        <a:t>1625</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sp>
        <p:nvSpPr>
          <p:cNvPr id="17" name="テキスト ボックス 16"/>
          <p:cNvSpPr txBox="1"/>
          <p:nvPr/>
        </p:nvSpPr>
        <p:spPr>
          <a:xfrm>
            <a:off x="5346000" y="3849897"/>
            <a:ext cx="3798000" cy="338554"/>
          </a:xfrm>
          <a:prstGeom prst="rect">
            <a:avLst/>
          </a:prstGeom>
          <a:noFill/>
        </p:spPr>
        <p:txBody>
          <a:bodyPr wrap="square" rtlCol="0">
            <a:spAutoFit/>
          </a:bodyPr>
          <a:lstStyle/>
          <a:p>
            <a:pPr algn="ctr"/>
            <a:r>
              <a:rPr lang="ja-JP" altLang="en-US" sz="1600" dirty="0"/>
              <a:t>キッカー電磁石の蹴り角とパルス長</a:t>
            </a:r>
            <a:r>
              <a:rPr lang="en-US" altLang="ja-JP" sz="1600" dirty="0"/>
              <a:t>(0-0)</a:t>
            </a:r>
            <a:endParaRPr kumimoji="1" lang="ja-JP" altLang="en-US" sz="1600" dirty="0"/>
          </a:p>
        </p:txBody>
      </p:sp>
      <p:sp>
        <p:nvSpPr>
          <p:cNvPr id="18" name="テキスト ボックス 17"/>
          <p:cNvSpPr txBox="1"/>
          <p:nvPr/>
        </p:nvSpPr>
        <p:spPr>
          <a:xfrm>
            <a:off x="1812544" y="1295566"/>
            <a:ext cx="3177925" cy="584775"/>
          </a:xfrm>
          <a:prstGeom prst="rect">
            <a:avLst/>
          </a:prstGeom>
          <a:noFill/>
        </p:spPr>
        <p:txBody>
          <a:bodyPr wrap="square" rtlCol="0">
            <a:spAutoFit/>
          </a:bodyPr>
          <a:lstStyle/>
          <a:p>
            <a:pPr algn="r"/>
            <a:r>
              <a:rPr kumimoji="1" lang="en-US" altLang="ja-JP" sz="1600" dirty="0"/>
              <a:t>Stored beam</a:t>
            </a:r>
          </a:p>
          <a:p>
            <a:pPr algn="r"/>
            <a:r>
              <a:rPr kumimoji="1" lang="en-US" altLang="ja-JP" sz="1600" dirty="0"/>
              <a:t>Kick angle 0.4 mrad </a:t>
            </a:r>
            <a:endParaRPr kumimoji="1" lang="ja-JP" altLang="en-US" sz="1600" dirty="0"/>
          </a:p>
        </p:txBody>
      </p:sp>
      <p:sp>
        <p:nvSpPr>
          <p:cNvPr id="19" name="テキスト ボックス 18"/>
          <p:cNvSpPr txBox="1"/>
          <p:nvPr/>
        </p:nvSpPr>
        <p:spPr>
          <a:xfrm>
            <a:off x="162000" y="6300899"/>
            <a:ext cx="8820000" cy="369332"/>
          </a:xfrm>
          <a:prstGeom prst="rect">
            <a:avLst/>
          </a:prstGeom>
          <a:noFill/>
        </p:spPr>
        <p:txBody>
          <a:bodyPr wrap="square" rtlCol="0">
            <a:spAutoFit/>
          </a:bodyPr>
          <a:lstStyle/>
          <a:p>
            <a:pPr marL="285750" indent="-285750" algn="just">
              <a:buFont typeface="Arial" panose="020B0604020202020204" pitchFamily="34" charset="0"/>
              <a:buChar char="•"/>
            </a:pPr>
            <a:r>
              <a:rPr lang="ja-JP" altLang="en-US" dirty="0"/>
              <a:t>パルスの波形から電流値</a:t>
            </a:r>
            <a:r>
              <a:rPr lang="en-US" altLang="ja-JP" dirty="0"/>
              <a:t>-</a:t>
            </a:r>
            <a:r>
              <a:rPr lang="ja-JP" altLang="en-US" dirty="0"/>
              <a:t>蹴り角の校正を実施、振幅の高さやタイミングを調整。</a:t>
            </a:r>
            <a:endParaRPr lang="en-US" altLang="ja-JP" dirty="0"/>
          </a:p>
        </p:txBody>
      </p:sp>
      <mc:AlternateContent xmlns:mc="http://schemas.openxmlformats.org/markup-compatibility/2006" xmlns:a14="http://schemas.microsoft.com/office/drawing/2010/main">
        <mc:Choice Requires="a14">
          <p:graphicFrame>
            <p:nvGraphicFramePr>
              <p:cNvPr id="20" name="表 19"/>
              <p:cNvGraphicFramePr>
                <a:graphicFrameLocks noGrp="1"/>
              </p:cNvGraphicFramePr>
              <p:nvPr>
                <p:extLst>
                  <p:ext uri="{D42A27DB-BD31-4B8C-83A1-F6EECF244321}">
                    <p14:modId xmlns:p14="http://schemas.microsoft.com/office/powerpoint/2010/main" val="1831323953"/>
                  </p:ext>
                </p:extLst>
              </p:nvPr>
            </p:nvGraphicFramePr>
            <p:xfrm>
              <a:off x="5346000" y="2616748"/>
              <a:ext cx="3636000" cy="805290"/>
            </p:xfrm>
            <a:graphic>
              <a:graphicData uri="http://schemas.openxmlformats.org/drawingml/2006/table">
                <a:tbl>
                  <a:tblPr>
                    <a:tableStyleId>{5C22544A-7EE6-4342-B048-85BDC9FD1C3A}</a:tableStyleId>
                  </a:tblPr>
                  <a:tblGrid>
                    <a:gridCol w="534545">
                      <a:extLst>
                        <a:ext uri="{9D8B030D-6E8A-4147-A177-3AD203B41FA5}">
                          <a16:colId xmlns="" xmlns:a16="http://schemas.microsoft.com/office/drawing/2014/main" val="20000"/>
                        </a:ext>
                      </a:extLst>
                    </a:gridCol>
                    <a:gridCol w="620291">
                      <a:extLst>
                        <a:ext uri="{9D8B030D-6E8A-4147-A177-3AD203B41FA5}">
                          <a16:colId xmlns="" xmlns:a16="http://schemas.microsoft.com/office/drawing/2014/main" val="20001"/>
                        </a:ext>
                      </a:extLst>
                    </a:gridCol>
                    <a:gridCol w="620291">
                      <a:extLst>
                        <a:ext uri="{9D8B030D-6E8A-4147-A177-3AD203B41FA5}">
                          <a16:colId xmlns="" xmlns:a16="http://schemas.microsoft.com/office/drawing/2014/main" val="20002"/>
                        </a:ext>
                      </a:extLst>
                    </a:gridCol>
                    <a:gridCol w="620291">
                      <a:extLst>
                        <a:ext uri="{9D8B030D-6E8A-4147-A177-3AD203B41FA5}">
                          <a16:colId xmlns="" xmlns:a16="http://schemas.microsoft.com/office/drawing/2014/main" val="20003"/>
                        </a:ext>
                      </a:extLst>
                    </a:gridCol>
                    <a:gridCol w="620291">
                      <a:extLst>
                        <a:ext uri="{9D8B030D-6E8A-4147-A177-3AD203B41FA5}">
                          <a16:colId xmlns="" xmlns:a16="http://schemas.microsoft.com/office/drawing/2014/main" val="20004"/>
                        </a:ext>
                      </a:extLst>
                    </a:gridCol>
                    <a:gridCol w="620291">
                      <a:extLst>
                        <a:ext uri="{9D8B030D-6E8A-4147-A177-3AD203B41FA5}">
                          <a16:colId xmlns="" xmlns:a16="http://schemas.microsoft.com/office/drawing/2014/main" val="20005"/>
                        </a:ext>
                      </a:extLst>
                    </a:gridCol>
                  </a:tblGrid>
                  <a:tr h="268430">
                    <a:tc>
                      <a:txBody>
                        <a:bodyPr/>
                        <a:lstStyle/>
                        <a:p>
                          <a:pPr algn="just">
                            <a:lnSpc>
                              <a:spcPts val="1100"/>
                            </a:lnSpc>
                            <a:spcBef>
                              <a:spcPts val="300"/>
                            </a:spcBef>
                            <a:spcAft>
                              <a:spcPts val="300"/>
                            </a:spcAft>
                          </a:pPr>
                          <a:r>
                            <a:rPr lang="en-GB" sz="1400" kern="800" dirty="0">
                              <a:effectLst/>
                            </a:rPr>
                            <a:t> </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K1</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K2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K3</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K4</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ID</a:t>
                          </a:r>
                          <a:r>
                            <a:rPr lang="en-US" altLang="ja-JP" sz="1400" kern="800" dirty="0">
                              <a:effectLst/>
                            </a:rPr>
                            <a:t>02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268430">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sSub>
                                  <m:sSubPr>
                                    <m:ctrlPr>
                                      <a:rPr lang="ja-JP" sz="1400" i="1" kern="800">
                                        <a:effectLst/>
                                        <a:latin typeface="Cambria Math" panose="02040503050406030204" pitchFamily="18" charset="0"/>
                                      </a:rPr>
                                    </m:ctrlPr>
                                  </m:sSubPr>
                                  <m:e>
                                    <m:r>
                                      <m:rPr>
                                        <m:sty m:val="p"/>
                                      </m:rPr>
                                      <a:rPr lang="en-GB" sz="1400" kern="800">
                                        <a:effectLst/>
                                        <a:latin typeface="Cambria Math" panose="02040503050406030204" pitchFamily="18" charset="0"/>
                                      </a:rPr>
                                      <m:t>β</m:t>
                                    </m:r>
                                  </m:e>
                                  <m:sub>
                                    <m:r>
                                      <m:rPr>
                                        <m:sty m:val="p"/>
                                      </m:rPr>
                                      <a:rPr lang="en-GB" sz="1400" kern="800">
                                        <a:effectLst/>
                                        <a:latin typeface="Cambria Math" panose="02040503050406030204" pitchFamily="18" charset="0"/>
                                      </a:rPr>
                                      <m:t>x</m:t>
                                    </m:r>
                                  </m:sub>
                                </m:sSub>
                              </m:oMath>
                            </m:oMathPara>
                          </a14:m>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dirty="0">
                              <a:effectLst/>
                            </a:rPr>
                            <a:t>3.25</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dirty="0">
                              <a:effectLst/>
                            </a:rPr>
                            <a:t>6.02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dirty="0">
                              <a:effectLst/>
                            </a:rPr>
                            <a:t>13.8</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a:effectLst/>
                            </a:rPr>
                            <a:t>3.15</a:t>
                          </a:r>
                          <a:endParaRPr lang="ja-JP" sz="140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dirty="0">
                              <a:effectLst/>
                            </a:rPr>
                            <a:t>12.0</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1"/>
                      </a:ext>
                    </a:extLst>
                  </a:tr>
                  <a:tr h="268430">
                    <a:tc>
                      <a:txBody>
                        <a:bodyPr/>
                        <a:lstStyle/>
                        <a:p>
                          <a:pPr algn="ctr">
                            <a:lnSpc>
                              <a:spcPts val="1100"/>
                            </a:lnSpc>
                            <a:spcBef>
                              <a:spcPts val="300"/>
                            </a:spcBef>
                            <a:spcAft>
                              <a:spcPts val="300"/>
                            </a:spcAft>
                          </a:pPr>
                          <a14:m>
                            <m:oMathPara xmlns:m="http://schemas.openxmlformats.org/officeDocument/2006/math">
                              <m:oMathParaPr>
                                <m:jc m:val="centerGroup"/>
                              </m:oMathParaPr>
                              <m:oMath xmlns:m="http://schemas.openxmlformats.org/officeDocument/2006/math">
                                <m:r>
                                  <m:rPr>
                                    <m:sty m:val="p"/>
                                  </m:rPr>
                                  <a:rPr lang="en-GB" sz="1400" kern="800">
                                    <a:effectLst/>
                                    <a:latin typeface="Cambria Math" panose="02040503050406030204" pitchFamily="18" charset="0"/>
                                  </a:rPr>
                                  <m:t>Δ</m:t>
                                </m:r>
                                <m:sSub>
                                  <m:sSubPr>
                                    <m:ctrlPr>
                                      <a:rPr lang="ja-JP" sz="1400" i="1" kern="800">
                                        <a:effectLst/>
                                        <a:latin typeface="Cambria Math" panose="02040503050406030204" pitchFamily="18" charset="0"/>
                                      </a:rPr>
                                    </m:ctrlPr>
                                  </m:sSubPr>
                                  <m:e>
                                    <m:r>
                                      <m:rPr>
                                        <m:sty m:val="p"/>
                                      </m:rPr>
                                      <a:rPr lang="en-GB" sz="1400" kern="800">
                                        <a:effectLst/>
                                        <a:latin typeface="Cambria Math" panose="02040503050406030204" pitchFamily="18" charset="0"/>
                                      </a:rPr>
                                      <m:t>φ</m:t>
                                    </m:r>
                                  </m:e>
                                  <m:sub>
                                    <m:r>
                                      <m:rPr>
                                        <m:sty m:val="p"/>
                                      </m:rPr>
                                      <a:rPr lang="en-GB" sz="1400" kern="800">
                                        <a:effectLst/>
                                        <a:latin typeface="Cambria Math" panose="02040503050406030204" pitchFamily="18" charset="0"/>
                                      </a:rPr>
                                      <m:t>x</m:t>
                                    </m:r>
                                  </m:sub>
                                </m:sSub>
                              </m:oMath>
                            </m:oMathPara>
                          </a14:m>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b="1" kern="800" dirty="0">
                              <a:effectLst/>
                            </a:rPr>
                            <a:t>8.01</a:t>
                          </a:r>
                          <a:endParaRPr lang="ja-JP" sz="1400" b="1"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kern="800" dirty="0">
                              <a:effectLst/>
                            </a:rPr>
                            <a:t>8.29</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kern="800" dirty="0">
                              <a:effectLst/>
                            </a:rPr>
                            <a:t>1.24</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kern="800" dirty="0">
                              <a:effectLst/>
                            </a:rPr>
                            <a:t>0.86</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kern="800" dirty="0">
                              <a:effectLst/>
                            </a:rPr>
                            <a:t>0.00</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2"/>
                      </a:ext>
                    </a:extLst>
                  </a:tr>
                </a:tbl>
              </a:graphicData>
            </a:graphic>
          </p:graphicFrame>
        </mc:Choice>
        <mc:Fallback xmlns="">
          <p:graphicFrame>
            <p:nvGraphicFramePr>
              <p:cNvPr id="20" name="表 19"/>
              <p:cNvGraphicFramePr>
                <a:graphicFrameLocks noGrp="1"/>
              </p:cNvGraphicFramePr>
              <p:nvPr>
                <p:extLst>
                  <p:ext uri="{D42A27DB-BD31-4B8C-83A1-F6EECF244321}">
                    <p14:modId xmlns:p14="http://schemas.microsoft.com/office/powerpoint/2010/main" val="1831323953"/>
                  </p:ext>
                </p:extLst>
              </p:nvPr>
            </p:nvGraphicFramePr>
            <p:xfrm>
              <a:off x="5346000" y="2616748"/>
              <a:ext cx="3636000" cy="805290"/>
            </p:xfrm>
            <a:graphic>
              <a:graphicData uri="http://schemas.openxmlformats.org/drawingml/2006/table">
                <a:tbl>
                  <a:tblPr>
                    <a:tableStyleId>{5C22544A-7EE6-4342-B048-85BDC9FD1C3A}</a:tableStyleId>
                  </a:tblPr>
                  <a:tblGrid>
                    <a:gridCol w="534545"/>
                    <a:gridCol w="620291"/>
                    <a:gridCol w="620291"/>
                    <a:gridCol w="620291"/>
                    <a:gridCol w="620291"/>
                    <a:gridCol w="620291"/>
                  </a:tblGrid>
                  <a:tr h="268430">
                    <a:tc>
                      <a:txBody>
                        <a:bodyPr/>
                        <a:lstStyle/>
                        <a:p>
                          <a:pPr algn="just">
                            <a:lnSpc>
                              <a:spcPts val="1100"/>
                            </a:lnSpc>
                            <a:spcBef>
                              <a:spcPts val="300"/>
                            </a:spcBef>
                            <a:spcAft>
                              <a:spcPts val="300"/>
                            </a:spcAft>
                          </a:pPr>
                          <a:r>
                            <a:rPr lang="en-GB" sz="1400" kern="800" dirty="0">
                              <a:effectLst/>
                            </a:rPr>
                            <a:t> </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K1</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K2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K3</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a:effectLst/>
                            </a:rPr>
                            <a:t>K4</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GB" sz="1400" kern="800" dirty="0" smtClean="0">
                              <a:effectLst/>
                            </a:rPr>
                            <a:t>ID</a:t>
                          </a:r>
                          <a:r>
                            <a:rPr lang="en-US" altLang="ja-JP" sz="1400" kern="800" dirty="0" smtClean="0">
                              <a:effectLst/>
                            </a:rPr>
                            <a:t>02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68430">
                    <a:tc>
                      <a:txBody>
                        <a:bodyPr/>
                        <a:lstStyle/>
                        <a:p>
                          <a:endParaRPr lang="ja-JP"/>
                        </a:p>
                      </a:txBody>
                      <a:tcPr marL="68580" marR="68580" marT="0" marB="0" anchor="ctr">
                        <a:lnT w="12700" cap="flat" cmpd="sng" algn="ctr">
                          <a:solidFill>
                            <a:schemeClr val="tx1"/>
                          </a:solidFill>
                          <a:prstDash val="solid"/>
                          <a:round/>
                          <a:headEnd type="none" w="med" len="med"/>
                          <a:tailEnd type="none" w="med" len="med"/>
                        </a:lnT>
                        <a:blipFill rotWithShape="0">
                          <a:blip r:embed="rId3"/>
                          <a:stretch>
                            <a:fillRect l="-1136" t="-117778" r="-581818" b="-115556"/>
                          </a:stretch>
                        </a:blipFill>
                      </a:tcPr>
                    </a:tc>
                    <a:tc>
                      <a:txBody>
                        <a:bodyPr/>
                        <a:lstStyle/>
                        <a:p>
                          <a:pPr algn="r">
                            <a:lnSpc>
                              <a:spcPts val="1100"/>
                            </a:lnSpc>
                            <a:spcBef>
                              <a:spcPts val="300"/>
                            </a:spcBef>
                            <a:spcAft>
                              <a:spcPts val="300"/>
                            </a:spcAft>
                          </a:pPr>
                          <a:r>
                            <a:rPr lang="en-GB" sz="1400" kern="800" dirty="0">
                              <a:effectLst/>
                            </a:rPr>
                            <a:t>3.25</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dirty="0">
                              <a:effectLst/>
                            </a:rPr>
                            <a:t>6.02</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dirty="0">
                              <a:effectLst/>
                            </a:rPr>
                            <a:t>13.8</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a:effectLst/>
                            </a:rPr>
                            <a:t>3.15</a:t>
                          </a:r>
                          <a:endParaRPr lang="ja-JP" sz="140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r">
                            <a:lnSpc>
                              <a:spcPts val="1100"/>
                            </a:lnSpc>
                            <a:spcBef>
                              <a:spcPts val="300"/>
                            </a:spcBef>
                            <a:spcAft>
                              <a:spcPts val="300"/>
                            </a:spcAft>
                          </a:pPr>
                          <a:r>
                            <a:rPr lang="en-GB" sz="1400" kern="800" dirty="0">
                              <a:effectLst/>
                            </a:rPr>
                            <a:t>12.0</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T w="12700" cap="flat" cmpd="sng" algn="ctr">
                          <a:solidFill>
                            <a:schemeClr val="tx1"/>
                          </a:solidFill>
                          <a:prstDash val="solid"/>
                          <a:round/>
                          <a:headEnd type="none" w="med" len="med"/>
                          <a:tailEnd type="none" w="med" len="med"/>
                        </a:lnT>
                        <a:noFill/>
                      </a:tcPr>
                    </a:tc>
                  </a:tr>
                  <a:tr h="268430">
                    <a:tc>
                      <a:txBody>
                        <a:bodyPr/>
                        <a:lstStyle/>
                        <a:p>
                          <a:endParaRPr lang="ja-JP"/>
                        </a:p>
                      </a:txBody>
                      <a:tcPr marL="68580" marR="68580" marT="0" marB="0" anchor="ctr">
                        <a:lnB w="12700" cap="flat" cmpd="sng" algn="ctr">
                          <a:solidFill>
                            <a:schemeClr val="tx1"/>
                          </a:solidFill>
                          <a:prstDash val="solid"/>
                          <a:round/>
                          <a:headEnd type="none" w="med" len="med"/>
                          <a:tailEnd type="none" w="med" len="med"/>
                        </a:lnB>
                        <a:blipFill rotWithShape="0">
                          <a:blip r:embed="rId3"/>
                          <a:stretch>
                            <a:fillRect l="-1136" t="-222727" r="-581818" b="-18182"/>
                          </a:stretch>
                        </a:blipFill>
                      </a:tcPr>
                    </a:tc>
                    <a:tc>
                      <a:txBody>
                        <a:bodyPr/>
                        <a:lstStyle/>
                        <a:p>
                          <a:pPr algn="r">
                            <a:lnSpc>
                              <a:spcPts val="1100"/>
                            </a:lnSpc>
                            <a:spcBef>
                              <a:spcPts val="300"/>
                            </a:spcBef>
                            <a:spcAft>
                              <a:spcPts val="300"/>
                            </a:spcAft>
                          </a:pPr>
                          <a:r>
                            <a:rPr lang="en-GB" sz="1400" b="1" kern="800" dirty="0">
                              <a:effectLst/>
                            </a:rPr>
                            <a:t>8.01</a:t>
                          </a:r>
                          <a:endParaRPr lang="ja-JP" sz="1400" b="1"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kern="800" dirty="0">
                              <a:effectLst/>
                            </a:rPr>
                            <a:t>8.29</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kern="800" dirty="0">
                              <a:effectLst/>
                            </a:rPr>
                            <a:t>1.24</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kern="800" dirty="0">
                              <a:effectLst/>
                            </a:rPr>
                            <a:t>0.86</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r">
                            <a:lnSpc>
                              <a:spcPts val="1100"/>
                            </a:lnSpc>
                            <a:spcBef>
                              <a:spcPts val="300"/>
                            </a:spcBef>
                            <a:spcAft>
                              <a:spcPts val="300"/>
                            </a:spcAft>
                          </a:pPr>
                          <a:r>
                            <a:rPr lang="en-GB" sz="1400" kern="800" dirty="0">
                              <a:effectLst/>
                            </a:rPr>
                            <a:t>0.00</a:t>
                          </a:r>
                          <a:endParaRPr lang="ja-JP" sz="1400" dirty="0">
                            <a:effectLst/>
                            <a:latin typeface="Times New Roman" panose="02020603050405020304" pitchFamily="18" charset="0"/>
                            <a:ea typeface="ＭＳ 明朝" panose="02020609040205080304" pitchFamily="17" charset="-128"/>
                          </a:endParaRPr>
                        </a:p>
                      </a:txBody>
                      <a:tcPr marL="68580" marR="68580" marT="0" marB="0" anchor="ctr">
                        <a:lnB w="12700" cap="flat" cmpd="sng" algn="ctr">
                          <a:solidFill>
                            <a:schemeClr val="tx1"/>
                          </a:solidFill>
                          <a:prstDash val="solid"/>
                          <a:round/>
                          <a:headEnd type="none" w="med" len="med"/>
                          <a:tailEnd type="none" w="med" len="med"/>
                        </a:lnB>
                        <a:noFill/>
                      </a:tcPr>
                    </a:tc>
                  </a:tr>
                </a:tbl>
              </a:graphicData>
            </a:graphic>
          </p:graphicFrame>
        </mc:Fallback>
      </mc:AlternateContent>
      <p:sp>
        <p:nvSpPr>
          <p:cNvPr id="21" name="テキスト ボックス 20"/>
          <p:cNvSpPr txBox="1"/>
          <p:nvPr/>
        </p:nvSpPr>
        <p:spPr>
          <a:xfrm>
            <a:off x="5553874" y="2197045"/>
            <a:ext cx="3220252" cy="338554"/>
          </a:xfrm>
          <a:prstGeom prst="rect">
            <a:avLst/>
          </a:prstGeom>
          <a:noFill/>
        </p:spPr>
        <p:txBody>
          <a:bodyPr wrap="square" rtlCol="0">
            <a:spAutoFit/>
          </a:bodyPr>
          <a:lstStyle/>
          <a:p>
            <a:pPr algn="ctr"/>
            <a:r>
              <a:rPr lang="ja-JP" altLang="en-US" sz="1600" dirty="0"/>
              <a:t>ベータ関数と位相進み</a:t>
            </a:r>
            <a:endParaRPr kumimoji="1" lang="ja-JP" altLang="en-US" sz="1600" dirty="0"/>
          </a:p>
        </p:txBody>
      </p:sp>
      <p:sp>
        <p:nvSpPr>
          <p:cNvPr id="22" name="テキスト ボックス 21"/>
          <p:cNvSpPr txBox="1"/>
          <p:nvPr/>
        </p:nvSpPr>
        <p:spPr>
          <a:xfrm>
            <a:off x="0" y="0"/>
            <a:ext cx="7835900" cy="646331"/>
          </a:xfrm>
          <a:prstGeom prst="rect">
            <a:avLst/>
          </a:prstGeom>
          <a:noFill/>
        </p:spPr>
        <p:txBody>
          <a:bodyPr wrap="square" rtlCol="0" anchor="ctr">
            <a:spAutoFit/>
          </a:bodyPr>
          <a:lstStyle/>
          <a:p>
            <a:r>
              <a:rPr lang="en-US" altLang="ja-JP" sz="3600" dirty="0">
                <a:solidFill>
                  <a:schemeClr val="accent1">
                    <a:lumMod val="75000"/>
                  </a:schemeClr>
                </a:solidFill>
              </a:rPr>
              <a:t>2-3</a:t>
            </a:r>
            <a:r>
              <a:rPr lang="ja-JP" altLang="en-US" sz="3600" dirty="0">
                <a:solidFill>
                  <a:schemeClr val="accent1">
                    <a:lumMod val="75000"/>
                  </a:schemeClr>
                </a:solidFill>
              </a:rPr>
              <a:t>　キッカー電磁石のビーム応答測定</a:t>
            </a:r>
            <a:endParaRPr lang="ja-JP" altLang="ja-JP" sz="2000" dirty="0">
              <a:solidFill>
                <a:schemeClr val="accent1">
                  <a:lumMod val="75000"/>
                </a:schemeClr>
              </a:solidFill>
            </a:endParaRPr>
          </a:p>
        </p:txBody>
      </p:sp>
      <p:pic>
        <p:nvPicPr>
          <p:cNvPr id="7" name="図 6"/>
          <p:cNvPicPr>
            <a:picLocks noChangeAspect="1"/>
          </p:cNvPicPr>
          <p:nvPr/>
        </p:nvPicPr>
        <p:blipFill>
          <a:blip r:embed="rId4"/>
          <a:stretch>
            <a:fillRect/>
          </a:stretch>
        </p:blipFill>
        <p:spPr>
          <a:xfrm>
            <a:off x="338510" y="1824275"/>
            <a:ext cx="4651960" cy="4421172"/>
          </a:xfrm>
          <a:prstGeom prst="rect">
            <a:avLst/>
          </a:prstGeom>
        </p:spPr>
      </p:pic>
      <p:sp>
        <p:nvSpPr>
          <p:cNvPr id="16" name="テキスト ボックス 15"/>
          <p:cNvSpPr txBox="1"/>
          <p:nvPr/>
        </p:nvSpPr>
        <p:spPr>
          <a:xfrm>
            <a:off x="6731070" y="3422038"/>
            <a:ext cx="2250930" cy="307777"/>
          </a:xfrm>
          <a:prstGeom prst="rect">
            <a:avLst/>
          </a:prstGeom>
          <a:noFill/>
        </p:spPr>
        <p:txBody>
          <a:bodyPr wrap="square" rtlCol="0">
            <a:spAutoFit/>
          </a:bodyPr>
          <a:lstStyle/>
          <a:p>
            <a:pPr algn="r"/>
            <a:r>
              <a:rPr kumimoji="1" lang="en-US" altLang="ja-JP" sz="1400" dirty="0"/>
              <a:t>*</a:t>
            </a:r>
            <a:r>
              <a:rPr lang="en-US" altLang="ja-JP" sz="1400" dirty="0"/>
              <a:t>K1</a:t>
            </a:r>
            <a:r>
              <a:rPr lang="ja-JP" altLang="en-US" sz="1400" dirty="0"/>
              <a:t>は</a:t>
            </a:r>
            <a:r>
              <a:rPr lang="en-US" altLang="ja-JP" sz="1400" dirty="0"/>
              <a:t>ID01</a:t>
            </a:r>
            <a:r>
              <a:rPr lang="ja-JP" altLang="en-US" sz="1400" dirty="0"/>
              <a:t>から再構築</a:t>
            </a:r>
            <a:endParaRPr lang="en-US" altLang="ja-JP" sz="1400" dirty="0"/>
          </a:p>
        </p:txBody>
      </p:sp>
      <p:sp>
        <p:nvSpPr>
          <p:cNvPr id="5" name="スライド番号プレースホルダー 4"/>
          <p:cNvSpPr>
            <a:spLocks noGrp="1"/>
          </p:cNvSpPr>
          <p:nvPr>
            <p:ph type="sldNum" sz="quarter" idx="12"/>
          </p:nvPr>
        </p:nvSpPr>
        <p:spPr/>
        <p:txBody>
          <a:bodyPr/>
          <a:lstStyle/>
          <a:p>
            <a:fld id="{26B42C4F-1ABF-421A-9D5F-F691A5F6974A}" type="slidenum">
              <a:rPr kumimoji="1" lang="ja-JP" altLang="en-US" smtClean="0"/>
              <a:t>12</a:t>
            </a:fld>
            <a:endParaRPr kumimoji="1" lang="ja-JP" altLang="en-US"/>
          </a:p>
        </p:txBody>
      </p:sp>
    </p:spTree>
    <p:extLst>
      <p:ext uri="{BB962C8B-B14F-4D97-AF65-F5344CB8AC3E}">
        <p14:creationId xmlns:p14="http://schemas.microsoft.com/office/powerpoint/2010/main" val="2205018449"/>
      </p:ext>
    </p:extLst>
  </p:cSld>
  <p:clrMapOvr>
    <a:masterClrMapping/>
  </p:clrMapOvr>
  <mc:AlternateContent xmlns:mc="http://schemas.openxmlformats.org/markup-compatibility/2006" xmlns:p14="http://schemas.microsoft.com/office/powerpoint/2010/main">
    <mc:Choice Requires="p14">
      <p:transition spd="slow" p14:dur="2000" advTm="38052"/>
    </mc:Choice>
    <mc:Fallback xmlns="">
      <p:transition spd="slow" advTm="3805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0" y="732185"/>
            <a:ext cx="2973891" cy="523220"/>
          </a:xfrm>
          <a:prstGeom prst="rect">
            <a:avLst/>
          </a:prstGeom>
        </p:spPr>
        <p:txBody>
          <a:bodyPr wrap="none">
            <a:spAutoFit/>
          </a:bodyPr>
          <a:lstStyle/>
          <a:p>
            <a:r>
              <a:rPr lang="ja-JP" altLang="en-US" sz="2800" dirty="0"/>
              <a:t>磁場測定との比較</a:t>
            </a:r>
            <a:endParaRPr lang="en-US" altLang="ja-JP" sz="2800" dirty="0"/>
          </a:p>
        </p:txBody>
      </p:sp>
      <p:sp>
        <p:nvSpPr>
          <p:cNvPr id="14" name="テキスト ボックス 13"/>
          <p:cNvSpPr txBox="1"/>
          <p:nvPr/>
        </p:nvSpPr>
        <p:spPr>
          <a:xfrm>
            <a:off x="162000" y="1274574"/>
            <a:ext cx="8820000" cy="707886"/>
          </a:xfrm>
          <a:prstGeom prst="rect">
            <a:avLst/>
          </a:prstGeom>
          <a:noFill/>
        </p:spPr>
        <p:txBody>
          <a:bodyPr wrap="square" rtlCol="0">
            <a:spAutoFit/>
          </a:bodyPr>
          <a:lstStyle/>
          <a:p>
            <a:pPr algn="just"/>
            <a:r>
              <a:rPr lang="ja-JP" altLang="en-US" sz="2000" dirty="0"/>
              <a:t>リングからキッカー電磁石</a:t>
            </a:r>
            <a:r>
              <a:rPr lang="en-US" altLang="ja-JP" sz="2000" dirty="0"/>
              <a:t>K3</a:t>
            </a:r>
            <a:r>
              <a:rPr lang="ja-JP" altLang="en-US" sz="2000" dirty="0"/>
              <a:t>を取り出して磁場測定を行った結果とビームの応答からパルス波形を再構築した結果を比較。</a:t>
            </a:r>
            <a:endParaRPr kumimoji="1" lang="en-US" altLang="ja-JP" sz="2000" dirty="0"/>
          </a:p>
        </p:txBody>
      </p:sp>
      <p:sp>
        <p:nvSpPr>
          <p:cNvPr id="16" name="テキスト ボックス 15"/>
          <p:cNvSpPr txBox="1"/>
          <p:nvPr/>
        </p:nvSpPr>
        <p:spPr>
          <a:xfrm>
            <a:off x="162000" y="5843743"/>
            <a:ext cx="8820000" cy="707886"/>
          </a:xfrm>
          <a:prstGeom prst="rect">
            <a:avLst/>
          </a:prstGeom>
          <a:noFill/>
        </p:spPr>
        <p:txBody>
          <a:bodyPr wrap="square" rtlCol="0">
            <a:spAutoFit/>
          </a:bodyPr>
          <a:lstStyle/>
          <a:p>
            <a:pPr marL="342900" indent="-342900" algn="just">
              <a:buFont typeface="Arial" panose="020B0604020202020204" pitchFamily="34" charset="0"/>
              <a:buChar char="•"/>
            </a:pPr>
            <a:r>
              <a:rPr kumimoji="1" lang="ja-JP" altLang="en-US" sz="2000" dirty="0"/>
              <a:t>磁場測定</a:t>
            </a:r>
            <a:r>
              <a:rPr lang="ja-JP" altLang="en-US" sz="2000" dirty="0"/>
              <a:t>とビームベース測定は</a:t>
            </a:r>
            <a:r>
              <a:rPr kumimoji="1" lang="en-US" altLang="ja-JP" sz="2000" dirty="0"/>
              <a:t>1500 nsec</a:t>
            </a:r>
            <a:r>
              <a:rPr kumimoji="1" lang="ja-JP" altLang="en-US" sz="2000" dirty="0"/>
              <a:t>まで一致</a:t>
            </a:r>
            <a:endParaRPr kumimoji="1" lang="en-US" altLang="ja-JP" sz="2000" dirty="0"/>
          </a:p>
          <a:p>
            <a:pPr marL="342900" indent="-342900" algn="just">
              <a:buFont typeface="Arial" panose="020B0604020202020204" pitchFamily="34" charset="0"/>
              <a:buChar char="•"/>
            </a:pPr>
            <a:r>
              <a:rPr lang="ja-JP" altLang="en-US" sz="2000" dirty="0"/>
              <a:t>パルス幅とアンダーシュートの部分が異なる</a:t>
            </a:r>
            <a:endParaRPr lang="en-US" altLang="ja-JP" sz="2000" dirty="0"/>
          </a:p>
        </p:txBody>
      </p:sp>
      <p:sp>
        <p:nvSpPr>
          <p:cNvPr id="17" name="テキスト ボックス 16"/>
          <p:cNvSpPr txBox="1"/>
          <p:nvPr/>
        </p:nvSpPr>
        <p:spPr>
          <a:xfrm>
            <a:off x="0" y="0"/>
            <a:ext cx="7835900" cy="646331"/>
          </a:xfrm>
          <a:prstGeom prst="rect">
            <a:avLst/>
          </a:prstGeom>
          <a:noFill/>
        </p:spPr>
        <p:txBody>
          <a:bodyPr wrap="square" rtlCol="0" anchor="ctr">
            <a:spAutoFit/>
          </a:bodyPr>
          <a:lstStyle/>
          <a:p>
            <a:r>
              <a:rPr lang="en-US" altLang="ja-JP" sz="3600" dirty="0">
                <a:solidFill>
                  <a:schemeClr val="accent1">
                    <a:lumMod val="75000"/>
                  </a:schemeClr>
                </a:solidFill>
              </a:rPr>
              <a:t>2-3</a:t>
            </a:r>
            <a:r>
              <a:rPr lang="ja-JP" altLang="en-US" sz="3600" dirty="0">
                <a:solidFill>
                  <a:schemeClr val="accent1">
                    <a:lumMod val="75000"/>
                  </a:schemeClr>
                </a:solidFill>
              </a:rPr>
              <a:t>　キッカー電磁石のビーム応答測定</a:t>
            </a:r>
            <a:endParaRPr lang="ja-JP" altLang="ja-JP" sz="2000" dirty="0">
              <a:solidFill>
                <a:schemeClr val="accent1">
                  <a:lumMod val="75000"/>
                </a:schemeClr>
              </a:solidFill>
            </a:endParaRPr>
          </a:p>
        </p:txBody>
      </p:sp>
      <p:sp>
        <p:nvSpPr>
          <p:cNvPr id="15" name="テキスト ボックス 14"/>
          <p:cNvSpPr txBox="1"/>
          <p:nvPr/>
        </p:nvSpPr>
        <p:spPr>
          <a:xfrm>
            <a:off x="4460708" y="1850465"/>
            <a:ext cx="3220252" cy="338554"/>
          </a:xfrm>
          <a:prstGeom prst="rect">
            <a:avLst/>
          </a:prstGeom>
          <a:noFill/>
        </p:spPr>
        <p:txBody>
          <a:bodyPr wrap="square" rtlCol="0">
            <a:spAutoFit/>
          </a:bodyPr>
          <a:lstStyle/>
          <a:p>
            <a:pPr algn="r"/>
            <a:r>
              <a:rPr lang="en-US" altLang="ja-JP" sz="1600" dirty="0"/>
              <a:t>Kicker Magnet : K3</a:t>
            </a:r>
            <a:endParaRPr kumimoji="1" lang="en-US" altLang="ja-JP" sz="1600" dirty="0"/>
          </a:p>
        </p:txBody>
      </p:sp>
      <p:pic>
        <p:nvPicPr>
          <p:cNvPr id="11" name="図 10" descr="地図, テキスト が含まれている画像&#10;&#10;非常に高い精度で生成された説明">
            <a:extLst>
              <a:ext uri="{FF2B5EF4-FFF2-40B4-BE49-F238E27FC236}">
                <a16:creationId xmlns="" xmlns:a16="http://schemas.microsoft.com/office/drawing/2014/main" id="{237A0C03-C0D0-48CE-B456-2ABB1EEF8D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2062" y="2118405"/>
            <a:ext cx="6619875" cy="3705225"/>
          </a:xfrm>
          <a:prstGeom prst="rect">
            <a:avLst/>
          </a:prstGeom>
        </p:spPr>
      </p:pic>
      <p:sp>
        <p:nvSpPr>
          <p:cNvPr id="2" name="スライド番号プレースホルダー 1"/>
          <p:cNvSpPr>
            <a:spLocks noGrp="1"/>
          </p:cNvSpPr>
          <p:nvPr>
            <p:ph type="sldNum" sz="quarter" idx="12"/>
          </p:nvPr>
        </p:nvSpPr>
        <p:spPr/>
        <p:txBody>
          <a:bodyPr/>
          <a:lstStyle/>
          <a:p>
            <a:fld id="{26B42C4F-1ABF-421A-9D5F-F691A5F6974A}" type="slidenum">
              <a:rPr kumimoji="1" lang="ja-JP" altLang="en-US" smtClean="0"/>
              <a:t>13</a:t>
            </a:fld>
            <a:endParaRPr kumimoji="1" lang="ja-JP" altLang="en-US"/>
          </a:p>
        </p:txBody>
      </p:sp>
    </p:spTree>
    <p:extLst>
      <p:ext uri="{BB962C8B-B14F-4D97-AF65-F5344CB8AC3E}">
        <p14:creationId xmlns:p14="http://schemas.microsoft.com/office/powerpoint/2010/main" val="1895759553"/>
      </p:ext>
    </p:extLst>
  </p:cSld>
  <p:clrMapOvr>
    <a:masterClrMapping/>
  </p:clrMapOvr>
  <mc:AlternateContent xmlns:mc="http://schemas.openxmlformats.org/markup-compatibility/2006" xmlns:p14="http://schemas.microsoft.com/office/powerpoint/2010/main">
    <mc:Choice Requires="p14">
      <p:transition spd="slow" p14:dur="2000" advTm="105326"/>
    </mc:Choice>
    <mc:Fallback xmlns="">
      <p:transition spd="slow" advTm="10532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1" y="0"/>
            <a:ext cx="5616583" cy="646331"/>
          </a:xfrm>
          <a:prstGeom prst="rect">
            <a:avLst/>
          </a:prstGeom>
          <a:noFill/>
        </p:spPr>
        <p:txBody>
          <a:bodyPr wrap="square" rtlCol="0" anchor="ctr">
            <a:spAutoFit/>
          </a:bodyPr>
          <a:lstStyle/>
          <a:p>
            <a:r>
              <a:rPr lang="en-US" altLang="ja-JP" sz="3600" dirty="0">
                <a:solidFill>
                  <a:schemeClr val="accent1">
                    <a:lumMod val="75000"/>
                  </a:schemeClr>
                </a:solidFill>
              </a:rPr>
              <a:t>3-1</a:t>
            </a:r>
            <a:r>
              <a:rPr lang="ja-JP" altLang="en-US" sz="3600" dirty="0">
                <a:solidFill>
                  <a:schemeClr val="accent1">
                    <a:lumMod val="75000"/>
                  </a:schemeClr>
                </a:solidFill>
              </a:rPr>
              <a:t>　入射シミュレーション</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p:nvSpPr>
        <p:spPr>
          <a:xfrm>
            <a:off x="0" y="727549"/>
            <a:ext cx="5144357" cy="523220"/>
          </a:xfrm>
          <a:prstGeom prst="rect">
            <a:avLst/>
          </a:prstGeom>
        </p:spPr>
        <p:txBody>
          <a:bodyPr wrap="none">
            <a:spAutoFit/>
          </a:bodyPr>
          <a:lstStyle/>
          <a:p>
            <a:r>
              <a:rPr lang="ja-JP" altLang="en-US" sz="2800" dirty="0"/>
              <a:t>多粒子トラッキング（設計モデル）</a:t>
            </a:r>
            <a:endParaRPr lang="en-US" altLang="ja-JP" sz="2800" dirty="0"/>
          </a:p>
        </p:txBody>
      </p:sp>
      <p:sp>
        <p:nvSpPr>
          <p:cNvPr id="11" name="正方形/長方形 10"/>
          <p:cNvSpPr/>
          <p:nvPr/>
        </p:nvSpPr>
        <p:spPr>
          <a:xfrm>
            <a:off x="279362" y="2635354"/>
            <a:ext cx="1734770" cy="769441"/>
          </a:xfrm>
          <a:prstGeom prst="rect">
            <a:avLst/>
          </a:prstGeom>
        </p:spPr>
        <p:txBody>
          <a:bodyPr wrap="none">
            <a:spAutoFit/>
          </a:bodyPr>
          <a:lstStyle/>
          <a:p>
            <a:r>
              <a:rPr lang="ja-JP" altLang="en-US" sz="2400" dirty="0"/>
              <a:t>計算条件</a:t>
            </a:r>
            <a:r>
              <a:rPr lang="en-US" altLang="ja-JP" sz="2400" dirty="0"/>
              <a:t>1</a:t>
            </a:r>
          </a:p>
          <a:p>
            <a:r>
              <a:rPr lang="ja-JP" altLang="en-US" sz="2000" dirty="0"/>
              <a:t>・アパーチャー</a:t>
            </a:r>
            <a:endParaRPr lang="en-US" altLang="ja-JP" sz="2000" dirty="0"/>
          </a:p>
        </p:txBody>
      </p:sp>
      <p:sp>
        <p:nvSpPr>
          <p:cNvPr id="13" name="テキスト ボックス 12"/>
          <p:cNvSpPr txBox="1"/>
          <p:nvPr/>
        </p:nvSpPr>
        <p:spPr>
          <a:xfrm>
            <a:off x="144331" y="1356975"/>
            <a:ext cx="8820000" cy="707886"/>
          </a:xfrm>
          <a:prstGeom prst="rect">
            <a:avLst/>
          </a:prstGeom>
          <a:noFill/>
        </p:spPr>
        <p:txBody>
          <a:bodyPr wrap="square" rtlCol="0">
            <a:spAutoFit/>
          </a:bodyPr>
          <a:lstStyle/>
          <a:p>
            <a:pPr algn="just"/>
            <a:r>
              <a:rPr lang="ja-JP" altLang="en-US" sz="2000" dirty="0"/>
              <a:t>入射効率の計算は、粒子を生成して放射減衰のスケールまでトラッキングする。アパーチャーを超えた場合、粒子は失われる。</a:t>
            </a:r>
            <a:endParaRPr kumimoji="1" lang="en-US" altLang="ja-JP" sz="2000" dirty="0"/>
          </a:p>
        </p:txBody>
      </p:sp>
      <p:sp>
        <p:nvSpPr>
          <p:cNvPr id="8" name="正方形/長方形 7"/>
          <p:cNvSpPr/>
          <p:nvPr/>
        </p:nvSpPr>
        <p:spPr>
          <a:xfrm>
            <a:off x="4200811" y="2681004"/>
            <a:ext cx="1415772" cy="461665"/>
          </a:xfrm>
          <a:prstGeom prst="rect">
            <a:avLst/>
          </a:prstGeom>
        </p:spPr>
        <p:txBody>
          <a:bodyPr wrap="none">
            <a:spAutoFit/>
          </a:bodyPr>
          <a:lstStyle/>
          <a:p>
            <a:r>
              <a:rPr lang="ja-JP" altLang="en-US" sz="2400" dirty="0"/>
              <a:t>計算結果</a:t>
            </a:r>
            <a:endParaRPr lang="en-US" altLang="ja-JP" sz="2400" dirty="0"/>
          </a:p>
        </p:txBody>
      </p:sp>
      <p:graphicFrame>
        <p:nvGraphicFramePr>
          <p:cNvPr id="7" name="表 6"/>
          <p:cNvGraphicFramePr>
            <a:graphicFrameLocks noGrp="1"/>
          </p:cNvGraphicFramePr>
          <p:nvPr>
            <p:extLst>
              <p:ext uri="{D42A27DB-BD31-4B8C-83A1-F6EECF244321}">
                <p14:modId xmlns:p14="http://schemas.microsoft.com/office/powerpoint/2010/main" val="546305101"/>
              </p:ext>
            </p:extLst>
          </p:nvPr>
        </p:nvGraphicFramePr>
        <p:xfrm>
          <a:off x="279362" y="3470804"/>
          <a:ext cx="3831907" cy="1672260"/>
        </p:xfrm>
        <a:graphic>
          <a:graphicData uri="http://schemas.openxmlformats.org/drawingml/2006/table">
            <a:tbl>
              <a:tblPr>
                <a:tableStyleId>{5C22544A-7EE6-4342-B048-85BDC9FD1C3A}</a:tableStyleId>
              </a:tblPr>
              <a:tblGrid>
                <a:gridCol w="961773">
                  <a:extLst>
                    <a:ext uri="{9D8B030D-6E8A-4147-A177-3AD203B41FA5}">
                      <a16:colId xmlns="" xmlns:a16="http://schemas.microsoft.com/office/drawing/2014/main" val="20000"/>
                    </a:ext>
                  </a:extLst>
                </a:gridCol>
                <a:gridCol w="574533">
                  <a:extLst>
                    <a:ext uri="{9D8B030D-6E8A-4147-A177-3AD203B41FA5}">
                      <a16:colId xmlns="" xmlns:a16="http://schemas.microsoft.com/office/drawing/2014/main" val="20001"/>
                    </a:ext>
                  </a:extLst>
                </a:gridCol>
                <a:gridCol w="765200">
                  <a:extLst>
                    <a:ext uri="{9D8B030D-6E8A-4147-A177-3AD203B41FA5}">
                      <a16:colId xmlns="" xmlns:a16="http://schemas.microsoft.com/office/drawing/2014/main" val="20002"/>
                    </a:ext>
                  </a:extLst>
                </a:gridCol>
                <a:gridCol w="1530401">
                  <a:extLst>
                    <a:ext uri="{9D8B030D-6E8A-4147-A177-3AD203B41FA5}">
                      <a16:colId xmlns="" xmlns:a16="http://schemas.microsoft.com/office/drawing/2014/main" val="20003"/>
                    </a:ext>
                  </a:extLst>
                </a:gridCol>
              </a:tblGrid>
              <a:tr h="482606">
                <a:tc rowSpan="2">
                  <a:txBody>
                    <a:bodyPr/>
                    <a:lstStyle/>
                    <a:p>
                      <a:pPr algn="ctr">
                        <a:lnSpc>
                          <a:spcPts val="1100"/>
                        </a:lnSpc>
                        <a:spcBef>
                          <a:spcPts val="300"/>
                        </a:spcBef>
                        <a:spcAft>
                          <a:spcPts val="300"/>
                        </a:spcAft>
                      </a:pPr>
                      <a:r>
                        <a:rPr lang="en-US" sz="1600" kern="800" dirty="0">
                          <a:effectLst/>
                        </a:rPr>
                        <a:t>Position</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lnSpc>
                          <a:spcPct val="100000"/>
                        </a:lnSpc>
                        <a:spcBef>
                          <a:spcPts val="300"/>
                        </a:spcBef>
                        <a:spcAft>
                          <a:spcPts val="300"/>
                        </a:spcAft>
                      </a:pPr>
                      <a:r>
                        <a:rPr lang="en-US" sz="1600" kern="800" dirty="0">
                          <a:effectLst/>
                        </a:rPr>
                        <a:t>Aperture [mm]</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a:txBody>
                    <a:bodyPr/>
                    <a:lstStyle/>
                    <a:p>
                      <a:pPr algn="ctr">
                        <a:lnSpc>
                          <a:spcPct val="100000"/>
                        </a:lnSpc>
                        <a:spcBef>
                          <a:spcPts val="300"/>
                        </a:spcBef>
                        <a:spcAft>
                          <a:spcPts val="300"/>
                        </a:spcAft>
                      </a:pPr>
                      <a:r>
                        <a:rPr lang="en-US" sz="1600" kern="800" dirty="0">
                          <a:effectLst/>
                        </a:rPr>
                        <a:t>Betatron function [m]</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296145">
                <a:tc vMerge="1">
                  <a:txBody>
                    <a:bodyPr/>
                    <a:lstStyle/>
                    <a:p>
                      <a:endParaRPr kumimoji="1" lang="ja-JP" altLang="en-US"/>
                    </a:p>
                  </a:txBody>
                  <a:tcPr/>
                </a:tc>
                <a:tc>
                  <a:txBody>
                    <a:bodyPr/>
                    <a:lstStyle/>
                    <a:p>
                      <a:pPr algn="ctr">
                        <a:lnSpc>
                          <a:spcPts val="1100"/>
                        </a:lnSpc>
                        <a:spcBef>
                          <a:spcPts val="300"/>
                        </a:spcBef>
                        <a:spcAft>
                          <a:spcPts val="300"/>
                        </a:spcAft>
                      </a:pPr>
                      <a:r>
                        <a:rPr lang="en-US" altLang="ja-JP" sz="1600" kern="800" dirty="0">
                          <a:effectLst/>
                          <a:latin typeface="+mn-lt"/>
                          <a:ea typeface="+mn-ea"/>
                          <a:cs typeface="+mn-cs"/>
                        </a:rPr>
                        <a:t>x</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altLang="ja-JP" sz="1600" dirty="0">
                          <a:effectLst/>
                          <a:latin typeface="Times" panose="02020603050405020304" pitchFamily="18" charset="0"/>
                          <a:ea typeface="ＭＳ Ｐ明朝" panose="02020600040205080304" pitchFamily="18" charset="-128"/>
                          <a:cs typeface="Times New Roman" panose="02020603050405020304" pitchFamily="18" charset="0"/>
                        </a:rPr>
                        <a:t>y</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600" kern="800" dirty="0">
                          <a:effectLst/>
                        </a:rPr>
                        <a:t>Design</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296145">
                <a:tc>
                  <a:txBody>
                    <a:bodyPr/>
                    <a:lstStyle/>
                    <a:p>
                      <a:pPr algn="ctr">
                        <a:lnSpc>
                          <a:spcPts val="1100"/>
                        </a:lnSpc>
                        <a:spcBef>
                          <a:spcPts val="300"/>
                        </a:spcBef>
                        <a:spcAft>
                          <a:spcPts val="300"/>
                        </a:spcAft>
                      </a:pPr>
                      <a:r>
                        <a:rPr lang="en-US" sz="1600" kern="800" dirty="0">
                          <a:effectLst/>
                        </a:rPr>
                        <a:t>ID16</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ts val="1100"/>
                        </a:lnSpc>
                        <a:spcBef>
                          <a:spcPts val="300"/>
                        </a:spcBef>
                        <a:spcAft>
                          <a:spcPts val="300"/>
                        </a:spcAft>
                      </a:pPr>
                      <a:r>
                        <a:rPr lang="en-US" sz="1600" kern="800" dirty="0">
                          <a:effectLst/>
                        </a:rPr>
                        <a:t>-</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ts val="1100"/>
                        </a:lnSpc>
                        <a:spcBef>
                          <a:spcPts val="300"/>
                        </a:spcBef>
                        <a:spcAft>
                          <a:spcPts val="300"/>
                        </a:spcAft>
                      </a:pPr>
                      <a:r>
                        <a:rPr lang="en-US" sz="1600" kern="800" dirty="0">
                          <a:effectLst/>
                        </a:rPr>
                        <a:t>7.5</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ts val="1100"/>
                        </a:lnSpc>
                        <a:spcBef>
                          <a:spcPts val="300"/>
                        </a:spcBef>
                        <a:spcAft>
                          <a:spcPts val="300"/>
                        </a:spcAft>
                      </a:pPr>
                      <a:r>
                        <a:rPr lang="en-US" sz="1600" kern="800" dirty="0">
                          <a:effectLst/>
                        </a:rPr>
                        <a:t>5.00</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2"/>
                  </a:ext>
                </a:extLst>
              </a:tr>
              <a:tr h="296145">
                <a:tc>
                  <a:txBody>
                    <a:bodyPr/>
                    <a:lstStyle/>
                    <a:p>
                      <a:pPr algn="ctr">
                        <a:lnSpc>
                          <a:spcPts val="1100"/>
                        </a:lnSpc>
                        <a:spcBef>
                          <a:spcPts val="300"/>
                        </a:spcBef>
                        <a:spcAft>
                          <a:spcPts val="300"/>
                        </a:spcAft>
                      </a:pPr>
                      <a:r>
                        <a:rPr lang="en-US" sz="1600" kern="800">
                          <a:effectLst/>
                        </a:rPr>
                        <a:t>ID14</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ts val="1100"/>
                        </a:lnSpc>
                        <a:spcBef>
                          <a:spcPts val="300"/>
                        </a:spcBef>
                        <a:spcAft>
                          <a:spcPts val="300"/>
                        </a:spcAft>
                      </a:pPr>
                      <a:r>
                        <a:rPr lang="en-US" sz="1600" kern="800" dirty="0">
                          <a:effectLst/>
                        </a:rPr>
                        <a:t>16</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ts val="1100"/>
                        </a:lnSpc>
                        <a:spcBef>
                          <a:spcPts val="300"/>
                        </a:spcBef>
                        <a:spcAft>
                          <a:spcPts val="300"/>
                        </a:spcAft>
                      </a:pPr>
                      <a:r>
                        <a:rPr lang="en-US" sz="1600" kern="800" dirty="0">
                          <a:effectLst/>
                        </a:rPr>
                        <a:t>-</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ts val="1100"/>
                        </a:lnSpc>
                        <a:spcBef>
                          <a:spcPts val="300"/>
                        </a:spcBef>
                        <a:spcAft>
                          <a:spcPts val="300"/>
                        </a:spcAft>
                      </a:pPr>
                      <a:r>
                        <a:rPr lang="en-US" sz="1600" kern="800" dirty="0">
                          <a:effectLst/>
                        </a:rPr>
                        <a:t>7.96</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extLst>
                  <a:ext uri="{0D108BD9-81ED-4DB2-BD59-A6C34878D82A}">
                    <a16:rowId xmlns="" xmlns:a16="http://schemas.microsoft.com/office/drawing/2014/main" val="10003"/>
                  </a:ext>
                </a:extLst>
              </a:tr>
              <a:tr h="296145">
                <a:tc>
                  <a:txBody>
                    <a:bodyPr/>
                    <a:lstStyle/>
                    <a:p>
                      <a:pPr algn="ctr">
                        <a:lnSpc>
                          <a:spcPts val="1100"/>
                        </a:lnSpc>
                        <a:spcBef>
                          <a:spcPts val="300"/>
                        </a:spcBef>
                        <a:spcAft>
                          <a:spcPts val="300"/>
                        </a:spcAft>
                      </a:pPr>
                      <a:r>
                        <a:rPr lang="en-US" sz="1600" kern="800" dirty="0">
                          <a:effectLst/>
                        </a:rPr>
                        <a:t>SEPTUM</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600" kern="800">
                          <a:effectLst/>
                        </a:rPr>
                        <a:t>21</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600" kern="800" dirty="0">
                          <a:effectLst/>
                        </a:rPr>
                        <a:t>-</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ts val="1100"/>
                        </a:lnSpc>
                        <a:spcBef>
                          <a:spcPts val="300"/>
                        </a:spcBef>
                        <a:spcAft>
                          <a:spcPts val="300"/>
                        </a:spcAft>
                      </a:pPr>
                      <a:r>
                        <a:rPr lang="en-US" sz="1600" kern="800" dirty="0">
                          <a:effectLst/>
                        </a:rPr>
                        <a:t>9.44</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4"/>
                  </a:ext>
                </a:extLst>
              </a:tr>
            </a:tbl>
          </a:graphicData>
        </a:graphic>
      </p:graphicFrame>
      <p:sp>
        <p:nvSpPr>
          <p:cNvPr id="12" name="正方形/長方形 11"/>
          <p:cNvSpPr/>
          <p:nvPr/>
        </p:nvSpPr>
        <p:spPr>
          <a:xfrm>
            <a:off x="279362" y="5209073"/>
            <a:ext cx="3896398" cy="1015663"/>
          </a:xfrm>
          <a:prstGeom prst="rect">
            <a:avLst/>
          </a:prstGeom>
        </p:spPr>
        <p:txBody>
          <a:bodyPr wrap="square">
            <a:spAutoFit/>
          </a:bodyPr>
          <a:lstStyle/>
          <a:p>
            <a:r>
              <a:rPr lang="ja-JP" altLang="en-US" sz="2000" dirty="0"/>
              <a:t>・生成粒子</a:t>
            </a:r>
            <a:endParaRPr lang="en-US" altLang="ja-JP" sz="2000" dirty="0"/>
          </a:p>
          <a:p>
            <a:r>
              <a:rPr lang="ja-JP" altLang="en-US" sz="2000" dirty="0"/>
              <a:t>ビームベースの測定結果</a:t>
            </a:r>
            <a:endParaRPr lang="en-US" altLang="ja-JP" sz="2000" dirty="0"/>
          </a:p>
          <a:p>
            <a:r>
              <a:rPr lang="ja-JP" altLang="en-US" sz="2000" dirty="0"/>
              <a:t>・シングルキック</a:t>
            </a:r>
            <a:endParaRPr lang="en-US" altLang="ja-JP" sz="2000" dirty="0"/>
          </a:p>
        </p:txBody>
      </p:sp>
      <p:pic>
        <p:nvPicPr>
          <p:cNvPr id="2" name="図 1"/>
          <p:cNvPicPr>
            <a:picLocks noChangeAspect="1"/>
          </p:cNvPicPr>
          <p:nvPr/>
        </p:nvPicPr>
        <p:blipFill>
          <a:blip r:embed="rId3"/>
          <a:stretch>
            <a:fillRect/>
          </a:stretch>
        </p:blipFill>
        <p:spPr>
          <a:xfrm>
            <a:off x="4200811" y="3142669"/>
            <a:ext cx="4572000" cy="2812502"/>
          </a:xfrm>
          <a:prstGeom prst="rect">
            <a:avLst/>
          </a:prstGeom>
        </p:spPr>
      </p:pic>
      <p:sp>
        <p:nvSpPr>
          <p:cNvPr id="10" name="スライド番号プレースホルダー 9"/>
          <p:cNvSpPr>
            <a:spLocks noGrp="1"/>
          </p:cNvSpPr>
          <p:nvPr>
            <p:ph type="sldNum" sz="quarter" idx="12"/>
          </p:nvPr>
        </p:nvSpPr>
        <p:spPr/>
        <p:txBody>
          <a:bodyPr/>
          <a:lstStyle/>
          <a:p>
            <a:fld id="{26B42C4F-1ABF-421A-9D5F-F691A5F6974A}" type="slidenum">
              <a:rPr kumimoji="1" lang="ja-JP" altLang="en-US" smtClean="0"/>
              <a:t>14</a:t>
            </a:fld>
            <a:endParaRPr kumimoji="1" lang="ja-JP" altLang="en-US"/>
          </a:p>
        </p:txBody>
      </p:sp>
    </p:spTree>
    <p:extLst>
      <p:ext uri="{BB962C8B-B14F-4D97-AF65-F5344CB8AC3E}">
        <p14:creationId xmlns:p14="http://schemas.microsoft.com/office/powerpoint/2010/main" val="3815400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0" y="0"/>
            <a:ext cx="5829300" cy="646331"/>
          </a:xfrm>
          <a:prstGeom prst="rect">
            <a:avLst/>
          </a:prstGeom>
          <a:noFill/>
        </p:spPr>
        <p:txBody>
          <a:bodyPr wrap="square" rtlCol="0" anchor="ctr">
            <a:spAutoFit/>
          </a:bodyPr>
          <a:lstStyle/>
          <a:p>
            <a:r>
              <a:rPr lang="en-US" altLang="ja-JP" sz="3600" dirty="0">
                <a:solidFill>
                  <a:schemeClr val="accent1">
                    <a:lumMod val="75000"/>
                  </a:schemeClr>
                </a:solidFill>
              </a:rPr>
              <a:t>3-1</a:t>
            </a:r>
            <a:r>
              <a:rPr lang="ja-JP" altLang="en-US" sz="3600" dirty="0">
                <a:solidFill>
                  <a:schemeClr val="accent1">
                    <a:lumMod val="75000"/>
                  </a:schemeClr>
                </a:solidFill>
              </a:rPr>
              <a:t>　入射シミュレーション</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正方形/長方形 7"/>
              <p:cNvSpPr/>
              <p:nvPr/>
            </p:nvSpPr>
            <p:spPr>
              <a:xfrm>
                <a:off x="162000" y="1295566"/>
                <a:ext cx="8820000" cy="2596929"/>
              </a:xfrm>
              <a:prstGeom prst="rect">
                <a:avLst/>
              </a:prstGeom>
            </p:spPr>
            <p:txBody>
              <a:bodyPr wrap="square">
                <a:spAutoFit/>
              </a:bodyPr>
              <a:lstStyle/>
              <a:p>
                <a:r>
                  <a:rPr lang="ja-JP" altLang="en-US" sz="2400" dirty="0"/>
                  <a:t>・</a:t>
                </a:r>
                <a:r>
                  <a:rPr lang="en-US" altLang="ja-JP" sz="2400" dirty="0"/>
                  <a:t>LOCO</a:t>
                </a:r>
                <a:r>
                  <a:rPr lang="ja-JP" altLang="en-US" sz="2400" dirty="0"/>
                  <a:t>モデル</a:t>
                </a:r>
                <a:endParaRPr lang="en-US" altLang="ja-JP" sz="2400" dirty="0"/>
              </a:p>
              <a:p>
                <a:r>
                  <a:rPr lang="ja-JP" altLang="ja-JP" sz="2000" dirty="0"/>
                  <a:t>蓄積リングの補正電磁石を微小な角度で蹴り</a:t>
                </a:r>
                <a:r>
                  <a:rPr lang="ja-JP" altLang="en-US" sz="2000" dirty="0"/>
                  <a:t>、</a:t>
                </a:r>
                <a:r>
                  <a:rPr lang="en-US" altLang="ja-JP" sz="2000" dirty="0"/>
                  <a:t>BPM</a:t>
                </a:r>
                <a:r>
                  <a:rPr lang="ja-JP" altLang="ja-JP" sz="2000" dirty="0"/>
                  <a:t>で観測される振動の応答行列から加速器パラメータを推定する手法</a:t>
                </a:r>
                <a:r>
                  <a:rPr lang="ja-JP" altLang="en-US" sz="2000" dirty="0"/>
                  <a:t>。推定は軌道レスポンスと実測のレスポンスの残差が最小となるように加速器パラメータをフィッティングして行う。</a:t>
                </a:r>
                <a:endParaRPr lang="en-US" altLang="ja-JP" sz="2000" dirty="0"/>
              </a:p>
              <a:p>
                <a:endParaRPr lang="en-US" altLang="ja-JP" sz="1000" dirty="0"/>
              </a:p>
              <a:p>
                <a:pPr/>
                <a14:m>
                  <m:oMathPara xmlns:m="http://schemas.openxmlformats.org/officeDocument/2006/math">
                    <m:oMathParaPr>
                      <m:jc m:val="centerGroup"/>
                    </m:oMathParaPr>
                    <m:oMath xmlns:m="http://schemas.openxmlformats.org/officeDocument/2006/math">
                      <m:sSup>
                        <m:sSupPr>
                          <m:ctrlPr>
                            <a:rPr lang="en-US" altLang="ja-JP" sz="1600" i="1" smtClean="0">
                              <a:latin typeface="Cambria Math" panose="02040503050406030204" pitchFamily="18" charset="0"/>
                            </a:rPr>
                          </m:ctrlPr>
                        </m:sSupPr>
                        <m:e>
                          <m:r>
                            <a:rPr lang="ja-JP" altLang="en-US" sz="1600" i="1">
                              <a:latin typeface="Cambria Math" panose="02040503050406030204" pitchFamily="18" charset="0"/>
                            </a:rPr>
                            <m:t>𝜒</m:t>
                          </m:r>
                        </m:e>
                        <m:sup>
                          <m:r>
                            <a:rPr lang="en-US" altLang="ja-JP" sz="1600" i="1">
                              <a:latin typeface="Cambria Math" panose="02040503050406030204" pitchFamily="18" charset="0"/>
                            </a:rPr>
                            <m:t>2</m:t>
                          </m:r>
                        </m:sup>
                      </m:sSup>
                      <m:r>
                        <a:rPr lang="en-US" altLang="ja-JP" sz="1600" i="1">
                          <a:latin typeface="Cambria Math" panose="02040503050406030204" pitchFamily="18" charset="0"/>
                        </a:rPr>
                        <m:t>=</m:t>
                      </m:r>
                      <m:nary>
                        <m:naryPr>
                          <m:chr m:val="∑"/>
                          <m:limLoc m:val="subSup"/>
                          <m:supHide m:val="on"/>
                          <m:ctrlPr>
                            <a:rPr lang="en-US" altLang="ja-JP" sz="1600" i="1">
                              <a:latin typeface="Cambria Math" panose="02040503050406030204" pitchFamily="18" charset="0"/>
                            </a:rPr>
                          </m:ctrlPr>
                        </m:naryPr>
                        <m:sub>
                          <m:r>
                            <m:rPr>
                              <m:brk m:alnAt="9"/>
                            </m:rPr>
                            <a:rPr lang="en-US" altLang="ja-JP" sz="1600" i="1">
                              <a:latin typeface="Cambria Math" panose="02040503050406030204" pitchFamily="18" charset="0"/>
                            </a:rPr>
                            <m:t>𝑖</m:t>
                          </m:r>
                          <m:r>
                            <a:rPr lang="en-US" altLang="ja-JP" sz="1600" b="0" i="1" smtClean="0">
                              <a:latin typeface="Cambria Math" panose="02040503050406030204" pitchFamily="18" charset="0"/>
                            </a:rPr>
                            <m:t>,</m:t>
                          </m:r>
                          <m:r>
                            <a:rPr lang="en-US" altLang="ja-JP" sz="1600" i="1">
                              <a:latin typeface="Cambria Math" panose="02040503050406030204" pitchFamily="18" charset="0"/>
                            </a:rPr>
                            <m:t>𝑗</m:t>
                          </m:r>
                        </m:sub>
                        <m:sup/>
                        <m:e>
                          <m:f>
                            <m:fPr>
                              <m:ctrlPr>
                                <a:rPr lang="en-US" altLang="ja-JP" sz="1600" i="1">
                                  <a:latin typeface="Cambria Math" panose="02040503050406030204" pitchFamily="18" charset="0"/>
                                </a:rPr>
                              </m:ctrlPr>
                            </m:fPr>
                            <m:num>
                              <m:sSup>
                                <m:sSupPr>
                                  <m:ctrlPr>
                                    <a:rPr lang="en-US" altLang="ja-JP" sz="1600" i="1">
                                      <a:latin typeface="Cambria Math" panose="02040503050406030204" pitchFamily="18" charset="0"/>
                                    </a:rPr>
                                  </m:ctrlPr>
                                </m:sSupPr>
                                <m:e>
                                  <m:d>
                                    <m:dPr>
                                      <m:ctrlPr>
                                        <a:rPr lang="en-US" altLang="ja-JP" sz="1600" i="1">
                                          <a:latin typeface="Cambria Math" panose="02040503050406030204" pitchFamily="18" charset="0"/>
                                        </a:rPr>
                                      </m:ctrlPr>
                                    </m:dPr>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𝑅</m:t>
                                          </m:r>
                                        </m:e>
                                        <m:sub>
                                          <m:r>
                                            <a:rPr lang="en-US" altLang="ja-JP" sz="1600" i="1">
                                              <a:latin typeface="Cambria Math" panose="02040503050406030204" pitchFamily="18" charset="0"/>
                                            </a:rPr>
                                            <m:t>𝑚𝑜𝑑</m:t>
                                          </m:r>
                                          <m:r>
                                            <a:rPr lang="en-US" altLang="ja-JP" sz="1600" b="0" i="1" smtClean="0">
                                              <a:latin typeface="Cambria Math" panose="02040503050406030204" pitchFamily="18" charset="0"/>
                                            </a:rPr>
                                            <m:t>,</m:t>
                                          </m:r>
                                          <m:r>
                                            <a:rPr lang="en-US" altLang="ja-JP" sz="1600" i="1">
                                              <a:latin typeface="Cambria Math" panose="02040503050406030204" pitchFamily="18" charset="0"/>
                                            </a:rPr>
                                            <m:t>𝑖𝑗</m:t>
                                          </m:r>
                                        </m:sub>
                                      </m:sSub>
                                      <m:r>
                                        <a:rPr lang="en-US" altLang="ja-JP" sz="1600" i="1">
                                          <a:latin typeface="Cambria Math" panose="02040503050406030204" pitchFamily="18" charset="0"/>
                                        </a:rPr>
                                        <m:t>−</m:t>
                                      </m:r>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𝑅</m:t>
                                          </m:r>
                                        </m:e>
                                        <m:sub>
                                          <m:r>
                                            <a:rPr lang="en-US" altLang="ja-JP" sz="1600" i="1">
                                              <a:latin typeface="Cambria Math" panose="02040503050406030204" pitchFamily="18" charset="0"/>
                                            </a:rPr>
                                            <m:t>𝑚𝑒𝑎𝑠</m:t>
                                          </m:r>
                                          <m:r>
                                            <a:rPr lang="en-US" altLang="ja-JP" sz="1600" b="0" i="1" smtClean="0">
                                              <a:latin typeface="Cambria Math" panose="02040503050406030204" pitchFamily="18" charset="0"/>
                                            </a:rPr>
                                            <m:t>,</m:t>
                                          </m:r>
                                          <m:r>
                                            <a:rPr lang="en-US" altLang="ja-JP" sz="1600" i="1">
                                              <a:latin typeface="Cambria Math" panose="02040503050406030204" pitchFamily="18" charset="0"/>
                                            </a:rPr>
                                            <m:t>𝑖𝑗</m:t>
                                          </m:r>
                                        </m:sub>
                                      </m:sSub>
                                    </m:e>
                                  </m:d>
                                </m:e>
                                <m:sup>
                                  <m:r>
                                    <a:rPr lang="en-US" altLang="ja-JP" sz="1600" i="1">
                                      <a:latin typeface="Cambria Math" panose="02040503050406030204" pitchFamily="18" charset="0"/>
                                    </a:rPr>
                                    <m:t>2</m:t>
                                  </m:r>
                                </m:sup>
                              </m:sSup>
                            </m:num>
                            <m:den>
                              <m:sSubSup>
                                <m:sSubSupPr>
                                  <m:ctrlPr>
                                    <a:rPr lang="en-US" altLang="ja-JP" sz="1600" i="1">
                                      <a:latin typeface="Cambria Math" panose="02040503050406030204" pitchFamily="18" charset="0"/>
                                    </a:rPr>
                                  </m:ctrlPr>
                                </m:sSubSupPr>
                                <m:e>
                                  <m:r>
                                    <a:rPr lang="ja-JP" altLang="en-US" sz="1600" i="1">
                                      <a:latin typeface="Cambria Math" panose="02040503050406030204" pitchFamily="18" charset="0"/>
                                    </a:rPr>
                                    <m:t>𝜎</m:t>
                                  </m:r>
                                </m:e>
                                <m:sub>
                                  <m:r>
                                    <a:rPr lang="en-US" altLang="ja-JP" sz="1600" i="1">
                                      <a:latin typeface="Cambria Math" panose="02040503050406030204" pitchFamily="18" charset="0"/>
                                    </a:rPr>
                                    <m:t>𝑖</m:t>
                                  </m:r>
                                </m:sub>
                                <m:sup>
                                  <m:r>
                                    <a:rPr lang="en-US" altLang="ja-JP" sz="1600" i="1">
                                      <a:latin typeface="Cambria Math" panose="02040503050406030204" pitchFamily="18" charset="0"/>
                                    </a:rPr>
                                    <m:t>2</m:t>
                                  </m:r>
                                </m:sup>
                              </m:sSubSup>
                            </m:den>
                          </m:f>
                        </m:e>
                      </m:nary>
                    </m:oMath>
                  </m:oMathPara>
                </a14:m>
                <a:endParaRPr lang="ja-JP" altLang="en-US" sz="1600" dirty="0"/>
              </a:p>
              <a:p>
                <a:endParaRPr lang="en-US" altLang="ja-JP" sz="2800" dirty="0"/>
              </a:p>
            </p:txBody>
          </p:sp>
        </mc:Choice>
        <mc:Fallback xmlns="">
          <p:sp>
            <p:nvSpPr>
              <p:cNvPr id="8" name="正方形/長方形 7"/>
              <p:cNvSpPr>
                <a:spLocks noRot="1" noChangeAspect="1" noMove="1" noResize="1" noEditPoints="1" noAdjustHandles="1" noChangeArrowheads="1" noChangeShapeType="1" noTextEdit="1"/>
              </p:cNvSpPr>
              <p:nvPr/>
            </p:nvSpPr>
            <p:spPr>
              <a:xfrm>
                <a:off x="162000" y="1295566"/>
                <a:ext cx="8820000" cy="2596929"/>
              </a:xfrm>
              <a:prstGeom prst="rect">
                <a:avLst/>
              </a:prstGeom>
              <a:blipFill>
                <a:blip r:embed="rId3"/>
                <a:stretch>
                  <a:fillRect l="-1107" t="-2817"/>
                </a:stretch>
              </a:blipFill>
            </p:spPr>
            <p:txBody>
              <a:bodyPr/>
              <a:lstStyle/>
              <a:p>
                <a:r>
                  <a:rPr lang="ja-JP" altLang="en-US">
                    <a:noFill/>
                  </a:rPr>
                  <a:t> </a:t>
                </a:r>
              </a:p>
            </p:txBody>
          </p:sp>
        </mc:Fallback>
      </mc:AlternateContent>
      <p:sp>
        <p:nvSpPr>
          <p:cNvPr id="11" name="正方形/長方形 10"/>
          <p:cNvSpPr/>
          <p:nvPr/>
        </p:nvSpPr>
        <p:spPr>
          <a:xfrm>
            <a:off x="3465702" y="5186679"/>
            <a:ext cx="1295890" cy="923330"/>
          </a:xfrm>
          <a:prstGeom prst="rect">
            <a:avLst/>
          </a:prstGeom>
          <a:solidFill>
            <a:schemeClr val="accent4">
              <a:lumMod val="20000"/>
              <a:lumOff val="80000"/>
            </a:schemeClr>
          </a:solidFill>
        </p:spPr>
        <p:txBody>
          <a:bodyPr wrap="square">
            <a:spAutoFit/>
          </a:bodyPr>
          <a:lstStyle/>
          <a:p>
            <a:r>
              <a:rPr lang="ja-JP" altLang="en-US" dirty="0"/>
              <a:t>収束</a:t>
            </a:r>
            <a:endParaRPr lang="en-US" altLang="ja-JP" dirty="0"/>
          </a:p>
          <a:p>
            <a:r>
              <a:rPr lang="en-US" altLang="ja-JP" dirty="0"/>
              <a:t>5.10 μm(H)</a:t>
            </a:r>
          </a:p>
          <a:p>
            <a:r>
              <a:rPr lang="en-US" altLang="ja-JP" dirty="0"/>
              <a:t>2.87 μm(V)</a:t>
            </a:r>
          </a:p>
        </p:txBody>
      </p:sp>
      <mc:AlternateContent xmlns:mc="http://schemas.openxmlformats.org/markup-compatibility/2006" xmlns:a14="http://schemas.microsoft.com/office/drawing/2010/main">
        <mc:Choice Requires="a14">
          <p:graphicFrame>
            <p:nvGraphicFramePr>
              <p:cNvPr id="2" name="表 1"/>
              <p:cNvGraphicFramePr>
                <a:graphicFrameLocks noGrp="1"/>
              </p:cNvGraphicFramePr>
              <p:nvPr>
                <p:extLst>
                  <p:ext uri="{D42A27DB-BD31-4B8C-83A1-F6EECF244321}">
                    <p14:modId xmlns:p14="http://schemas.microsoft.com/office/powerpoint/2010/main" val="1006001979"/>
                  </p:ext>
                </p:extLst>
              </p:nvPr>
            </p:nvGraphicFramePr>
            <p:xfrm>
              <a:off x="421243" y="4135470"/>
              <a:ext cx="2879359" cy="1974539"/>
            </p:xfrm>
            <a:graphic>
              <a:graphicData uri="http://schemas.openxmlformats.org/drawingml/2006/table">
                <a:tbl>
                  <a:tblPr>
                    <a:tableStyleId>{5C22544A-7EE6-4342-B048-85BDC9FD1C3A}</a:tableStyleId>
                  </a:tblPr>
                  <a:tblGrid>
                    <a:gridCol w="1268142">
                      <a:extLst>
                        <a:ext uri="{9D8B030D-6E8A-4147-A177-3AD203B41FA5}">
                          <a16:colId xmlns="" xmlns:a16="http://schemas.microsoft.com/office/drawing/2014/main" val="20000"/>
                        </a:ext>
                      </a:extLst>
                    </a:gridCol>
                    <a:gridCol w="766298">
                      <a:extLst>
                        <a:ext uri="{9D8B030D-6E8A-4147-A177-3AD203B41FA5}">
                          <a16:colId xmlns="" xmlns:a16="http://schemas.microsoft.com/office/drawing/2014/main" val="20001"/>
                        </a:ext>
                      </a:extLst>
                    </a:gridCol>
                    <a:gridCol w="844919">
                      <a:extLst>
                        <a:ext uri="{9D8B030D-6E8A-4147-A177-3AD203B41FA5}">
                          <a16:colId xmlns="" xmlns:a16="http://schemas.microsoft.com/office/drawing/2014/main" val="20002"/>
                        </a:ext>
                      </a:extLst>
                    </a:gridCol>
                  </a:tblGrid>
                  <a:tr h="278379">
                    <a:tc gridSpan="2">
                      <a:txBody>
                        <a:bodyPr/>
                        <a:lstStyle/>
                        <a:p>
                          <a:pPr algn="ctr">
                            <a:lnSpc>
                              <a:spcPct val="100000"/>
                            </a:lnSpc>
                            <a:spcBef>
                              <a:spcPts val="100"/>
                            </a:spcBef>
                            <a:spcAft>
                              <a:spcPts val="100"/>
                            </a:spcAft>
                          </a:pPr>
                          <a:r>
                            <a:rPr lang="en-US" sz="1400" kern="800" dirty="0">
                              <a:effectLst/>
                            </a:rPr>
                            <a:t>name</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a:txBody>
                        <a:bodyPr/>
                        <a:lstStyle/>
                        <a:p>
                          <a:pPr algn="ctr">
                            <a:lnSpc>
                              <a:spcPct val="100000"/>
                            </a:lnSpc>
                            <a:spcBef>
                              <a:spcPts val="100"/>
                            </a:spcBef>
                            <a:spcAft>
                              <a:spcPts val="100"/>
                            </a:spcAft>
                          </a:pPr>
                          <a:r>
                            <a:rPr lang="en-US" sz="1400" kern="800" dirty="0">
                              <a:effectLst/>
                            </a:rPr>
                            <a:t>Number</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316040">
                    <a:tc>
                      <a:txBody>
                        <a:bodyPr/>
                        <a:lstStyle/>
                        <a:p>
                          <a:pPr algn="ctr">
                            <a:lnSpc>
                              <a:spcPct val="100000"/>
                            </a:lnSpc>
                            <a:spcBef>
                              <a:spcPts val="100"/>
                            </a:spcBef>
                            <a:spcAft>
                              <a:spcPts val="100"/>
                            </a:spcAft>
                          </a:pPr>
                          <a:r>
                            <a:rPr lang="en-US" sz="1400" kern="800" dirty="0">
                              <a:effectLst/>
                            </a:rPr>
                            <a:t>Horizontal</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100"/>
                            </a:spcBef>
                            <a:spcAft>
                              <a:spcPts val="100"/>
                            </a:spcAft>
                          </a:pPr>
                          <a14:m>
                            <m:oMathPara xmlns:m="http://schemas.openxmlformats.org/officeDocument/2006/math">
                              <m:oMathParaPr>
                                <m:jc m:val="centerGroup"/>
                              </m:oMathParaPr>
                              <m:oMath xmlns:m="http://schemas.openxmlformats.org/officeDocument/2006/math">
                                <m:r>
                                  <m:rPr>
                                    <m:sty m:val="p"/>
                                  </m:rPr>
                                  <a:rPr lang="en-US" sz="1400" kern="800">
                                    <a:effectLst/>
                                    <a:latin typeface="Cambria Math" panose="02040503050406030204" pitchFamily="18" charset="0"/>
                                  </a:rPr>
                                  <m:t>mrad</m:t>
                                </m:r>
                                <m:r>
                                  <a:rPr lang="en-US" sz="1400" kern="800">
                                    <a:effectLst/>
                                    <a:latin typeface="Cambria Math" panose="02040503050406030204" pitchFamily="18" charset="0"/>
                                  </a:rPr>
                                  <m:t>/</m:t>
                                </m:r>
                                <m:r>
                                  <m:rPr>
                                    <m:sty m:val="p"/>
                                  </m:rPr>
                                  <a:rPr lang="en-US" sz="1400" kern="800">
                                    <a:effectLst/>
                                    <a:latin typeface="Cambria Math" panose="02040503050406030204" pitchFamily="18" charset="0"/>
                                  </a:rPr>
                                  <m:t>A</m:t>
                                </m:r>
                              </m:oMath>
                            </m:oMathPara>
                          </a14:m>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100"/>
                            </a:spcBef>
                            <a:spcAft>
                              <a:spcPts val="100"/>
                            </a:spcAft>
                          </a:pPr>
                          <a:r>
                            <a:rPr lang="en-US" sz="1400" kern="800" dirty="0">
                              <a:effectLst/>
                            </a:rPr>
                            <a:t>28</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1"/>
                      </a:ext>
                    </a:extLst>
                  </a:tr>
                  <a:tr h="316040">
                    <a:tc>
                      <a:txBody>
                        <a:bodyPr/>
                        <a:lstStyle/>
                        <a:p>
                          <a:pPr algn="ctr">
                            <a:lnSpc>
                              <a:spcPct val="100000"/>
                            </a:lnSpc>
                            <a:spcBef>
                              <a:spcPts val="100"/>
                            </a:spcBef>
                            <a:spcAft>
                              <a:spcPts val="100"/>
                            </a:spcAft>
                          </a:pPr>
                          <a:r>
                            <a:rPr lang="en-US" sz="1400" kern="800" dirty="0">
                              <a:effectLst/>
                            </a:rPr>
                            <a:t>Vertical</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100"/>
                            </a:spcBef>
                            <a:spcAft>
                              <a:spcPts val="100"/>
                            </a:spcAft>
                          </a:pPr>
                          <a14:m>
                            <m:oMathPara xmlns:m="http://schemas.openxmlformats.org/officeDocument/2006/math">
                              <m:oMathParaPr>
                                <m:jc m:val="centerGroup"/>
                              </m:oMathParaPr>
                              <m:oMath xmlns:m="http://schemas.openxmlformats.org/officeDocument/2006/math">
                                <m:r>
                                  <m:rPr>
                                    <m:sty m:val="p"/>
                                  </m:rPr>
                                  <a:rPr lang="en-US" sz="1400" kern="800">
                                    <a:effectLst/>
                                    <a:latin typeface="Cambria Math" panose="02040503050406030204" pitchFamily="18" charset="0"/>
                                  </a:rPr>
                                  <m:t>mrad</m:t>
                                </m:r>
                                <m:r>
                                  <a:rPr lang="en-US" sz="1400" kern="800">
                                    <a:effectLst/>
                                    <a:latin typeface="Cambria Math" panose="02040503050406030204" pitchFamily="18" charset="0"/>
                                  </a:rPr>
                                  <m:t>/</m:t>
                                </m:r>
                                <m:r>
                                  <m:rPr>
                                    <m:sty m:val="p"/>
                                  </m:rPr>
                                  <a:rPr lang="en-US" sz="1400" kern="800">
                                    <a:effectLst/>
                                    <a:latin typeface="Cambria Math" panose="02040503050406030204" pitchFamily="18" charset="0"/>
                                  </a:rPr>
                                  <m:t>A</m:t>
                                </m:r>
                              </m:oMath>
                            </m:oMathPara>
                          </a14:m>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100"/>
                            </a:spcBef>
                            <a:spcAft>
                              <a:spcPts val="100"/>
                            </a:spcAft>
                          </a:pPr>
                          <a:r>
                            <a:rPr lang="en-US" sz="1400" kern="800">
                              <a:effectLst/>
                            </a:rPr>
                            <a:t>42</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extLst>
                      <a:ext uri="{0D108BD9-81ED-4DB2-BD59-A6C34878D82A}">
                        <a16:rowId xmlns="" xmlns:a16="http://schemas.microsoft.com/office/drawing/2014/main" val="10002"/>
                      </a:ext>
                    </a:extLst>
                  </a:tr>
                  <a:tr h="316040">
                    <a:tc>
                      <a:txBody>
                        <a:bodyPr/>
                        <a:lstStyle/>
                        <a:p>
                          <a:pPr algn="ctr">
                            <a:lnSpc>
                              <a:spcPct val="100000"/>
                            </a:lnSpc>
                            <a:spcBef>
                              <a:spcPts val="100"/>
                            </a:spcBef>
                            <a:spcAft>
                              <a:spcPts val="100"/>
                            </a:spcAft>
                          </a:pPr>
                          <a:r>
                            <a:rPr lang="en-US" sz="1400" kern="800" dirty="0">
                              <a:effectLst/>
                            </a:rPr>
                            <a:t>K-quadrupole.</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100"/>
                            </a:spcBef>
                            <a:spcAft>
                              <a:spcPts val="100"/>
                            </a:spcAft>
                          </a:pPr>
                          <a14:m>
                            <m:oMathPara xmlns:m="http://schemas.openxmlformats.org/officeDocument/2006/math">
                              <m:oMathParaPr>
                                <m:jc m:val="centerGroup"/>
                              </m:oMathParaPr>
                              <m:oMath xmlns:m="http://schemas.openxmlformats.org/officeDocument/2006/math">
                                <m:sSup>
                                  <m:sSupPr>
                                    <m:ctrlPr>
                                      <a:rPr lang="ja-JP" sz="1400" i="1" kern="800">
                                        <a:effectLst/>
                                        <a:latin typeface="Cambria Math" panose="02040503050406030204" pitchFamily="18" charset="0"/>
                                      </a:rPr>
                                    </m:ctrlPr>
                                  </m:sSupPr>
                                  <m:e>
                                    <m:r>
                                      <m:rPr>
                                        <m:sty m:val="p"/>
                                      </m:rPr>
                                      <a:rPr lang="en-US" sz="1400" kern="800">
                                        <a:effectLst/>
                                        <a:latin typeface="Cambria Math" panose="02040503050406030204" pitchFamily="18" charset="0"/>
                                      </a:rPr>
                                      <m:t>m</m:t>
                                    </m:r>
                                  </m:e>
                                  <m:sup>
                                    <m:r>
                                      <a:rPr lang="en-US" sz="1400" kern="800">
                                        <a:effectLst/>
                                        <a:latin typeface="Cambria Math" panose="02040503050406030204" pitchFamily="18" charset="0"/>
                                      </a:rPr>
                                      <m:t>−2</m:t>
                                    </m:r>
                                  </m:sup>
                                </m:sSup>
                              </m:oMath>
                            </m:oMathPara>
                          </a14:m>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100"/>
                            </a:spcBef>
                            <a:spcAft>
                              <a:spcPts val="100"/>
                            </a:spcAft>
                          </a:pPr>
                          <a:r>
                            <a:rPr lang="en-US" sz="1400" kern="800" dirty="0">
                              <a:effectLst/>
                            </a:rPr>
                            <a:t>72</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extLst>
                      <a:ext uri="{0D108BD9-81ED-4DB2-BD59-A6C34878D82A}">
                        <a16:rowId xmlns="" xmlns:a16="http://schemas.microsoft.com/office/drawing/2014/main" val="10003"/>
                      </a:ext>
                    </a:extLst>
                  </a:tr>
                  <a:tr h="432000">
                    <a:tc>
                      <a:txBody>
                        <a:bodyPr/>
                        <a:lstStyle/>
                        <a:p>
                          <a:pPr algn="ctr">
                            <a:lnSpc>
                              <a:spcPct val="100000"/>
                            </a:lnSpc>
                            <a:spcBef>
                              <a:spcPts val="100"/>
                            </a:spcBef>
                            <a:spcAft>
                              <a:spcPts val="100"/>
                            </a:spcAft>
                          </a:pPr>
                          <a:r>
                            <a:rPr lang="en-US" sz="1400" kern="800">
                              <a:effectLst/>
                            </a:rPr>
                            <a:t>Momentum compaction</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100"/>
                            </a:spcBef>
                            <a:spcAft>
                              <a:spcPts val="100"/>
                            </a:spcAft>
                          </a:pPr>
                          <a:r>
                            <a:rPr lang="en-US" sz="1400" kern="800" dirty="0">
                              <a:effectLst/>
                            </a:rPr>
                            <a:t>-</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100"/>
                            </a:spcBef>
                            <a:spcAft>
                              <a:spcPts val="100"/>
                            </a:spcAft>
                          </a:pPr>
                          <a:r>
                            <a:rPr lang="en-US" sz="1400" kern="800" dirty="0">
                              <a:effectLst/>
                            </a:rPr>
                            <a:t> </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extLst>
                      <a:ext uri="{0D108BD9-81ED-4DB2-BD59-A6C34878D82A}">
                        <a16:rowId xmlns="" xmlns:a16="http://schemas.microsoft.com/office/drawing/2014/main" val="10004"/>
                      </a:ext>
                    </a:extLst>
                  </a:tr>
                  <a:tr h="316040">
                    <a:tc>
                      <a:txBody>
                        <a:bodyPr/>
                        <a:lstStyle/>
                        <a:p>
                          <a:pPr algn="ctr">
                            <a:lnSpc>
                              <a:spcPct val="100000"/>
                            </a:lnSpc>
                            <a:spcBef>
                              <a:spcPts val="100"/>
                            </a:spcBef>
                            <a:spcAft>
                              <a:spcPts val="100"/>
                            </a:spcAft>
                          </a:pPr>
                          <a:r>
                            <a:rPr lang="en-US" sz="1400" kern="800" dirty="0">
                              <a:effectLst/>
                            </a:rPr>
                            <a:t>Skew-quad.</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100"/>
                            </a:spcBef>
                            <a:spcAft>
                              <a:spcPts val="100"/>
                            </a:spcAft>
                          </a:pPr>
                          <a14:m>
                            <m:oMathPara xmlns:m="http://schemas.openxmlformats.org/officeDocument/2006/math">
                              <m:oMathParaPr>
                                <m:jc m:val="centerGroup"/>
                              </m:oMathParaPr>
                              <m:oMath xmlns:m="http://schemas.openxmlformats.org/officeDocument/2006/math">
                                <m:r>
                                  <m:rPr>
                                    <m:sty m:val="p"/>
                                  </m:rPr>
                                  <a:rPr lang="en-US" sz="1400" kern="800">
                                    <a:effectLst/>
                                    <a:latin typeface="Cambria Math" panose="02040503050406030204" pitchFamily="18" charset="0"/>
                                  </a:rPr>
                                  <m:t>mrad</m:t>
                                </m:r>
                              </m:oMath>
                            </m:oMathPara>
                          </a14:m>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100"/>
                            </a:spcBef>
                            <a:spcAft>
                              <a:spcPts val="100"/>
                            </a:spcAft>
                          </a:pPr>
                          <a:r>
                            <a:rPr lang="en-US" sz="1400" kern="800" dirty="0">
                              <a:effectLst/>
                            </a:rPr>
                            <a:t>14</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5"/>
                      </a:ext>
                    </a:extLst>
                  </a:tr>
                </a:tbl>
              </a:graphicData>
            </a:graphic>
          </p:graphicFrame>
        </mc:Choice>
        <mc:Fallback xmlns="">
          <p:graphicFrame>
            <p:nvGraphicFramePr>
              <p:cNvPr id="2" name="表 1"/>
              <p:cNvGraphicFramePr>
                <a:graphicFrameLocks noGrp="1"/>
              </p:cNvGraphicFramePr>
              <p:nvPr>
                <p:extLst>
                  <p:ext uri="{D42A27DB-BD31-4B8C-83A1-F6EECF244321}">
                    <p14:modId xmlns:p14="http://schemas.microsoft.com/office/powerpoint/2010/main" val="1006001979"/>
                  </p:ext>
                </p:extLst>
              </p:nvPr>
            </p:nvGraphicFramePr>
            <p:xfrm>
              <a:off x="421243" y="4135470"/>
              <a:ext cx="2879359" cy="1974539"/>
            </p:xfrm>
            <a:graphic>
              <a:graphicData uri="http://schemas.openxmlformats.org/drawingml/2006/table">
                <a:tbl>
                  <a:tblPr>
                    <a:tableStyleId>{5C22544A-7EE6-4342-B048-85BDC9FD1C3A}</a:tableStyleId>
                  </a:tblPr>
                  <a:tblGrid>
                    <a:gridCol w="1268142"/>
                    <a:gridCol w="766298"/>
                    <a:gridCol w="844919"/>
                  </a:tblGrid>
                  <a:tr h="278379">
                    <a:tc gridSpan="2">
                      <a:txBody>
                        <a:bodyPr/>
                        <a:lstStyle/>
                        <a:p>
                          <a:pPr algn="ctr">
                            <a:lnSpc>
                              <a:spcPct val="100000"/>
                            </a:lnSpc>
                            <a:spcBef>
                              <a:spcPts val="100"/>
                            </a:spcBef>
                            <a:spcAft>
                              <a:spcPts val="100"/>
                            </a:spcAft>
                          </a:pPr>
                          <a:r>
                            <a:rPr lang="en-US" sz="1400" kern="800" dirty="0">
                              <a:effectLst/>
                            </a:rPr>
                            <a:t>name</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a:txBody>
                        <a:bodyPr/>
                        <a:lstStyle/>
                        <a:p>
                          <a:pPr algn="ctr">
                            <a:lnSpc>
                              <a:spcPct val="100000"/>
                            </a:lnSpc>
                            <a:spcBef>
                              <a:spcPts val="100"/>
                            </a:spcBef>
                            <a:spcAft>
                              <a:spcPts val="100"/>
                            </a:spcAft>
                          </a:pPr>
                          <a:r>
                            <a:rPr lang="en-US" sz="1400" kern="800" dirty="0">
                              <a:effectLst/>
                            </a:rPr>
                            <a:t>Number</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6040">
                    <a:tc>
                      <a:txBody>
                        <a:bodyPr/>
                        <a:lstStyle/>
                        <a:p>
                          <a:pPr algn="ctr">
                            <a:lnSpc>
                              <a:spcPct val="100000"/>
                            </a:lnSpc>
                            <a:spcBef>
                              <a:spcPts val="100"/>
                            </a:spcBef>
                            <a:spcAft>
                              <a:spcPts val="100"/>
                            </a:spcAft>
                          </a:pPr>
                          <a:r>
                            <a:rPr lang="en-US" sz="1400" kern="800" dirty="0">
                              <a:effectLst/>
                            </a:rPr>
                            <a:t>Horizontal</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endParaRPr lang="ja-JP"/>
                        </a:p>
                      </a:txBody>
                      <a:tcPr marL="68580" marR="68580" marT="0" marB="0" anchor="ctr">
                        <a:lnT w="12700" cap="flat" cmpd="sng" algn="ctr">
                          <a:solidFill>
                            <a:schemeClr val="tx1"/>
                          </a:solidFill>
                          <a:prstDash val="solid"/>
                          <a:round/>
                          <a:headEnd type="none" w="med" len="med"/>
                          <a:tailEnd type="none" w="med" len="med"/>
                        </a:lnT>
                        <a:blipFill rotWithShape="0">
                          <a:blip r:embed="rId4"/>
                          <a:stretch>
                            <a:fillRect l="-165873" t="-96154" r="-111905" b="-453846"/>
                          </a:stretch>
                        </a:blipFill>
                      </a:tcPr>
                    </a:tc>
                    <a:tc>
                      <a:txBody>
                        <a:bodyPr/>
                        <a:lstStyle/>
                        <a:p>
                          <a:pPr algn="ctr">
                            <a:lnSpc>
                              <a:spcPct val="100000"/>
                            </a:lnSpc>
                            <a:spcBef>
                              <a:spcPts val="100"/>
                            </a:spcBef>
                            <a:spcAft>
                              <a:spcPts val="100"/>
                            </a:spcAft>
                          </a:pPr>
                          <a:r>
                            <a:rPr lang="en-US" sz="1400" kern="800" dirty="0">
                              <a:effectLst/>
                            </a:rPr>
                            <a:t>28</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r>
                  <a:tr h="316040">
                    <a:tc>
                      <a:txBody>
                        <a:bodyPr/>
                        <a:lstStyle/>
                        <a:p>
                          <a:pPr algn="ctr">
                            <a:lnSpc>
                              <a:spcPct val="100000"/>
                            </a:lnSpc>
                            <a:spcBef>
                              <a:spcPts val="100"/>
                            </a:spcBef>
                            <a:spcAft>
                              <a:spcPts val="100"/>
                            </a:spcAft>
                          </a:pPr>
                          <a:r>
                            <a:rPr lang="en-US" sz="1400" kern="800" dirty="0">
                              <a:effectLst/>
                            </a:rPr>
                            <a:t>Vertical</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endParaRPr lang="ja-JP"/>
                        </a:p>
                      </a:txBody>
                      <a:tcPr marL="68580" marR="68580" marT="0" marB="0" anchor="ctr">
                        <a:blipFill rotWithShape="0">
                          <a:blip r:embed="rId4"/>
                          <a:stretch>
                            <a:fillRect l="-165873" t="-196154" r="-111905" b="-353846"/>
                          </a:stretch>
                        </a:blipFill>
                      </a:tcPr>
                    </a:tc>
                    <a:tc>
                      <a:txBody>
                        <a:bodyPr/>
                        <a:lstStyle/>
                        <a:p>
                          <a:pPr algn="ctr">
                            <a:lnSpc>
                              <a:spcPct val="100000"/>
                            </a:lnSpc>
                            <a:spcBef>
                              <a:spcPts val="100"/>
                            </a:spcBef>
                            <a:spcAft>
                              <a:spcPts val="100"/>
                            </a:spcAft>
                          </a:pPr>
                          <a:r>
                            <a:rPr lang="en-US" sz="1400" kern="800">
                              <a:effectLst/>
                            </a:rPr>
                            <a:t>42</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r>
                  <a:tr h="316040">
                    <a:tc>
                      <a:txBody>
                        <a:bodyPr/>
                        <a:lstStyle/>
                        <a:p>
                          <a:pPr algn="ctr">
                            <a:lnSpc>
                              <a:spcPct val="100000"/>
                            </a:lnSpc>
                            <a:spcBef>
                              <a:spcPts val="100"/>
                            </a:spcBef>
                            <a:spcAft>
                              <a:spcPts val="100"/>
                            </a:spcAft>
                          </a:pPr>
                          <a:r>
                            <a:rPr lang="en-US" sz="1400" kern="800">
                              <a:effectLst/>
                            </a:rPr>
                            <a:t>K-quadrupole.</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endParaRPr lang="ja-JP"/>
                        </a:p>
                      </a:txBody>
                      <a:tcPr marL="68580" marR="68580" marT="0" marB="0" anchor="ctr">
                        <a:blipFill rotWithShape="0">
                          <a:blip r:embed="rId4"/>
                          <a:stretch>
                            <a:fillRect l="-165873" t="-296154" r="-111905" b="-253846"/>
                          </a:stretch>
                        </a:blipFill>
                      </a:tcPr>
                    </a:tc>
                    <a:tc>
                      <a:txBody>
                        <a:bodyPr/>
                        <a:lstStyle/>
                        <a:p>
                          <a:pPr algn="ctr">
                            <a:lnSpc>
                              <a:spcPct val="100000"/>
                            </a:lnSpc>
                            <a:spcBef>
                              <a:spcPts val="100"/>
                            </a:spcBef>
                            <a:spcAft>
                              <a:spcPts val="100"/>
                            </a:spcAft>
                          </a:pPr>
                          <a:r>
                            <a:rPr lang="en-US" sz="1400" kern="800" dirty="0">
                              <a:effectLst/>
                            </a:rPr>
                            <a:t>72</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r>
                  <a:tr h="432000">
                    <a:tc>
                      <a:txBody>
                        <a:bodyPr/>
                        <a:lstStyle/>
                        <a:p>
                          <a:pPr algn="ctr">
                            <a:lnSpc>
                              <a:spcPct val="100000"/>
                            </a:lnSpc>
                            <a:spcBef>
                              <a:spcPts val="100"/>
                            </a:spcBef>
                            <a:spcAft>
                              <a:spcPts val="100"/>
                            </a:spcAft>
                          </a:pPr>
                          <a:r>
                            <a:rPr lang="en-US" sz="1400" kern="800">
                              <a:effectLst/>
                            </a:rPr>
                            <a:t>Momentum compaction</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100"/>
                            </a:spcBef>
                            <a:spcAft>
                              <a:spcPts val="100"/>
                            </a:spcAft>
                          </a:pPr>
                          <a:r>
                            <a:rPr lang="en-US" sz="1400" kern="800" dirty="0">
                              <a:effectLst/>
                            </a:rPr>
                            <a:t>-</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100"/>
                            </a:spcBef>
                            <a:spcAft>
                              <a:spcPts val="100"/>
                            </a:spcAft>
                          </a:pPr>
                          <a:r>
                            <a:rPr lang="en-US" sz="1400" kern="800" dirty="0">
                              <a:effectLst/>
                            </a:rPr>
                            <a:t> </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r>
                  <a:tr h="316040">
                    <a:tc>
                      <a:txBody>
                        <a:bodyPr/>
                        <a:lstStyle/>
                        <a:p>
                          <a:pPr algn="ctr">
                            <a:lnSpc>
                              <a:spcPct val="100000"/>
                            </a:lnSpc>
                            <a:spcBef>
                              <a:spcPts val="100"/>
                            </a:spcBef>
                            <a:spcAft>
                              <a:spcPts val="100"/>
                            </a:spcAft>
                          </a:pPr>
                          <a:r>
                            <a:rPr lang="en-US" sz="1400" kern="800" dirty="0">
                              <a:effectLst/>
                            </a:rPr>
                            <a:t>Skew-quad.</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endParaRPr lang="ja-JP"/>
                        </a:p>
                      </a:txBody>
                      <a:tcPr marL="68580" marR="68580" marT="0" marB="0" anchor="ctr">
                        <a:lnB w="12700" cap="flat" cmpd="sng" algn="ctr">
                          <a:solidFill>
                            <a:schemeClr val="tx1"/>
                          </a:solidFill>
                          <a:prstDash val="solid"/>
                          <a:round/>
                          <a:headEnd type="none" w="med" len="med"/>
                          <a:tailEnd type="none" w="med" len="med"/>
                        </a:lnB>
                        <a:blipFill rotWithShape="0">
                          <a:blip r:embed="rId4"/>
                          <a:stretch>
                            <a:fillRect l="-165873" t="-532692" r="-111905" b="-17308"/>
                          </a:stretch>
                        </a:blipFill>
                      </a:tcPr>
                    </a:tc>
                    <a:tc>
                      <a:txBody>
                        <a:bodyPr/>
                        <a:lstStyle/>
                        <a:p>
                          <a:pPr algn="ctr">
                            <a:lnSpc>
                              <a:spcPct val="100000"/>
                            </a:lnSpc>
                            <a:spcBef>
                              <a:spcPts val="100"/>
                            </a:spcBef>
                            <a:spcAft>
                              <a:spcPts val="100"/>
                            </a:spcAft>
                          </a:pPr>
                          <a:r>
                            <a:rPr lang="en-US" sz="1400" kern="800" dirty="0">
                              <a:effectLst/>
                            </a:rPr>
                            <a:t>14</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r>
                </a:tbl>
              </a:graphicData>
            </a:graphic>
          </p:graphicFrame>
        </mc:Fallback>
      </mc:AlternateContent>
      <p:sp>
        <p:nvSpPr>
          <p:cNvPr id="12" name="右矢印 11"/>
          <p:cNvSpPr/>
          <p:nvPr/>
        </p:nvSpPr>
        <p:spPr>
          <a:xfrm>
            <a:off x="3805389" y="4486278"/>
            <a:ext cx="616516" cy="5318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mc:AlternateContent xmlns:mc="http://schemas.openxmlformats.org/markup-compatibility/2006" xmlns:a14="http://schemas.microsoft.com/office/drawing/2010/main">
        <mc:Choice Requires="a14">
          <p:sp>
            <p:nvSpPr>
              <p:cNvPr id="15" name="正方形/長方形 14"/>
              <p:cNvSpPr/>
              <p:nvPr/>
            </p:nvSpPr>
            <p:spPr>
              <a:xfrm>
                <a:off x="6337300" y="2712366"/>
                <a:ext cx="2971800" cy="738664"/>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ja-JP" sz="1400" i="1">
                          <a:latin typeface="Cambria Math" panose="02040503050406030204" pitchFamily="18" charset="0"/>
                        </a:rPr>
                        <m:t>𝑖</m:t>
                      </m:r>
                      <m:r>
                        <a:rPr lang="en-US" altLang="ja-JP" sz="1400" i="1">
                          <a:latin typeface="Cambria Math" panose="02040503050406030204" pitchFamily="18" charset="0"/>
                        </a:rPr>
                        <m:t> :</m:t>
                      </m:r>
                      <m:r>
                        <a:rPr lang="en-US" altLang="ja-JP" sz="1400" i="1">
                          <a:latin typeface="Cambria Math" panose="02040503050406030204" pitchFamily="18" charset="0"/>
                        </a:rPr>
                        <m:t>𝐵𝑃𝑀</m:t>
                      </m:r>
                      <m:r>
                        <a:rPr lang="en-US" altLang="ja-JP" sz="1400" i="1">
                          <a:latin typeface="Cambria Math" panose="02040503050406030204" pitchFamily="18" charset="0"/>
                        </a:rPr>
                        <m:t> </m:t>
                      </m:r>
                    </m:oMath>
                  </m:oMathPara>
                </a14:m>
                <a:endParaRPr lang="en-US" altLang="ja-JP" sz="1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ja-JP" sz="1400" i="1">
                          <a:latin typeface="Cambria Math" panose="02040503050406030204" pitchFamily="18" charset="0"/>
                        </a:rPr>
                        <m:t>𝑗</m:t>
                      </m:r>
                      <m:r>
                        <a:rPr lang="en-US" altLang="ja-JP" sz="1400" i="1">
                          <a:latin typeface="Cambria Math" panose="02040503050406030204" pitchFamily="18" charset="0"/>
                        </a:rPr>
                        <m:t> :</m:t>
                      </m:r>
                      <m:r>
                        <a:rPr lang="en-US" altLang="ja-JP" sz="1400" i="1">
                          <a:latin typeface="Cambria Math" panose="02040503050406030204" pitchFamily="18" charset="0"/>
                        </a:rPr>
                        <m:t>𝑆𝑡𝑒𝑒𝑟𝑡𝑖𝑛𝑔</m:t>
                      </m:r>
                      <m:r>
                        <a:rPr lang="en-US" altLang="ja-JP" sz="1400" i="1">
                          <a:latin typeface="Cambria Math" panose="02040503050406030204" pitchFamily="18" charset="0"/>
                        </a:rPr>
                        <m:t> </m:t>
                      </m:r>
                      <m:r>
                        <a:rPr lang="en-US" altLang="ja-JP" sz="1400" i="1">
                          <a:latin typeface="Cambria Math" panose="02040503050406030204" pitchFamily="18" charset="0"/>
                        </a:rPr>
                        <m:t>𝑚𝑎𝑔𝑛𝑒𝑡</m:t>
                      </m:r>
                      <m:r>
                        <a:rPr lang="en-US" altLang="ja-JP" sz="1400" i="1">
                          <a:latin typeface="Cambria Math" panose="02040503050406030204" pitchFamily="18" charset="0"/>
                        </a:rPr>
                        <m:t> </m:t>
                      </m:r>
                    </m:oMath>
                  </m:oMathPara>
                </a14:m>
                <a:endParaRPr lang="en-US" altLang="ja-JP" sz="1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ja-JP" altLang="en-US" sz="1400" i="1">
                          <a:latin typeface="Cambria Math" panose="02040503050406030204" pitchFamily="18" charset="0"/>
                        </a:rPr>
                        <m:t>𝜎</m:t>
                      </m:r>
                      <m:r>
                        <a:rPr lang="en-US" altLang="ja-JP" sz="1400" i="1">
                          <a:latin typeface="Cambria Math" panose="02040503050406030204" pitchFamily="18" charset="0"/>
                        </a:rPr>
                        <m:t> :</m:t>
                      </m:r>
                      <m:r>
                        <a:rPr lang="en-US" altLang="ja-JP" sz="1400" i="1">
                          <a:latin typeface="Cambria Math" panose="02040503050406030204" pitchFamily="18" charset="0"/>
                        </a:rPr>
                        <m:t>𝐵𝑃𝑀</m:t>
                      </m:r>
                      <m:r>
                        <a:rPr lang="en-US" altLang="ja-JP" sz="1400" i="1">
                          <a:latin typeface="Cambria Math" panose="02040503050406030204" pitchFamily="18" charset="0"/>
                        </a:rPr>
                        <m:t> </m:t>
                      </m:r>
                      <m:r>
                        <a:rPr lang="en-US" altLang="ja-JP" sz="1400" i="1">
                          <a:latin typeface="Cambria Math" panose="02040503050406030204" pitchFamily="18" charset="0"/>
                        </a:rPr>
                        <m:t>𝑛𝑜𝑖𝑠𝑒</m:t>
                      </m:r>
                      <m:r>
                        <a:rPr lang="en-US" altLang="ja-JP" sz="1400" i="1">
                          <a:latin typeface="Cambria Math" panose="02040503050406030204" pitchFamily="18" charset="0"/>
                        </a:rPr>
                        <m:t> </m:t>
                      </m:r>
                      <m:r>
                        <a:rPr lang="en-US" altLang="ja-JP" sz="1400" i="1">
                          <a:latin typeface="Cambria Math" panose="02040503050406030204" pitchFamily="18" charset="0"/>
                        </a:rPr>
                        <m:t>𝑟𝑒𝑣𝑒𝑙</m:t>
                      </m:r>
                    </m:oMath>
                  </m:oMathPara>
                </a14:m>
                <a:endParaRPr lang="ja-JP" altLang="en-US" sz="1400" dirty="0"/>
              </a:p>
            </p:txBody>
          </p:sp>
        </mc:Choice>
        <mc:Fallback xmlns="">
          <p:sp>
            <p:nvSpPr>
              <p:cNvPr id="15" name="正方形/長方形 14"/>
              <p:cNvSpPr>
                <a:spLocks noRot="1" noChangeAspect="1" noMove="1" noResize="1" noEditPoints="1" noAdjustHandles="1" noChangeArrowheads="1" noChangeShapeType="1" noTextEdit="1"/>
              </p:cNvSpPr>
              <p:nvPr/>
            </p:nvSpPr>
            <p:spPr>
              <a:xfrm>
                <a:off x="6337300" y="2712366"/>
                <a:ext cx="2971800" cy="738664"/>
              </a:xfrm>
              <a:prstGeom prst="rect">
                <a:avLst/>
              </a:prstGeom>
              <a:blipFill rotWithShape="0">
                <a:blip r:embed="rId6"/>
                <a:stretch>
                  <a:fillRect/>
                </a:stretch>
              </a:blipFill>
            </p:spPr>
            <p:txBody>
              <a:bodyPr/>
              <a:lstStyle/>
              <a:p>
                <a:r>
                  <a:rPr lang="ja-JP" altLang="en-US">
                    <a:noFill/>
                  </a:rPr>
                  <a:t> </a:t>
                </a:r>
              </a:p>
            </p:txBody>
          </p:sp>
        </mc:Fallback>
      </mc:AlternateContent>
      <p:sp>
        <p:nvSpPr>
          <p:cNvPr id="13" name="テキスト ボックス 12"/>
          <p:cNvSpPr txBox="1"/>
          <p:nvPr/>
        </p:nvSpPr>
        <p:spPr>
          <a:xfrm>
            <a:off x="250797" y="3796916"/>
            <a:ext cx="3220252" cy="338554"/>
          </a:xfrm>
          <a:prstGeom prst="rect">
            <a:avLst/>
          </a:prstGeom>
          <a:noFill/>
        </p:spPr>
        <p:txBody>
          <a:bodyPr wrap="square" rtlCol="0">
            <a:spAutoFit/>
          </a:bodyPr>
          <a:lstStyle/>
          <a:p>
            <a:pPr algn="ctr"/>
            <a:r>
              <a:rPr lang="en-US" altLang="ja-JP" sz="1600" dirty="0"/>
              <a:t>LOCO</a:t>
            </a:r>
            <a:r>
              <a:rPr lang="ja-JP" altLang="en-US" sz="1600" dirty="0"/>
              <a:t>パラメータ</a:t>
            </a:r>
            <a:endParaRPr kumimoji="1" lang="ja-JP" altLang="en-US" sz="1600" dirty="0"/>
          </a:p>
        </p:txBody>
      </p:sp>
      <p:sp>
        <p:nvSpPr>
          <p:cNvPr id="9" name="正方形/長方形 8"/>
          <p:cNvSpPr/>
          <p:nvPr/>
        </p:nvSpPr>
        <p:spPr>
          <a:xfrm>
            <a:off x="0" y="921399"/>
            <a:ext cx="1895327" cy="461665"/>
          </a:xfrm>
          <a:prstGeom prst="rect">
            <a:avLst/>
          </a:prstGeom>
        </p:spPr>
        <p:txBody>
          <a:bodyPr wrap="none">
            <a:spAutoFit/>
          </a:bodyPr>
          <a:lstStyle/>
          <a:p>
            <a:r>
              <a:rPr lang="en-US" altLang="ja-JP" sz="2400" dirty="0"/>
              <a:t>Optics</a:t>
            </a:r>
            <a:r>
              <a:rPr lang="ja-JP" altLang="en-US" sz="2400" dirty="0"/>
              <a:t>の測定</a:t>
            </a:r>
            <a:endParaRPr lang="en-US" altLang="ja-JP" sz="2400" dirty="0"/>
          </a:p>
        </p:txBody>
      </p:sp>
      <p:sp>
        <p:nvSpPr>
          <p:cNvPr id="14" name="正方形/長方形 13"/>
          <p:cNvSpPr/>
          <p:nvPr/>
        </p:nvSpPr>
        <p:spPr>
          <a:xfrm>
            <a:off x="3719947" y="4112773"/>
            <a:ext cx="787400" cy="307777"/>
          </a:xfrm>
          <a:prstGeom prst="rect">
            <a:avLst/>
          </a:prstGeom>
        </p:spPr>
        <p:txBody>
          <a:bodyPr wrap="square">
            <a:spAutoFit/>
          </a:bodyPr>
          <a:lstStyle/>
          <a:p>
            <a:r>
              <a:rPr lang="en-US" altLang="ja-JP" sz="1400" dirty="0"/>
              <a:t>Fitting</a:t>
            </a:r>
          </a:p>
        </p:txBody>
      </p:sp>
      <p:grpSp>
        <p:nvGrpSpPr>
          <p:cNvPr id="21" name="グループ化 20"/>
          <p:cNvGrpSpPr/>
          <p:nvPr/>
        </p:nvGrpSpPr>
        <p:grpSpPr>
          <a:xfrm>
            <a:off x="4610659" y="3648198"/>
            <a:ext cx="4371341" cy="2705778"/>
            <a:chOff x="4610659" y="3648198"/>
            <a:chExt cx="4371341" cy="2705778"/>
          </a:xfrm>
        </p:grpSpPr>
        <p:pic>
          <p:nvPicPr>
            <p:cNvPr id="18" name="図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03917" y="3648198"/>
              <a:ext cx="4178083" cy="2506850"/>
            </a:xfrm>
            <a:prstGeom prst="rect">
              <a:avLst/>
            </a:prstGeom>
          </p:spPr>
        </p:pic>
        <p:sp>
          <p:nvSpPr>
            <p:cNvPr id="19" name="テキスト ボックス 18"/>
            <p:cNvSpPr txBox="1"/>
            <p:nvPr/>
          </p:nvSpPr>
          <p:spPr>
            <a:xfrm>
              <a:off x="5704272" y="6046199"/>
              <a:ext cx="2377373" cy="307777"/>
            </a:xfrm>
            <a:prstGeom prst="rect">
              <a:avLst/>
            </a:prstGeom>
            <a:noFill/>
          </p:spPr>
          <p:txBody>
            <a:bodyPr wrap="square" rtlCol="0">
              <a:spAutoFit/>
            </a:bodyPr>
            <a:lstStyle/>
            <a:p>
              <a:pPr algn="ctr"/>
              <a:r>
                <a:rPr kumimoji="1" lang="en-US" altLang="ja-JP" sz="1400" dirty="0"/>
                <a:t>Distance from ID02 [m]</a:t>
              </a:r>
              <a:endParaRPr kumimoji="1" lang="ja-JP" altLang="en-US" sz="1400" dirty="0"/>
            </a:p>
          </p:txBody>
        </p:sp>
        <mc:AlternateContent xmlns:mc="http://schemas.openxmlformats.org/markup-compatibility/2006" xmlns:a14="http://schemas.microsoft.com/office/drawing/2010/main">
          <mc:Choice Requires="a14">
            <p:sp>
              <p:nvSpPr>
                <p:cNvPr id="20" name="テキスト ボックス 19"/>
                <p:cNvSpPr txBox="1"/>
                <p:nvPr/>
              </p:nvSpPr>
              <p:spPr>
                <a:xfrm rot="16200000">
                  <a:off x="3679728" y="4708366"/>
                  <a:ext cx="2248378" cy="386516"/>
                </a:xfrm>
                <a:prstGeom prst="rect">
                  <a:avLst/>
                </a:prstGeom>
                <a:noFill/>
              </p:spPr>
              <p:txBody>
                <a:bodyPr wrap="square" rtlCol="0">
                  <a:spAutoFit/>
                </a:bodyPr>
                <a:lstStyle/>
                <a:p>
                  <a:pPr algn="ctr"/>
                  <a:r>
                    <a:rPr lang="en-US" altLang="ja-JP" sz="1400" dirty="0"/>
                    <a:t>Beta function</a:t>
                  </a:r>
                  <a:r>
                    <a:rPr kumimoji="1" lang="en-US" altLang="ja-JP" sz="1400" dirty="0"/>
                    <a:t>[</a:t>
                  </a:r>
                  <a14:m>
                    <m:oMath xmlns:m="http://schemas.openxmlformats.org/officeDocument/2006/math">
                      <m:sSup>
                        <m:sSupPr>
                          <m:ctrlPr>
                            <a:rPr kumimoji="1" lang="en-US" altLang="ja-JP" sz="1400" b="0" i="1" smtClean="0">
                              <a:latin typeface="Cambria Math" panose="02040503050406030204" pitchFamily="18" charset="0"/>
                            </a:rPr>
                          </m:ctrlPr>
                        </m:sSupPr>
                        <m:e>
                          <m:r>
                            <a:rPr kumimoji="1" lang="en-US" altLang="ja-JP" sz="1400" b="0" i="1" smtClean="0">
                              <a:latin typeface="Cambria Math" panose="02040503050406030204" pitchFamily="18" charset="0"/>
                            </a:rPr>
                            <m:t>𝑚</m:t>
                          </m:r>
                        </m:e>
                        <m:sup>
                          <m:r>
                            <a:rPr kumimoji="1" lang="en-US" altLang="ja-JP" sz="1400" b="0" i="1" smtClean="0">
                              <a:latin typeface="Cambria Math" panose="02040503050406030204" pitchFamily="18" charset="0"/>
                            </a:rPr>
                            <m:t>−</m:t>
                          </m:r>
                          <m:f>
                            <m:fPr>
                              <m:ctrlPr>
                                <a:rPr kumimoji="1" lang="en-US" altLang="ja-JP" sz="1400" b="0" i="1" smtClean="0">
                                  <a:latin typeface="Cambria Math" panose="02040503050406030204" pitchFamily="18" charset="0"/>
                                </a:rPr>
                              </m:ctrlPr>
                            </m:fPr>
                            <m:num>
                              <m:r>
                                <a:rPr kumimoji="1" lang="en-US" altLang="ja-JP" sz="1400" b="0" i="1" smtClean="0">
                                  <a:latin typeface="Cambria Math" panose="02040503050406030204" pitchFamily="18" charset="0"/>
                                </a:rPr>
                                <m:t>1</m:t>
                              </m:r>
                            </m:num>
                            <m:den>
                              <m:r>
                                <a:rPr kumimoji="1" lang="en-US" altLang="ja-JP" sz="1400" b="0" i="1" smtClean="0">
                                  <a:latin typeface="Cambria Math" panose="02040503050406030204" pitchFamily="18" charset="0"/>
                                </a:rPr>
                                <m:t>2</m:t>
                              </m:r>
                            </m:den>
                          </m:f>
                        </m:sup>
                      </m:sSup>
                    </m:oMath>
                  </a14:m>
                  <a:r>
                    <a:rPr kumimoji="1" lang="en-US" altLang="ja-JP" sz="1400" dirty="0"/>
                    <a:t>]</a:t>
                  </a:r>
                  <a:endParaRPr kumimoji="1" lang="ja-JP" altLang="en-US" sz="1400" dirty="0"/>
                </a:p>
              </p:txBody>
            </p:sp>
          </mc:Choice>
          <mc:Fallback xmlns="">
            <p:sp>
              <p:nvSpPr>
                <p:cNvPr id="20" name="テキスト ボックス 19"/>
                <p:cNvSpPr txBox="1">
                  <a:spLocks noRot="1" noChangeAspect="1" noMove="1" noResize="1" noEditPoints="1" noAdjustHandles="1" noChangeArrowheads="1" noChangeShapeType="1" noTextEdit="1"/>
                </p:cNvSpPr>
                <p:nvPr/>
              </p:nvSpPr>
              <p:spPr>
                <a:xfrm rot="16200000">
                  <a:off x="3679728" y="4708366"/>
                  <a:ext cx="2248378" cy="386516"/>
                </a:xfrm>
                <a:prstGeom prst="rect">
                  <a:avLst/>
                </a:prstGeom>
                <a:blipFill rotWithShape="0">
                  <a:blip r:embed="rId8"/>
                  <a:stretch>
                    <a:fillRect r="-15625"/>
                  </a:stretch>
                </a:blipFill>
              </p:spPr>
              <p:txBody>
                <a:bodyPr/>
                <a:lstStyle/>
                <a:p>
                  <a:r>
                    <a:rPr lang="ja-JP" altLang="en-US">
                      <a:noFill/>
                    </a:rPr>
                    <a:t> </a:t>
                  </a:r>
                </a:p>
              </p:txBody>
            </p:sp>
          </mc:Fallback>
        </mc:AlternateContent>
      </p:grpSp>
      <p:sp>
        <p:nvSpPr>
          <p:cNvPr id="7" name="正方形/長方形 6"/>
          <p:cNvSpPr/>
          <p:nvPr/>
        </p:nvSpPr>
        <p:spPr>
          <a:xfrm>
            <a:off x="4507347" y="6488668"/>
            <a:ext cx="4572000" cy="369332"/>
          </a:xfrm>
          <a:prstGeom prst="rect">
            <a:avLst/>
          </a:prstGeom>
        </p:spPr>
        <p:txBody>
          <a:bodyPr>
            <a:spAutoFit/>
          </a:bodyPr>
          <a:lstStyle/>
          <a:p>
            <a:r>
              <a:rPr lang="en-US" altLang="ja-JP" sz="900" dirty="0"/>
              <a:t>J. Safranek, “Experimental Determination of Storage Ring Optics Using Orbit Response Measurements”, Nuclear Inst. and Methods in Phys. Res. A, 388, pp. 28 (1997).</a:t>
            </a:r>
            <a:endParaRPr lang="ja-JP" altLang="en-US" sz="900" dirty="0"/>
          </a:p>
        </p:txBody>
      </p:sp>
      <p:sp>
        <p:nvSpPr>
          <p:cNvPr id="10" name="スライド番号プレースホルダー 9"/>
          <p:cNvSpPr>
            <a:spLocks noGrp="1"/>
          </p:cNvSpPr>
          <p:nvPr>
            <p:ph type="sldNum" sz="quarter" idx="12"/>
          </p:nvPr>
        </p:nvSpPr>
        <p:spPr/>
        <p:txBody>
          <a:bodyPr/>
          <a:lstStyle/>
          <a:p>
            <a:fld id="{26B42C4F-1ABF-421A-9D5F-F691A5F6974A}" type="slidenum">
              <a:rPr kumimoji="1" lang="ja-JP" altLang="en-US" smtClean="0"/>
              <a:t>15</a:t>
            </a:fld>
            <a:endParaRPr kumimoji="1" lang="ja-JP" altLang="en-US"/>
          </a:p>
        </p:txBody>
      </p:sp>
    </p:spTree>
    <p:extLst>
      <p:ext uri="{BB962C8B-B14F-4D97-AF65-F5344CB8AC3E}">
        <p14:creationId xmlns:p14="http://schemas.microsoft.com/office/powerpoint/2010/main" val="2608080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0" y="0"/>
            <a:ext cx="5207000" cy="646331"/>
          </a:xfrm>
          <a:prstGeom prst="rect">
            <a:avLst/>
          </a:prstGeom>
          <a:noFill/>
        </p:spPr>
        <p:txBody>
          <a:bodyPr wrap="square" rtlCol="0" anchor="ctr">
            <a:spAutoFit/>
          </a:bodyPr>
          <a:lstStyle/>
          <a:p>
            <a:r>
              <a:rPr lang="en-US" altLang="ja-JP" sz="3600" dirty="0">
                <a:solidFill>
                  <a:schemeClr val="accent1">
                    <a:lumMod val="75000"/>
                  </a:schemeClr>
                </a:solidFill>
              </a:rPr>
              <a:t>3-2</a:t>
            </a:r>
            <a:r>
              <a:rPr lang="ja-JP" altLang="en-US" sz="3600" dirty="0">
                <a:solidFill>
                  <a:schemeClr val="accent1">
                    <a:lumMod val="75000"/>
                  </a:schemeClr>
                </a:solidFill>
              </a:rPr>
              <a:t>　入射シミュレーション</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p:cNvSpPr txBox="1"/>
          <p:nvPr/>
        </p:nvSpPr>
        <p:spPr>
          <a:xfrm>
            <a:off x="162000" y="5665987"/>
            <a:ext cx="8820000" cy="1015663"/>
          </a:xfrm>
          <a:prstGeom prst="rect">
            <a:avLst/>
          </a:prstGeom>
          <a:noFill/>
        </p:spPr>
        <p:txBody>
          <a:bodyPr wrap="square" rtlCol="0">
            <a:spAutoFit/>
          </a:bodyPr>
          <a:lstStyle/>
          <a:p>
            <a:pPr marL="342900" indent="-342900" algn="just">
              <a:buFont typeface="Arial" panose="020B0604020202020204" pitchFamily="34" charset="0"/>
              <a:buChar char="•"/>
            </a:pPr>
            <a:r>
              <a:rPr lang="ja-JP" altLang="en-US" sz="2000" dirty="0"/>
              <a:t>入射効率　計算値：　</a:t>
            </a:r>
            <a:r>
              <a:rPr lang="en-US" altLang="ja-JP" sz="2000" dirty="0"/>
              <a:t>31.8~57.3</a:t>
            </a:r>
            <a:r>
              <a:rPr lang="ja-JP" altLang="en-US" sz="2000" dirty="0"/>
              <a:t>　</a:t>
            </a:r>
            <a:r>
              <a:rPr lang="en-US" altLang="ja-JP" sz="2000" dirty="0"/>
              <a:t>%</a:t>
            </a:r>
            <a:r>
              <a:rPr lang="ja-JP" altLang="en-US" sz="2000" dirty="0"/>
              <a:t>　測定値：　</a:t>
            </a:r>
            <a:r>
              <a:rPr lang="en-US" altLang="ja-JP" sz="2000" dirty="0"/>
              <a:t>25.0~52.7 % (20180706)</a:t>
            </a:r>
          </a:p>
          <a:p>
            <a:pPr marL="342900" indent="-342900" algn="just">
              <a:buFont typeface="Arial" panose="020B0604020202020204" pitchFamily="34" charset="0"/>
              <a:buChar char="•"/>
            </a:pPr>
            <a:r>
              <a:rPr kumimoji="1" lang="ja-JP" altLang="en-US" sz="2000" dirty="0"/>
              <a:t>水平方向</a:t>
            </a:r>
            <a:r>
              <a:rPr lang="ja-JP" altLang="en-US" sz="2000" dirty="0"/>
              <a:t>のアパーチャーで粒子を落とす。</a:t>
            </a:r>
            <a:endParaRPr kumimoji="1" lang="en-US" altLang="ja-JP" sz="2000" dirty="0"/>
          </a:p>
          <a:p>
            <a:pPr marL="342900" indent="-342900" algn="just">
              <a:buFont typeface="Arial" panose="020B0604020202020204" pitchFamily="34" charset="0"/>
              <a:buChar char="•"/>
            </a:pPr>
            <a:r>
              <a:rPr lang="en-US" altLang="ja-JP" sz="2000" dirty="0"/>
              <a:t>K1</a:t>
            </a:r>
            <a:r>
              <a:rPr lang="ja-JP" altLang="en-US" sz="2000" dirty="0"/>
              <a:t>のマルチキックで入射の振幅は小さくなる。</a:t>
            </a:r>
            <a:endParaRPr lang="en-US" altLang="ja-JP" sz="2000" dirty="0"/>
          </a:p>
        </p:txBody>
      </p:sp>
      <p:sp>
        <p:nvSpPr>
          <p:cNvPr id="14" name="正方形/長方形 13"/>
          <p:cNvSpPr/>
          <p:nvPr/>
        </p:nvSpPr>
        <p:spPr>
          <a:xfrm>
            <a:off x="341915" y="1288471"/>
            <a:ext cx="1734770" cy="769441"/>
          </a:xfrm>
          <a:prstGeom prst="rect">
            <a:avLst/>
          </a:prstGeom>
        </p:spPr>
        <p:txBody>
          <a:bodyPr wrap="none">
            <a:spAutoFit/>
          </a:bodyPr>
          <a:lstStyle/>
          <a:p>
            <a:r>
              <a:rPr lang="ja-JP" altLang="en-US" sz="2400" dirty="0"/>
              <a:t>計算条件</a:t>
            </a:r>
            <a:r>
              <a:rPr lang="en-US" altLang="ja-JP" sz="2400" dirty="0"/>
              <a:t>2</a:t>
            </a:r>
          </a:p>
          <a:p>
            <a:r>
              <a:rPr lang="ja-JP" altLang="en-US" sz="2000" dirty="0"/>
              <a:t>・アパーチャー</a:t>
            </a:r>
            <a:endParaRPr lang="en-US" altLang="ja-JP" sz="2000" dirty="0"/>
          </a:p>
        </p:txBody>
      </p:sp>
      <p:sp>
        <p:nvSpPr>
          <p:cNvPr id="16" name="正方形/長方形 15"/>
          <p:cNvSpPr/>
          <p:nvPr/>
        </p:nvSpPr>
        <p:spPr>
          <a:xfrm>
            <a:off x="4661000" y="1288471"/>
            <a:ext cx="1730410" cy="769441"/>
          </a:xfrm>
          <a:prstGeom prst="rect">
            <a:avLst/>
          </a:prstGeom>
        </p:spPr>
        <p:txBody>
          <a:bodyPr wrap="none">
            <a:spAutoFit/>
          </a:bodyPr>
          <a:lstStyle/>
          <a:p>
            <a:r>
              <a:rPr lang="ja-JP" altLang="en-US" sz="2400" dirty="0"/>
              <a:t>計算結果</a:t>
            </a:r>
            <a:endParaRPr lang="en-US" altLang="ja-JP" sz="2400" dirty="0"/>
          </a:p>
          <a:p>
            <a:r>
              <a:rPr lang="ja-JP" altLang="en-US" sz="2000" dirty="0"/>
              <a:t>・</a:t>
            </a:r>
            <a:r>
              <a:rPr lang="en-US" altLang="ja-JP" sz="2000" dirty="0"/>
              <a:t>Design Optics</a:t>
            </a:r>
          </a:p>
        </p:txBody>
      </p:sp>
      <p:graphicFrame>
        <p:nvGraphicFramePr>
          <p:cNvPr id="17" name="表 16"/>
          <p:cNvGraphicFramePr>
            <a:graphicFrameLocks noGrp="1"/>
          </p:cNvGraphicFramePr>
          <p:nvPr>
            <p:extLst>
              <p:ext uri="{D42A27DB-BD31-4B8C-83A1-F6EECF244321}">
                <p14:modId xmlns:p14="http://schemas.microsoft.com/office/powerpoint/2010/main" val="2110995706"/>
              </p:ext>
            </p:extLst>
          </p:nvPr>
        </p:nvGraphicFramePr>
        <p:xfrm>
          <a:off x="161999" y="2123921"/>
          <a:ext cx="4326695" cy="1667186"/>
        </p:xfrm>
        <a:graphic>
          <a:graphicData uri="http://schemas.openxmlformats.org/drawingml/2006/table">
            <a:tbl>
              <a:tblPr>
                <a:tableStyleId>{5C22544A-7EE6-4342-B048-85BDC9FD1C3A}</a:tableStyleId>
              </a:tblPr>
              <a:tblGrid>
                <a:gridCol w="1006930">
                  <a:extLst>
                    <a:ext uri="{9D8B030D-6E8A-4147-A177-3AD203B41FA5}">
                      <a16:colId xmlns="" xmlns:a16="http://schemas.microsoft.com/office/drawing/2014/main" val="20000"/>
                    </a:ext>
                  </a:extLst>
                </a:gridCol>
                <a:gridCol w="601508">
                  <a:extLst>
                    <a:ext uri="{9D8B030D-6E8A-4147-A177-3AD203B41FA5}">
                      <a16:colId xmlns="" xmlns:a16="http://schemas.microsoft.com/office/drawing/2014/main" val="20001"/>
                    </a:ext>
                  </a:extLst>
                </a:gridCol>
                <a:gridCol w="801128">
                  <a:extLst>
                    <a:ext uri="{9D8B030D-6E8A-4147-A177-3AD203B41FA5}">
                      <a16:colId xmlns="" xmlns:a16="http://schemas.microsoft.com/office/drawing/2014/main" val="20002"/>
                    </a:ext>
                  </a:extLst>
                </a:gridCol>
                <a:gridCol w="801129">
                  <a:extLst>
                    <a:ext uri="{9D8B030D-6E8A-4147-A177-3AD203B41FA5}">
                      <a16:colId xmlns="" xmlns:a16="http://schemas.microsoft.com/office/drawing/2014/main" val="20003"/>
                    </a:ext>
                  </a:extLst>
                </a:gridCol>
                <a:gridCol w="1116000">
                  <a:extLst>
                    <a:ext uri="{9D8B030D-6E8A-4147-A177-3AD203B41FA5}">
                      <a16:colId xmlns="" xmlns:a16="http://schemas.microsoft.com/office/drawing/2014/main" val="20004"/>
                    </a:ext>
                  </a:extLst>
                </a:gridCol>
              </a:tblGrid>
              <a:tr h="482606">
                <a:tc rowSpan="2">
                  <a:txBody>
                    <a:bodyPr/>
                    <a:lstStyle/>
                    <a:p>
                      <a:pPr algn="ctr">
                        <a:lnSpc>
                          <a:spcPct val="100000"/>
                        </a:lnSpc>
                        <a:spcBef>
                          <a:spcPts val="300"/>
                        </a:spcBef>
                        <a:spcAft>
                          <a:spcPts val="300"/>
                        </a:spcAft>
                      </a:pPr>
                      <a:r>
                        <a:rPr lang="en-US" sz="1600" kern="800" dirty="0">
                          <a:effectLst/>
                        </a:rPr>
                        <a:t>Position</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lnSpc>
                          <a:spcPct val="100000"/>
                        </a:lnSpc>
                        <a:spcBef>
                          <a:spcPts val="300"/>
                        </a:spcBef>
                        <a:spcAft>
                          <a:spcPts val="300"/>
                        </a:spcAft>
                      </a:pPr>
                      <a:r>
                        <a:rPr lang="en-US" sz="1600" kern="800" dirty="0">
                          <a:effectLst/>
                        </a:rPr>
                        <a:t>Aperture [mm]</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a:txBody>
                    <a:bodyPr/>
                    <a:lstStyle/>
                    <a:p>
                      <a:pPr algn="ctr">
                        <a:lnSpc>
                          <a:spcPct val="100000"/>
                        </a:lnSpc>
                        <a:spcBef>
                          <a:spcPts val="300"/>
                        </a:spcBef>
                        <a:spcAft>
                          <a:spcPts val="300"/>
                        </a:spcAft>
                      </a:pPr>
                      <a:r>
                        <a:rPr lang="en-US" altLang="ja-JP" sz="1600" kern="800" dirty="0">
                          <a:effectLst/>
                        </a:rPr>
                        <a:t>β</a:t>
                      </a:r>
                      <a:r>
                        <a:rPr lang="en-US" sz="1600" kern="800" dirty="0">
                          <a:effectLst/>
                        </a:rPr>
                        <a:t> [m]</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296145">
                <a:tc vMerge="1">
                  <a:txBody>
                    <a:bodyPr/>
                    <a:lstStyle/>
                    <a:p>
                      <a:endParaRPr kumimoji="1" lang="ja-JP" altLang="en-US"/>
                    </a:p>
                  </a:txBody>
                  <a:tcPr/>
                </a:tc>
                <a:tc>
                  <a:txBody>
                    <a:bodyPr/>
                    <a:lstStyle/>
                    <a:p>
                      <a:pPr algn="ctr">
                        <a:lnSpc>
                          <a:spcPct val="100000"/>
                        </a:lnSpc>
                        <a:spcBef>
                          <a:spcPts val="300"/>
                        </a:spcBef>
                        <a:spcAft>
                          <a:spcPts val="300"/>
                        </a:spcAft>
                      </a:pPr>
                      <a:r>
                        <a:rPr lang="en-US" altLang="ja-JP" sz="1600" kern="800" dirty="0">
                          <a:effectLst/>
                          <a:latin typeface="+mn-lt"/>
                          <a:ea typeface="+mn-ea"/>
                          <a:cs typeface="+mn-cs"/>
                        </a:rPr>
                        <a:t>x</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altLang="ja-JP" sz="1600" kern="800" dirty="0">
                          <a:effectLst/>
                          <a:latin typeface="+mn-lt"/>
                          <a:ea typeface="+mn-ea"/>
                          <a:cs typeface="+mn-cs"/>
                        </a:rPr>
                        <a:t>y</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altLang="ja-JP" sz="1600" kern="800" dirty="0">
                          <a:effectLst/>
                        </a:rPr>
                        <a:t>LOCO</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altLang="ja-JP" sz="1600" dirty="0">
                          <a:effectLst/>
                          <a:latin typeface="Times" panose="02020603050405020304" pitchFamily="18" charset="0"/>
                          <a:ea typeface="ＭＳ Ｐ明朝" panose="02020600040205080304" pitchFamily="18" charset="-128"/>
                          <a:cs typeface="Times New Roman" panose="02020603050405020304" pitchFamily="18" charset="0"/>
                        </a:rPr>
                        <a:t>X</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296145">
                <a:tc>
                  <a:txBody>
                    <a:bodyPr/>
                    <a:lstStyle/>
                    <a:p>
                      <a:pPr algn="ctr">
                        <a:lnSpc>
                          <a:spcPct val="100000"/>
                        </a:lnSpc>
                        <a:spcBef>
                          <a:spcPts val="300"/>
                        </a:spcBef>
                        <a:spcAft>
                          <a:spcPts val="300"/>
                        </a:spcAft>
                      </a:pPr>
                      <a:r>
                        <a:rPr lang="en-US" sz="1600" kern="800" dirty="0">
                          <a:effectLst/>
                        </a:rPr>
                        <a:t>ID16</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300"/>
                        </a:spcBef>
                        <a:spcAft>
                          <a:spcPts val="300"/>
                        </a:spcAft>
                      </a:pPr>
                      <a:r>
                        <a:rPr lang="en-US" sz="1600" kern="800" dirty="0">
                          <a:effectLst/>
                        </a:rPr>
                        <a:t>-</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300"/>
                        </a:spcBef>
                        <a:spcAft>
                          <a:spcPts val="300"/>
                        </a:spcAft>
                      </a:pPr>
                      <a:r>
                        <a:rPr lang="en-US" sz="1600" kern="800" dirty="0">
                          <a:effectLst/>
                        </a:rPr>
                        <a:t>7.5</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300"/>
                        </a:spcBef>
                        <a:spcAft>
                          <a:spcPts val="300"/>
                        </a:spcAft>
                      </a:pPr>
                      <a:r>
                        <a:rPr lang="en-US" sz="1600" kern="800" dirty="0">
                          <a:effectLst/>
                        </a:rPr>
                        <a:t>5.0</a:t>
                      </a:r>
                      <a:r>
                        <a:rPr lang="en-US" altLang="ja-JP" sz="1600" kern="800" dirty="0">
                          <a:effectLst/>
                        </a:rPr>
                        <a:t>7</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endParaRPr lang="ja-JP" altLang="en-US" dirty="0"/>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2"/>
                  </a:ext>
                </a:extLst>
              </a:tr>
              <a:tr h="296145">
                <a:tc>
                  <a:txBody>
                    <a:bodyPr/>
                    <a:lstStyle/>
                    <a:p>
                      <a:pPr algn="ctr">
                        <a:lnSpc>
                          <a:spcPct val="100000"/>
                        </a:lnSpc>
                        <a:spcBef>
                          <a:spcPts val="300"/>
                        </a:spcBef>
                        <a:spcAft>
                          <a:spcPts val="300"/>
                        </a:spcAft>
                      </a:pPr>
                      <a:r>
                        <a:rPr lang="en-US" sz="1600" kern="800" dirty="0">
                          <a:effectLst/>
                        </a:rPr>
                        <a:t>ID14</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300"/>
                        </a:spcBef>
                        <a:spcAft>
                          <a:spcPts val="300"/>
                        </a:spcAft>
                      </a:pPr>
                      <a:r>
                        <a:rPr lang="en-US" sz="1600" kern="800" dirty="0">
                          <a:effectLst/>
                        </a:rPr>
                        <a:t>16</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300"/>
                        </a:spcBef>
                        <a:spcAft>
                          <a:spcPts val="300"/>
                        </a:spcAft>
                      </a:pPr>
                      <a:r>
                        <a:rPr lang="en-US" sz="1600" kern="800" dirty="0">
                          <a:effectLst/>
                        </a:rPr>
                        <a:t>-</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300"/>
                        </a:spcBef>
                        <a:spcAft>
                          <a:spcPts val="300"/>
                        </a:spcAft>
                      </a:pPr>
                      <a:r>
                        <a:rPr lang="en-US" altLang="ja-JP" sz="1600" kern="800" dirty="0">
                          <a:effectLst/>
                          <a:latin typeface="+mn-lt"/>
                          <a:ea typeface="+mn-ea"/>
                          <a:cs typeface="+mn-cs"/>
                        </a:rPr>
                        <a:t>6.15</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r>
                        <a:rPr lang="en-US" altLang="ja-JP" sz="1600" dirty="0"/>
                        <a:t>5.67</a:t>
                      </a:r>
                      <a:r>
                        <a:rPr lang="ja-JP" altLang="en-US" sz="1600" dirty="0"/>
                        <a:t>→</a:t>
                      </a:r>
                      <a:r>
                        <a:rPr lang="en-US" altLang="ja-JP" sz="1600" dirty="0"/>
                        <a:t>6.45</a:t>
                      </a:r>
                      <a:endParaRPr lang="ja-JP" altLang="en-US" sz="1600" dirty="0"/>
                    </a:p>
                  </a:txBody>
                  <a:tcPr marL="68580" marR="68580" marT="0" marB="0" anchor="ctr">
                    <a:noFill/>
                  </a:tcPr>
                </a:tc>
                <a:extLst>
                  <a:ext uri="{0D108BD9-81ED-4DB2-BD59-A6C34878D82A}">
                    <a16:rowId xmlns="" xmlns:a16="http://schemas.microsoft.com/office/drawing/2014/main" val="10003"/>
                  </a:ext>
                </a:extLst>
              </a:tr>
              <a:tr h="296145">
                <a:tc>
                  <a:txBody>
                    <a:bodyPr/>
                    <a:lstStyle/>
                    <a:p>
                      <a:pPr algn="ctr">
                        <a:lnSpc>
                          <a:spcPct val="100000"/>
                        </a:lnSpc>
                        <a:spcBef>
                          <a:spcPts val="300"/>
                        </a:spcBef>
                        <a:spcAft>
                          <a:spcPts val="300"/>
                        </a:spcAft>
                      </a:pPr>
                      <a:r>
                        <a:rPr lang="en-US" sz="1600" kern="800" dirty="0">
                          <a:effectLst/>
                        </a:rPr>
                        <a:t>SEPTUM</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kern="800">
                          <a:effectLst/>
                        </a:rPr>
                        <a:t>21</a:t>
                      </a:r>
                      <a:endParaRPr lang="ja-JP" sz="160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kern="800" dirty="0">
                          <a:effectLst/>
                        </a:rPr>
                        <a:t>-</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kern="800" dirty="0">
                          <a:effectLst/>
                        </a:rPr>
                        <a:t>11.71</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altLang="ja-JP" sz="1600" dirty="0">
                          <a:effectLst/>
                          <a:latin typeface="+mn-lt"/>
                          <a:ea typeface="ＭＳ Ｐ明朝" panose="02020600040205080304" pitchFamily="18" charset="-128"/>
                          <a:cs typeface="Times New Roman" panose="02020603050405020304" pitchFamily="18" charset="0"/>
                        </a:rPr>
                        <a:t>6.50</a:t>
                      </a:r>
                      <a:r>
                        <a:rPr lang="ja-JP" altLang="en-US" sz="1600" dirty="0">
                          <a:latin typeface="+mn-lt"/>
                        </a:rPr>
                        <a:t>→</a:t>
                      </a:r>
                      <a:r>
                        <a:rPr lang="en-US" altLang="ja-JP" sz="1600" dirty="0">
                          <a:effectLst/>
                          <a:latin typeface="+mn-lt"/>
                          <a:ea typeface="ＭＳ Ｐ明朝" panose="02020600040205080304" pitchFamily="18" charset="-128"/>
                          <a:cs typeface="Times New Roman" panose="02020603050405020304" pitchFamily="18" charset="0"/>
                        </a:rPr>
                        <a:t>5.84</a:t>
                      </a:r>
                      <a:endParaRPr lang="ja-JP" sz="1600" dirty="0">
                        <a:effectLst/>
                        <a:latin typeface="+mn-lt"/>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4"/>
                  </a:ext>
                </a:extLst>
              </a:tr>
            </a:tbl>
          </a:graphicData>
        </a:graphic>
      </p:graphicFrame>
      <p:sp>
        <p:nvSpPr>
          <p:cNvPr id="18" name="正方形/長方形 17"/>
          <p:cNvSpPr/>
          <p:nvPr/>
        </p:nvSpPr>
        <p:spPr>
          <a:xfrm>
            <a:off x="341915" y="3862190"/>
            <a:ext cx="3896398" cy="1323439"/>
          </a:xfrm>
          <a:prstGeom prst="rect">
            <a:avLst/>
          </a:prstGeom>
        </p:spPr>
        <p:txBody>
          <a:bodyPr wrap="square">
            <a:spAutoFit/>
          </a:bodyPr>
          <a:lstStyle/>
          <a:p>
            <a:r>
              <a:rPr lang="ja-JP" altLang="en-US" sz="2000" dirty="0"/>
              <a:t>・入射粒子</a:t>
            </a:r>
            <a:endParaRPr lang="en-US" altLang="ja-JP" sz="2000" dirty="0"/>
          </a:p>
          <a:p>
            <a:r>
              <a:rPr lang="ja-JP" altLang="en-US" sz="2000" dirty="0"/>
              <a:t>入射ビームの測定結果を使用</a:t>
            </a:r>
            <a:endParaRPr lang="en-US" altLang="ja-JP" sz="2000" dirty="0"/>
          </a:p>
          <a:p>
            <a:r>
              <a:rPr lang="ja-JP" altLang="en-US" sz="2000" dirty="0"/>
              <a:t>・</a:t>
            </a:r>
            <a:r>
              <a:rPr lang="ja-JP" altLang="en-US" sz="2000" dirty="0">
                <a:solidFill>
                  <a:srgbClr val="FF0000"/>
                </a:solidFill>
              </a:rPr>
              <a:t>マルチキック</a:t>
            </a:r>
            <a:endParaRPr lang="en-US" altLang="ja-JP" sz="2000" dirty="0">
              <a:solidFill>
                <a:srgbClr val="FF0000"/>
              </a:solidFill>
            </a:endParaRPr>
          </a:p>
          <a:p>
            <a:r>
              <a:rPr lang="ja-JP" altLang="en-US" sz="2000" dirty="0"/>
              <a:t>・</a:t>
            </a:r>
            <a:r>
              <a:rPr lang="en-US" altLang="ja-JP" sz="2000" dirty="0">
                <a:solidFill>
                  <a:srgbClr val="FF0000"/>
                </a:solidFill>
              </a:rPr>
              <a:t>Optics (LOCO</a:t>
            </a:r>
            <a:r>
              <a:rPr lang="ja-JP" altLang="en-US" sz="2000" dirty="0">
                <a:solidFill>
                  <a:srgbClr val="FF0000"/>
                </a:solidFill>
              </a:rPr>
              <a:t>モデル</a:t>
            </a:r>
            <a:r>
              <a:rPr lang="en-US" altLang="ja-JP" sz="2000" dirty="0">
                <a:solidFill>
                  <a:srgbClr val="FF0000"/>
                </a:solidFill>
              </a:rPr>
              <a:t>)</a:t>
            </a:r>
          </a:p>
        </p:txBody>
      </p:sp>
      <p:sp>
        <p:nvSpPr>
          <p:cNvPr id="19" name="正方形/長方形 18"/>
          <p:cNvSpPr/>
          <p:nvPr/>
        </p:nvSpPr>
        <p:spPr>
          <a:xfrm>
            <a:off x="0" y="724402"/>
            <a:ext cx="5231112" cy="523220"/>
          </a:xfrm>
          <a:prstGeom prst="rect">
            <a:avLst/>
          </a:prstGeom>
        </p:spPr>
        <p:txBody>
          <a:bodyPr wrap="none">
            <a:spAutoFit/>
          </a:bodyPr>
          <a:lstStyle/>
          <a:p>
            <a:r>
              <a:rPr lang="ja-JP" altLang="en-US" sz="2800" dirty="0"/>
              <a:t>多粒子トラッキング（</a:t>
            </a:r>
            <a:r>
              <a:rPr lang="en-US" altLang="ja-JP" sz="2800" dirty="0"/>
              <a:t>LOCO</a:t>
            </a:r>
            <a:r>
              <a:rPr lang="ja-JP" altLang="en-US" sz="2800" dirty="0"/>
              <a:t>モデル）</a:t>
            </a:r>
            <a:endParaRPr lang="en-US" altLang="ja-JP" sz="2800" dirty="0"/>
          </a:p>
        </p:txBody>
      </p:sp>
      <p:graphicFrame>
        <p:nvGraphicFramePr>
          <p:cNvPr id="2" name="表 1"/>
          <p:cNvGraphicFramePr>
            <a:graphicFrameLocks noGrp="1"/>
          </p:cNvGraphicFramePr>
          <p:nvPr>
            <p:extLst>
              <p:ext uri="{D42A27DB-BD31-4B8C-83A1-F6EECF244321}">
                <p14:modId xmlns:p14="http://schemas.microsoft.com/office/powerpoint/2010/main" val="2882611987"/>
              </p:ext>
            </p:extLst>
          </p:nvPr>
        </p:nvGraphicFramePr>
        <p:xfrm>
          <a:off x="4661000" y="2203440"/>
          <a:ext cx="4160608" cy="1259999"/>
        </p:xfrm>
        <a:graphic>
          <a:graphicData uri="http://schemas.openxmlformats.org/drawingml/2006/table">
            <a:tbl>
              <a:tblPr>
                <a:tableStyleId>{5C22544A-7EE6-4342-B048-85BDC9FD1C3A}</a:tableStyleId>
              </a:tblPr>
              <a:tblGrid>
                <a:gridCol w="1908000">
                  <a:extLst>
                    <a:ext uri="{9D8B030D-6E8A-4147-A177-3AD203B41FA5}">
                      <a16:colId xmlns="" xmlns:a16="http://schemas.microsoft.com/office/drawing/2014/main" val="20000"/>
                    </a:ext>
                  </a:extLst>
                </a:gridCol>
                <a:gridCol w="1126304">
                  <a:extLst>
                    <a:ext uri="{9D8B030D-6E8A-4147-A177-3AD203B41FA5}">
                      <a16:colId xmlns="" xmlns:a16="http://schemas.microsoft.com/office/drawing/2014/main" val="20001"/>
                    </a:ext>
                  </a:extLst>
                </a:gridCol>
                <a:gridCol w="1126304">
                  <a:extLst>
                    <a:ext uri="{9D8B030D-6E8A-4147-A177-3AD203B41FA5}">
                      <a16:colId xmlns="" xmlns:a16="http://schemas.microsoft.com/office/drawing/2014/main" val="20002"/>
                    </a:ext>
                  </a:extLst>
                </a:gridCol>
              </a:tblGrid>
              <a:tr h="414665">
                <a:tc>
                  <a:txBody>
                    <a:bodyPr/>
                    <a:lstStyle/>
                    <a:p>
                      <a:pPr algn="ctr">
                        <a:lnSpc>
                          <a:spcPct val="100000"/>
                        </a:lnSpc>
                        <a:spcBef>
                          <a:spcPts val="300"/>
                        </a:spcBef>
                        <a:spcAft>
                          <a:spcPts val="300"/>
                        </a:spcAft>
                      </a:pPr>
                      <a:r>
                        <a:rPr lang="en-US" sz="1600" kern="800" dirty="0">
                          <a:effectLst/>
                        </a:rPr>
                        <a:t> </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kern="800" dirty="0">
                          <a:effectLst/>
                        </a:rPr>
                        <a:t>Single Kick</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kern="800" dirty="0">
                          <a:effectLst/>
                        </a:rPr>
                        <a:t>Multi Kick</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281778">
                <a:tc>
                  <a:txBody>
                    <a:bodyPr/>
                    <a:lstStyle/>
                    <a:p>
                      <a:pPr algn="ctr">
                        <a:lnSpc>
                          <a:spcPct val="100000"/>
                        </a:lnSpc>
                        <a:spcBef>
                          <a:spcPts val="300"/>
                        </a:spcBef>
                        <a:spcAft>
                          <a:spcPts val="300"/>
                        </a:spcAft>
                      </a:pPr>
                      <a:r>
                        <a:rPr lang="en-US" sz="1600" kern="800" dirty="0">
                          <a:effectLst/>
                        </a:rPr>
                        <a:t>Original</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300"/>
                        </a:spcBef>
                        <a:spcAft>
                          <a:spcPts val="300"/>
                        </a:spcAft>
                      </a:pPr>
                      <a:r>
                        <a:rPr lang="en-US" altLang="ja-JP" sz="1600" u="sng" dirty="0">
                          <a:effectLst/>
                          <a:latin typeface="Times" panose="02020603050405020304" pitchFamily="18" charset="0"/>
                          <a:ea typeface="ＭＳ Ｐ明朝" panose="02020600040205080304" pitchFamily="18" charset="-128"/>
                          <a:cs typeface="Times New Roman" panose="02020603050405020304" pitchFamily="18" charset="0"/>
                        </a:rPr>
                        <a:t>55.0</a:t>
                      </a:r>
                      <a:endParaRPr lang="ja-JP" sz="1600" u="sng"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300"/>
                        </a:spcBef>
                        <a:spcAft>
                          <a:spcPts val="300"/>
                        </a:spcAft>
                      </a:pPr>
                      <a:r>
                        <a:rPr lang="en-US" sz="1600" kern="800" dirty="0">
                          <a:effectLst/>
                        </a:rPr>
                        <a:t>57.4</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1"/>
                  </a:ext>
                </a:extLst>
              </a:tr>
              <a:tr h="281778">
                <a:tc>
                  <a:txBody>
                    <a:bodyPr/>
                    <a:lstStyle/>
                    <a:p>
                      <a:pPr algn="ctr">
                        <a:lnSpc>
                          <a:spcPct val="100000"/>
                        </a:lnSpc>
                        <a:spcBef>
                          <a:spcPts val="300"/>
                        </a:spcBef>
                        <a:spcAft>
                          <a:spcPts val="300"/>
                        </a:spcAft>
                      </a:pPr>
                      <a:r>
                        <a:rPr lang="en-US" sz="1600" kern="800" dirty="0">
                          <a:effectLst/>
                        </a:rPr>
                        <a:t>Fix the vertical</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300"/>
                        </a:spcBef>
                        <a:spcAft>
                          <a:spcPts val="300"/>
                        </a:spcAft>
                      </a:pPr>
                      <a:r>
                        <a:rPr lang="en-US" sz="1600" u="sng" kern="800" dirty="0">
                          <a:effectLst/>
                        </a:rPr>
                        <a:t>60.4</a:t>
                      </a:r>
                      <a:endParaRPr lang="ja-JP" sz="1600" u="sng"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300"/>
                        </a:spcBef>
                        <a:spcAft>
                          <a:spcPts val="300"/>
                        </a:spcAft>
                      </a:pPr>
                      <a:r>
                        <a:rPr lang="en-US" altLang="ja-JP" sz="1600" kern="800" dirty="0">
                          <a:effectLst/>
                          <a:latin typeface="+mn-lt"/>
                          <a:ea typeface="+mn-ea"/>
                          <a:cs typeface="+mn-cs"/>
                        </a:rPr>
                        <a:t>62.1</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extLst>
                  <a:ext uri="{0D108BD9-81ED-4DB2-BD59-A6C34878D82A}">
                    <a16:rowId xmlns="" xmlns:a16="http://schemas.microsoft.com/office/drawing/2014/main" val="10002"/>
                  </a:ext>
                </a:extLst>
              </a:tr>
              <a:tr h="281778">
                <a:tc>
                  <a:txBody>
                    <a:bodyPr/>
                    <a:lstStyle/>
                    <a:p>
                      <a:pPr algn="ctr">
                        <a:lnSpc>
                          <a:spcPct val="100000"/>
                        </a:lnSpc>
                        <a:spcBef>
                          <a:spcPts val="300"/>
                        </a:spcBef>
                        <a:spcAft>
                          <a:spcPts val="300"/>
                        </a:spcAft>
                      </a:pPr>
                      <a:r>
                        <a:rPr lang="en-US" sz="1600" kern="800" dirty="0">
                          <a:effectLst/>
                        </a:rPr>
                        <a:t>Fix the</a:t>
                      </a:r>
                      <a:r>
                        <a:rPr lang="en-US" sz="1600" kern="800" baseline="0" dirty="0">
                          <a:effectLst/>
                        </a:rPr>
                        <a:t> septum angle</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u="sng" kern="800" dirty="0">
                          <a:effectLst/>
                        </a:rPr>
                        <a:t>69.6</a:t>
                      </a:r>
                      <a:endParaRPr lang="ja-JP" sz="1600" u="sng"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kern="800" dirty="0">
                          <a:effectLst/>
                        </a:rPr>
                        <a:t>62.5</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bl>
          </a:graphicData>
        </a:graphic>
      </p:graphicFrame>
      <p:sp>
        <p:nvSpPr>
          <p:cNvPr id="7" name="正方形/長方形 6"/>
          <p:cNvSpPr/>
          <p:nvPr/>
        </p:nvSpPr>
        <p:spPr>
          <a:xfrm>
            <a:off x="4661000" y="3547411"/>
            <a:ext cx="1622688" cy="400110"/>
          </a:xfrm>
          <a:prstGeom prst="rect">
            <a:avLst/>
          </a:prstGeom>
        </p:spPr>
        <p:txBody>
          <a:bodyPr wrap="none">
            <a:spAutoFit/>
          </a:bodyPr>
          <a:lstStyle/>
          <a:p>
            <a:r>
              <a:rPr lang="ja-JP" altLang="en-US" sz="2000" dirty="0"/>
              <a:t>・</a:t>
            </a:r>
            <a:r>
              <a:rPr lang="en-US" altLang="ja-JP" sz="2000" dirty="0"/>
              <a:t>LOCO</a:t>
            </a:r>
            <a:r>
              <a:rPr lang="ja-JP" altLang="en-US" sz="2000" dirty="0"/>
              <a:t>モデル</a:t>
            </a:r>
            <a:endParaRPr lang="en-US" altLang="ja-JP" sz="2000" dirty="0"/>
          </a:p>
        </p:txBody>
      </p:sp>
      <p:graphicFrame>
        <p:nvGraphicFramePr>
          <p:cNvPr id="20" name="表 19"/>
          <p:cNvGraphicFramePr>
            <a:graphicFrameLocks noGrp="1"/>
          </p:cNvGraphicFramePr>
          <p:nvPr>
            <p:extLst>
              <p:ext uri="{D42A27DB-BD31-4B8C-83A1-F6EECF244321}">
                <p14:modId xmlns:p14="http://schemas.microsoft.com/office/powerpoint/2010/main" val="3618518367"/>
              </p:ext>
            </p:extLst>
          </p:nvPr>
        </p:nvGraphicFramePr>
        <p:xfrm>
          <a:off x="4661000" y="4031492"/>
          <a:ext cx="4160608" cy="1259999"/>
        </p:xfrm>
        <a:graphic>
          <a:graphicData uri="http://schemas.openxmlformats.org/drawingml/2006/table">
            <a:tbl>
              <a:tblPr>
                <a:tableStyleId>{5C22544A-7EE6-4342-B048-85BDC9FD1C3A}</a:tableStyleId>
              </a:tblPr>
              <a:tblGrid>
                <a:gridCol w="1908000">
                  <a:extLst>
                    <a:ext uri="{9D8B030D-6E8A-4147-A177-3AD203B41FA5}">
                      <a16:colId xmlns="" xmlns:a16="http://schemas.microsoft.com/office/drawing/2014/main" val="20000"/>
                    </a:ext>
                  </a:extLst>
                </a:gridCol>
                <a:gridCol w="1126304">
                  <a:extLst>
                    <a:ext uri="{9D8B030D-6E8A-4147-A177-3AD203B41FA5}">
                      <a16:colId xmlns="" xmlns:a16="http://schemas.microsoft.com/office/drawing/2014/main" val="20001"/>
                    </a:ext>
                  </a:extLst>
                </a:gridCol>
                <a:gridCol w="1126304">
                  <a:extLst>
                    <a:ext uri="{9D8B030D-6E8A-4147-A177-3AD203B41FA5}">
                      <a16:colId xmlns="" xmlns:a16="http://schemas.microsoft.com/office/drawing/2014/main" val="20002"/>
                    </a:ext>
                  </a:extLst>
                </a:gridCol>
              </a:tblGrid>
              <a:tr h="414665">
                <a:tc>
                  <a:txBody>
                    <a:bodyPr/>
                    <a:lstStyle/>
                    <a:p>
                      <a:pPr algn="ctr">
                        <a:lnSpc>
                          <a:spcPct val="100000"/>
                        </a:lnSpc>
                        <a:spcBef>
                          <a:spcPts val="300"/>
                        </a:spcBef>
                        <a:spcAft>
                          <a:spcPts val="300"/>
                        </a:spcAft>
                      </a:pPr>
                      <a:r>
                        <a:rPr lang="en-US" sz="1600" kern="800" dirty="0">
                          <a:effectLst/>
                        </a:rPr>
                        <a:t> </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kern="800" dirty="0">
                          <a:effectLst/>
                        </a:rPr>
                        <a:t>Single Kick</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sz="1600" kern="800" dirty="0">
                          <a:effectLst/>
                        </a:rPr>
                        <a:t>Multi Kick</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r h="281778">
                <a:tc>
                  <a:txBody>
                    <a:bodyPr/>
                    <a:lstStyle/>
                    <a:p>
                      <a:pPr algn="ctr">
                        <a:lnSpc>
                          <a:spcPct val="100000"/>
                        </a:lnSpc>
                        <a:spcBef>
                          <a:spcPts val="300"/>
                        </a:spcBef>
                        <a:spcAft>
                          <a:spcPts val="300"/>
                        </a:spcAft>
                      </a:pPr>
                      <a:r>
                        <a:rPr lang="en-US" sz="1600" kern="800" dirty="0">
                          <a:effectLst/>
                        </a:rPr>
                        <a:t>Original</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300"/>
                        </a:spcBef>
                        <a:spcAft>
                          <a:spcPts val="300"/>
                        </a:spcAft>
                      </a:pPr>
                      <a:r>
                        <a:rPr lang="en-US" sz="1600" kern="800" dirty="0">
                          <a:effectLst/>
                        </a:rPr>
                        <a:t>25.8</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spcBef>
                          <a:spcPts val="300"/>
                        </a:spcBef>
                        <a:spcAft>
                          <a:spcPts val="300"/>
                        </a:spcAft>
                      </a:pPr>
                      <a:r>
                        <a:rPr lang="en-US" sz="1600" b="1" u="sng" kern="800" dirty="0">
                          <a:effectLst/>
                        </a:rPr>
                        <a:t>31.8</a:t>
                      </a:r>
                      <a:endParaRPr lang="ja-JP" sz="1600" b="1" u="sng"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10001"/>
                  </a:ext>
                </a:extLst>
              </a:tr>
              <a:tr h="281778">
                <a:tc>
                  <a:txBody>
                    <a:bodyPr/>
                    <a:lstStyle/>
                    <a:p>
                      <a:pPr algn="ctr">
                        <a:lnSpc>
                          <a:spcPct val="100000"/>
                        </a:lnSpc>
                        <a:spcBef>
                          <a:spcPts val="300"/>
                        </a:spcBef>
                        <a:spcAft>
                          <a:spcPts val="300"/>
                        </a:spcAft>
                      </a:pPr>
                      <a:r>
                        <a:rPr lang="en-US" sz="1600" kern="800" dirty="0">
                          <a:effectLst/>
                        </a:rPr>
                        <a:t>Fix the</a:t>
                      </a:r>
                      <a:r>
                        <a:rPr lang="en-US" sz="1600" kern="800" baseline="0" dirty="0">
                          <a:effectLst/>
                        </a:rPr>
                        <a:t> vertical</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300"/>
                        </a:spcBef>
                        <a:spcAft>
                          <a:spcPts val="300"/>
                        </a:spcAft>
                      </a:pPr>
                      <a:r>
                        <a:rPr lang="en-US" altLang="ja-JP" sz="1600" kern="800" dirty="0">
                          <a:effectLst/>
                          <a:latin typeface="+mn-lt"/>
                          <a:ea typeface="+mn-ea"/>
                          <a:cs typeface="+mn-cs"/>
                        </a:rPr>
                        <a:t>49.2</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tc>
                  <a:txBody>
                    <a:bodyPr/>
                    <a:lstStyle/>
                    <a:p>
                      <a:pPr algn="ctr">
                        <a:lnSpc>
                          <a:spcPct val="100000"/>
                        </a:lnSpc>
                        <a:spcBef>
                          <a:spcPts val="300"/>
                        </a:spcBef>
                        <a:spcAft>
                          <a:spcPts val="300"/>
                        </a:spcAft>
                      </a:pPr>
                      <a:r>
                        <a:rPr lang="en-US" sz="1600" u="sng" kern="800" dirty="0">
                          <a:effectLst/>
                        </a:rPr>
                        <a:t>55.6</a:t>
                      </a:r>
                      <a:endParaRPr lang="ja-JP" sz="1600" u="sng"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noFill/>
                  </a:tcPr>
                </a:tc>
                <a:extLst>
                  <a:ext uri="{0D108BD9-81ED-4DB2-BD59-A6C34878D82A}">
                    <a16:rowId xmlns="" xmlns:a16="http://schemas.microsoft.com/office/drawing/2014/main" val="10002"/>
                  </a:ext>
                </a:extLst>
              </a:tr>
              <a:tr h="281778">
                <a:tc>
                  <a:txBody>
                    <a:bodyPr/>
                    <a:lstStyle/>
                    <a:p>
                      <a:pPr algn="ctr">
                        <a:lnSpc>
                          <a:spcPct val="100000"/>
                        </a:lnSpc>
                        <a:spcBef>
                          <a:spcPts val="300"/>
                        </a:spcBef>
                        <a:spcAft>
                          <a:spcPts val="300"/>
                        </a:spcAft>
                      </a:pPr>
                      <a:r>
                        <a:rPr lang="en-US" sz="1600" kern="800" dirty="0">
                          <a:effectLst/>
                        </a:rPr>
                        <a:t>Fix the septum angle</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altLang="ja-JP" sz="1600" kern="800" dirty="0">
                          <a:effectLst/>
                        </a:rPr>
                        <a:t>63.4</a:t>
                      </a:r>
                      <a:endParaRPr lang="ja-JP" sz="1600" dirty="0">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300"/>
                        </a:spcBef>
                        <a:spcAft>
                          <a:spcPts val="300"/>
                        </a:spcAft>
                      </a:pPr>
                      <a:r>
                        <a:rPr lang="en-US" altLang="ja-JP" sz="1600" b="1" u="sng" kern="800" dirty="0">
                          <a:solidFill>
                            <a:schemeClr val="tx1"/>
                          </a:solidFill>
                          <a:effectLst/>
                        </a:rPr>
                        <a:t>57.3</a:t>
                      </a:r>
                      <a:endParaRPr lang="ja-JP" sz="1600" b="1" u="sng" dirty="0">
                        <a:solidFill>
                          <a:schemeClr val="tx1"/>
                        </a:solidFill>
                        <a:effectLst/>
                        <a:latin typeface="Times" panose="02020603050405020304" pitchFamily="18" charset="0"/>
                        <a:ea typeface="ＭＳ Ｐ明朝" panose="02020600040205080304" pitchFamily="18" charset="-128"/>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bl>
          </a:graphicData>
        </a:graphic>
      </p:graphicFrame>
      <p:sp>
        <p:nvSpPr>
          <p:cNvPr id="8" name="スライド番号プレースホルダー 7"/>
          <p:cNvSpPr>
            <a:spLocks noGrp="1"/>
          </p:cNvSpPr>
          <p:nvPr>
            <p:ph type="sldNum" sz="quarter" idx="12"/>
          </p:nvPr>
        </p:nvSpPr>
        <p:spPr/>
        <p:txBody>
          <a:bodyPr/>
          <a:lstStyle/>
          <a:p>
            <a:fld id="{26B42C4F-1ABF-421A-9D5F-F691A5F6974A}" type="slidenum">
              <a:rPr kumimoji="1" lang="ja-JP" altLang="en-US" smtClean="0"/>
              <a:t>16</a:t>
            </a:fld>
            <a:endParaRPr kumimoji="1" lang="ja-JP" altLang="en-US"/>
          </a:p>
        </p:txBody>
      </p:sp>
    </p:spTree>
    <p:extLst>
      <p:ext uri="{BB962C8B-B14F-4D97-AF65-F5344CB8AC3E}">
        <p14:creationId xmlns:p14="http://schemas.microsoft.com/office/powerpoint/2010/main" val="1265312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161999" y="901867"/>
            <a:ext cx="8820000" cy="352177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p:cNvSpPr/>
          <p:nvPr/>
        </p:nvSpPr>
        <p:spPr>
          <a:xfrm>
            <a:off x="0" y="629783"/>
            <a:ext cx="9144000" cy="36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p:cNvSpPr txBox="1"/>
          <p:nvPr/>
        </p:nvSpPr>
        <p:spPr>
          <a:xfrm>
            <a:off x="0" y="0"/>
            <a:ext cx="4175760" cy="646331"/>
          </a:xfrm>
          <a:prstGeom prst="rect">
            <a:avLst/>
          </a:prstGeom>
          <a:noFill/>
        </p:spPr>
        <p:txBody>
          <a:bodyPr wrap="square" rtlCol="0" anchor="ctr">
            <a:spAutoFit/>
          </a:bodyPr>
          <a:lstStyle/>
          <a:p>
            <a:r>
              <a:rPr lang="en-US" altLang="ja-JP" sz="3600" dirty="0">
                <a:solidFill>
                  <a:schemeClr val="accent1">
                    <a:lumMod val="75000"/>
                  </a:schemeClr>
                </a:solidFill>
              </a:rPr>
              <a:t>4</a:t>
            </a:r>
            <a:r>
              <a:rPr lang="ja-JP" altLang="en-US" sz="3600" dirty="0">
                <a:solidFill>
                  <a:schemeClr val="accent1">
                    <a:lumMod val="75000"/>
                  </a:schemeClr>
                </a:solidFill>
              </a:rPr>
              <a:t>　まとめ</a:t>
            </a:r>
            <a:endParaRPr lang="ja-JP" altLang="ja-JP" sz="2000" dirty="0">
              <a:solidFill>
                <a:schemeClr val="accent1">
                  <a:lumMod val="75000"/>
                </a:schemeClr>
              </a:solidFill>
            </a:endParaRPr>
          </a:p>
        </p:txBody>
      </p:sp>
      <p:sp>
        <p:nvSpPr>
          <p:cNvPr id="6" name="正方形/長方形 5"/>
          <p:cNvSpPr/>
          <p:nvPr/>
        </p:nvSpPr>
        <p:spPr>
          <a:xfrm>
            <a:off x="0" y="665783"/>
            <a:ext cx="9144000" cy="36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p:nvSpPr>
        <p:spPr>
          <a:xfrm>
            <a:off x="162000" y="4599485"/>
            <a:ext cx="8820000" cy="159273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p:nvSpPr>
        <p:spPr>
          <a:xfrm>
            <a:off x="162000" y="4599484"/>
            <a:ext cx="8820000" cy="1692771"/>
          </a:xfrm>
          <a:prstGeom prst="rect">
            <a:avLst/>
          </a:prstGeom>
        </p:spPr>
        <p:txBody>
          <a:bodyPr wrap="square">
            <a:spAutoFit/>
          </a:bodyPr>
          <a:lstStyle/>
          <a:p>
            <a:r>
              <a:rPr lang="ja-JP" altLang="en-US" sz="2400" dirty="0">
                <a:solidFill>
                  <a:schemeClr val="accent5">
                    <a:lumMod val="75000"/>
                  </a:schemeClr>
                </a:solidFill>
              </a:rPr>
              <a:t>今後の展望</a:t>
            </a:r>
          </a:p>
          <a:p>
            <a:pPr marL="342900" lvl="0" indent="-342900">
              <a:buFont typeface="Arial" panose="020B0604020202020204" pitchFamily="34" charset="0"/>
              <a:buChar char="•"/>
            </a:pPr>
            <a:r>
              <a:rPr lang="ja-JP" altLang="en-US" sz="2000" dirty="0">
                <a:solidFill>
                  <a:prstClr val="black"/>
                </a:solidFill>
                <a:latin typeface="ＭＳ Ｐゴシック" panose="020B0600070205080204" pitchFamily="50" charset="-128"/>
                <a:cs typeface="ＭＳ 明朝" panose="02020609040205080304" pitchFamily="17" charset="-128"/>
              </a:rPr>
              <a:t>キッカー電磁石</a:t>
            </a:r>
            <a:r>
              <a:rPr lang="en-US" altLang="ja-JP" sz="2000" dirty="0">
                <a:solidFill>
                  <a:prstClr val="black"/>
                </a:solidFill>
                <a:latin typeface="ＭＳ Ｐゴシック" panose="020B0600070205080204" pitchFamily="50" charset="-128"/>
                <a:cs typeface="ＭＳ 明朝" panose="02020609040205080304" pitchFamily="17" charset="-128"/>
              </a:rPr>
              <a:t>K1</a:t>
            </a:r>
            <a:r>
              <a:rPr lang="ja-JP" altLang="en-US" sz="2000" dirty="0">
                <a:solidFill>
                  <a:prstClr val="black"/>
                </a:solidFill>
                <a:latin typeface="ＭＳ Ｐゴシック" panose="020B0600070205080204" pitchFamily="50" charset="-128"/>
                <a:cs typeface="ＭＳ 明朝" panose="02020609040205080304" pitchFamily="17" charset="-128"/>
              </a:rPr>
              <a:t>のパルス波形を再測定</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marL="342900" lvl="0" indent="-342900">
              <a:buFont typeface="Arial" panose="020B0604020202020204" pitchFamily="34" charset="0"/>
              <a:buChar char="•"/>
            </a:pPr>
            <a:r>
              <a:rPr lang="ja-JP" altLang="en-US" sz="2000" dirty="0">
                <a:solidFill>
                  <a:prstClr val="black"/>
                </a:solidFill>
                <a:latin typeface="ＭＳ Ｐゴシック" panose="020B0600070205080204" pitchFamily="50" charset="-128"/>
                <a:cs typeface="ＭＳ 明朝" panose="02020609040205080304" pitchFamily="17" charset="-128"/>
              </a:rPr>
              <a:t>セプタム電磁石の設計に反映</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marL="342900" indent="-342900">
              <a:buFont typeface="Arial" panose="020B0604020202020204" pitchFamily="34" charset="0"/>
              <a:buChar char="•"/>
            </a:pPr>
            <a:r>
              <a:rPr lang="ja-JP" altLang="en-US" sz="2000" dirty="0">
                <a:solidFill>
                  <a:prstClr val="black"/>
                </a:solidFill>
                <a:latin typeface="ＭＳ Ｐゴシック" panose="020B0600070205080204" pitchFamily="50" charset="-128"/>
                <a:cs typeface="ＭＳ 明朝" panose="02020609040205080304" pitchFamily="17" charset="-128"/>
              </a:rPr>
              <a:t>測定で得た結果のシミュレーションから入射の最適化</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marL="342900" lvl="0" indent="-342900">
              <a:buFont typeface="Arial" panose="020B0604020202020204" pitchFamily="34" charset="0"/>
              <a:buChar char="•"/>
            </a:pPr>
            <a:endParaRPr lang="en-US" altLang="ja-JP" sz="2000" dirty="0">
              <a:solidFill>
                <a:prstClr val="black"/>
              </a:solidFill>
              <a:latin typeface="ＭＳ Ｐゴシック" panose="020B0600070205080204" pitchFamily="50" charset="-128"/>
              <a:cs typeface="ＭＳ 明朝" panose="02020609040205080304" pitchFamily="17" charset="-128"/>
            </a:endParaRPr>
          </a:p>
        </p:txBody>
      </p:sp>
      <p:sp>
        <p:nvSpPr>
          <p:cNvPr id="11" name="正方形/長方形 10"/>
          <p:cNvSpPr/>
          <p:nvPr/>
        </p:nvSpPr>
        <p:spPr>
          <a:xfrm>
            <a:off x="162000" y="901867"/>
            <a:ext cx="8820000" cy="3231654"/>
          </a:xfrm>
          <a:prstGeom prst="rect">
            <a:avLst/>
          </a:prstGeom>
        </p:spPr>
        <p:txBody>
          <a:bodyPr wrap="square">
            <a:spAutoFit/>
          </a:bodyPr>
          <a:lstStyle/>
          <a:p>
            <a:r>
              <a:rPr lang="ja-JP" altLang="en-US" sz="2400" dirty="0">
                <a:solidFill>
                  <a:schemeClr val="accent4">
                    <a:lumMod val="50000"/>
                  </a:schemeClr>
                </a:solidFill>
              </a:rPr>
              <a:t>まとめ</a:t>
            </a:r>
            <a:endParaRPr lang="en-US" altLang="ja-JP" sz="2400" dirty="0">
              <a:solidFill>
                <a:schemeClr val="accent4">
                  <a:lumMod val="50000"/>
                </a:schemeClr>
              </a:solidFill>
            </a:endParaRPr>
          </a:p>
          <a:p>
            <a:pPr lvl="0"/>
            <a:r>
              <a:rPr lang="en-US" altLang="ja-JP" sz="2000" dirty="0">
                <a:solidFill>
                  <a:prstClr val="black"/>
                </a:solidFill>
                <a:cs typeface="ＭＳ 明朝" panose="02020609040205080304" pitchFamily="17" charset="-128"/>
              </a:rPr>
              <a:t>PF</a:t>
            </a:r>
            <a:r>
              <a:rPr lang="ja-JP" altLang="ja-JP" sz="2000" dirty="0">
                <a:solidFill>
                  <a:prstClr val="black"/>
                </a:solidFill>
                <a:latin typeface="ＭＳ Ｐゴシック" panose="020B0600070205080204" pitchFamily="50" charset="-128"/>
                <a:cs typeface="ＭＳ 明朝" panose="02020609040205080304" pitchFamily="17" charset="-128"/>
              </a:rPr>
              <a:t>リングにおいて問題であった入射効率の低下の問題を</a:t>
            </a:r>
            <a:r>
              <a:rPr lang="ja-JP" altLang="en-US" sz="2000" dirty="0">
                <a:solidFill>
                  <a:prstClr val="black"/>
                </a:solidFill>
                <a:latin typeface="ＭＳ Ｐゴシック" panose="020B0600070205080204" pitchFamily="50" charset="-128"/>
                <a:cs typeface="ＭＳ 明朝" panose="02020609040205080304" pitchFamily="17" charset="-128"/>
              </a:rPr>
              <a:t>、</a:t>
            </a:r>
            <a:r>
              <a:rPr lang="ja-JP" altLang="ja-JP" sz="2000" dirty="0">
                <a:solidFill>
                  <a:prstClr val="black"/>
                </a:solidFill>
                <a:latin typeface="ＭＳ Ｐゴシック" panose="020B0600070205080204" pitchFamily="50" charset="-128"/>
                <a:cs typeface="ＭＳ 明朝" panose="02020609040205080304" pitchFamily="17" charset="-128"/>
              </a:rPr>
              <a:t>ビームの応答から原因を調べ</a:t>
            </a:r>
            <a:r>
              <a:rPr lang="ja-JP" altLang="en-US" sz="2000" dirty="0">
                <a:solidFill>
                  <a:prstClr val="black"/>
                </a:solidFill>
                <a:latin typeface="ＭＳ Ｐゴシック" panose="020B0600070205080204" pitchFamily="50" charset="-128"/>
                <a:cs typeface="ＭＳ 明朝" panose="02020609040205080304" pitchFamily="17" charset="-128"/>
              </a:rPr>
              <a:t>、</a:t>
            </a:r>
            <a:r>
              <a:rPr lang="ja-JP" altLang="ja-JP" sz="2000" dirty="0">
                <a:solidFill>
                  <a:prstClr val="black"/>
                </a:solidFill>
                <a:latin typeface="ＭＳ Ｐゴシック" panose="020B0600070205080204" pitchFamily="50" charset="-128"/>
                <a:cs typeface="ＭＳ 明朝" panose="02020609040205080304" pitchFamily="17" charset="-128"/>
              </a:rPr>
              <a:t>入射ビームの位相空間情報の特定やキッカー電磁石の校正を行った。</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lvl="0"/>
            <a:endParaRPr lang="en-US" altLang="ja-JP" sz="2000" dirty="0">
              <a:solidFill>
                <a:prstClr val="black"/>
              </a:solidFill>
              <a:latin typeface="ＭＳ Ｐゴシック" panose="020B0600070205080204" pitchFamily="50" charset="-128"/>
              <a:cs typeface="ＭＳ 明朝" panose="02020609040205080304" pitchFamily="17" charset="-128"/>
            </a:endParaRPr>
          </a:p>
          <a:p>
            <a:pPr lvl="0"/>
            <a:r>
              <a:rPr lang="ja-JP" altLang="en-US" sz="2000" dirty="0">
                <a:solidFill>
                  <a:prstClr val="black"/>
                </a:solidFill>
                <a:latin typeface="ＭＳ Ｐゴシック" panose="020B0600070205080204" pitchFamily="50" charset="-128"/>
                <a:cs typeface="ＭＳ 明朝" panose="02020609040205080304" pitchFamily="17" charset="-128"/>
              </a:rPr>
              <a:t>入射パラメータの測定</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marL="342900" lvl="0" indent="-342900">
              <a:buFont typeface="Arial" panose="020B0604020202020204" pitchFamily="34" charset="0"/>
              <a:buChar char="•"/>
            </a:pPr>
            <a:r>
              <a:rPr lang="ja-JP" altLang="en-US" sz="2000" dirty="0">
                <a:solidFill>
                  <a:prstClr val="black"/>
                </a:solidFill>
                <a:latin typeface="ＭＳ Ｐゴシック" panose="020B0600070205080204" pitchFamily="50" charset="-128"/>
                <a:cs typeface="ＭＳ 明朝" panose="02020609040205080304" pitchFamily="17" charset="-128"/>
              </a:rPr>
              <a:t>入射ビームの位相空間情報を得た</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marL="342900" lvl="0" indent="-342900">
              <a:buFont typeface="Arial" panose="020B0604020202020204" pitchFamily="34" charset="0"/>
              <a:buChar char="•"/>
            </a:pPr>
            <a:r>
              <a:rPr lang="ja-JP" altLang="en-US" sz="2000" dirty="0">
                <a:solidFill>
                  <a:prstClr val="black"/>
                </a:solidFill>
                <a:latin typeface="ＭＳ Ｐゴシック" panose="020B0600070205080204" pitchFamily="50" charset="-128"/>
                <a:cs typeface="ＭＳ 明朝" panose="02020609040205080304" pitchFamily="17" charset="-128"/>
              </a:rPr>
              <a:t>キッカー電磁石の振幅、タイミングの情報を得て、バンプの問題を確認した</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lvl="0"/>
            <a:r>
              <a:rPr lang="ja-JP" altLang="en-US" sz="2000" dirty="0">
                <a:solidFill>
                  <a:prstClr val="black"/>
                </a:solidFill>
                <a:latin typeface="ＭＳ Ｐゴシック" panose="020B0600070205080204" pitchFamily="50" charset="-128"/>
                <a:cs typeface="ＭＳ 明朝" panose="02020609040205080304" pitchFamily="17" charset="-128"/>
              </a:rPr>
              <a:t>入射シミュレーション</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marL="342900" lvl="0" indent="-342900">
              <a:buFont typeface="Arial" panose="020B0604020202020204" pitchFamily="34" charset="0"/>
              <a:buChar char="•"/>
            </a:pPr>
            <a:r>
              <a:rPr lang="ja-JP" altLang="ja-JP" sz="2000" dirty="0">
                <a:solidFill>
                  <a:prstClr val="black"/>
                </a:solidFill>
                <a:latin typeface="ＭＳ Ｐゴシック" panose="020B0600070205080204" pitchFamily="50" charset="-128"/>
                <a:cs typeface="ＭＳ 明朝" panose="02020609040205080304" pitchFamily="17" charset="-128"/>
              </a:rPr>
              <a:t>現在の入射効率</a:t>
            </a:r>
            <a:r>
              <a:rPr lang="ja-JP" altLang="en-US" sz="2000" dirty="0">
                <a:solidFill>
                  <a:prstClr val="black"/>
                </a:solidFill>
                <a:latin typeface="ＭＳ Ｐゴシック" panose="020B0600070205080204" pitchFamily="50" charset="-128"/>
                <a:cs typeface="ＭＳ 明朝" panose="02020609040205080304" pitchFamily="17" charset="-128"/>
              </a:rPr>
              <a:t>は計算値範囲内</a:t>
            </a:r>
            <a:r>
              <a:rPr lang="en-US" altLang="ja-JP" sz="2000" dirty="0">
                <a:solidFill>
                  <a:prstClr val="black"/>
                </a:solidFill>
                <a:latin typeface="ＭＳ Ｐゴシック" panose="020B0600070205080204" pitchFamily="50" charset="-128"/>
                <a:cs typeface="ＭＳ 明朝" panose="02020609040205080304" pitchFamily="17" charset="-128"/>
              </a:rPr>
              <a:t>(</a:t>
            </a:r>
            <a:r>
              <a:rPr lang="en-US" altLang="ja-JP" sz="2000" dirty="0">
                <a:solidFill>
                  <a:prstClr val="black"/>
                </a:solidFill>
              </a:rPr>
              <a:t>31.8~57.6%)</a:t>
            </a:r>
            <a:r>
              <a:rPr lang="ja-JP" altLang="en-US" sz="2000" dirty="0">
                <a:solidFill>
                  <a:prstClr val="black"/>
                </a:solidFill>
                <a:latin typeface="ＭＳ Ｐゴシック" panose="020B0600070205080204" pitchFamily="50" charset="-128"/>
                <a:cs typeface="ＭＳ 明朝" panose="02020609040205080304" pitchFamily="17" charset="-128"/>
              </a:rPr>
              <a:t>に存在する</a:t>
            </a:r>
            <a:endParaRPr lang="en-US" altLang="ja-JP" sz="2000" dirty="0">
              <a:solidFill>
                <a:prstClr val="black"/>
              </a:solidFill>
              <a:latin typeface="ＭＳ Ｐゴシック" panose="020B0600070205080204" pitchFamily="50" charset="-128"/>
              <a:cs typeface="ＭＳ 明朝" panose="02020609040205080304" pitchFamily="17" charset="-128"/>
            </a:endParaRPr>
          </a:p>
          <a:p>
            <a:pPr marL="342900" lvl="0" indent="-342900">
              <a:buFont typeface="Arial" panose="020B0604020202020204" pitchFamily="34" charset="0"/>
              <a:buChar char="•"/>
            </a:pPr>
            <a:r>
              <a:rPr lang="ja-JP" altLang="en-US" sz="2000" dirty="0">
                <a:solidFill>
                  <a:prstClr val="black"/>
                </a:solidFill>
                <a:latin typeface="ＭＳ Ｐゴシック" panose="020B0600070205080204" pitchFamily="50" charset="-128"/>
                <a:cs typeface="ＭＳ 明朝" panose="02020609040205080304" pitchFamily="17" charset="-128"/>
              </a:rPr>
              <a:t>入射効率低下の大きな原因は</a:t>
            </a:r>
            <a:r>
              <a:rPr lang="ja-JP" altLang="ja-JP" sz="2000" dirty="0">
                <a:solidFill>
                  <a:prstClr val="black"/>
                </a:solidFill>
                <a:latin typeface="ＭＳ Ｐゴシック" panose="020B0600070205080204" pitchFamily="50" charset="-128"/>
                <a:cs typeface="ＭＳ 明朝" panose="02020609040205080304" pitchFamily="17" charset="-128"/>
              </a:rPr>
              <a:t>水平</a:t>
            </a:r>
            <a:r>
              <a:rPr lang="ja-JP" altLang="en-US" sz="2000" dirty="0">
                <a:solidFill>
                  <a:prstClr val="black"/>
                </a:solidFill>
                <a:latin typeface="ＭＳ Ｐゴシック" panose="020B0600070205080204" pitchFamily="50" charset="-128"/>
                <a:cs typeface="ＭＳ 明朝" panose="02020609040205080304" pitchFamily="17" charset="-128"/>
              </a:rPr>
              <a:t>方向</a:t>
            </a:r>
            <a:r>
              <a:rPr lang="ja-JP" altLang="en-US" sz="2000">
                <a:solidFill>
                  <a:prstClr val="black"/>
                </a:solidFill>
                <a:latin typeface="ＭＳ Ｐゴシック" panose="020B0600070205080204" pitchFamily="50" charset="-128"/>
                <a:cs typeface="ＭＳ 明朝" panose="02020609040205080304" pitchFamily="17" charset="-128"/>
              </a:rPr>
              <a:t>の</a:t>
            </a:r>
            <a:r>
              <a:rPr lang="ja-JP" altLang="en-US" sz="2000" smtClean="0">
                <a:solidFill>
                  <a:prstClr val="black"/>
                </a:solidFill>
                <a:latin typeface="ＭＳ Ｐゴシック" panose="020B0600070205080204" pitchFamily="50" charset="-128"/>
                <a:cs typeface="ＭＳ 明朝" panose="02020609040205080304" pitchFamily="17" charset="-128"/>
              </a:rPr>
              <a:t>ずれで</a:t>
            </a:r>
            <a:r>
              <a:rPr lang="ja-JP" altLang="en-US" sz="2000" dirty="0">
                <a:solidFill>
                  <a:prstClr val="black"/>
                </a:solidFill>
                <a:latin typeface="ＭＳ Ｐゴシック" panose="020B0600070205080204" pitchFamily="50" charset="-128"/>
                <a:cs typeface="ＭＳ 明朝" panose="02020609040205080304" pitchFamily="17" charset="-128"/>
              </a:rPr>
              <a:t>ある</a:t>
            </a:r>
            <a:endParaRPr lang="en-US" altLang="ja-JP" sz="2000" dirty="0">
              <a:solidFill>
                <a:prstClr val="black"/>
              </a:solidFill>
              <a:latin typeface="ＭＳ Ｐゴシック" panose="020B0600070205080204" pitchFamily="50" charset="-128"/>
              <a:cs typeface="ＭＳ 明朝" panose="02020609040205080304" pitchFamily="17" charset="-128"/>
            </a:endParaRPr>
          </a:p>
        </p:txBody>
      </p:sp>
      <p:sp>
        <p:nvSpPr>
          <p:cNvPr id="2" name="スライド番号プレースホルダー 1"/>
          <p:cNvSpPr>
            <a:spLocks noGrp="1"/>
          </p:cNvSpPr>
          <p:nvPr>
            <p:ph type="sldNum" sz="quarter" idx="12"/>
          </p:nvPr>
        </p:nvSpPr>
        <p:spPr/>
        <p:txBody>
          <a:bodyPr/>
          <a:lstStyle/>
          <a:p>
            <a:fld id="{26B42C4F-1ABF-421A-9D5F-F691A5F6974A}" type="slidenum">
              <a:rPr kumimoji="1" lang="ja-JP" altLang="en-US" smtClean="0"/>
              <a:t>17</a:t>
            </a:fld>
            <a:endParaRPr kumimoji="1" lang="ja-JP" altLang="en-US"/>
          </a:p>
        </p:txBody>
      </p:sp>
    </p:spTree>
    <p:extLst>
      <p:ext uri="{BB962C8B-B14F-4D97-AF65-F5344CB8AC3E}">
        <p14:creationId xmlns:p14="http://schemas.microsoft.com/office/powerpoint/2010/main" val="617642470"/>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9073</TotalTime>
  <Words>2357</Words>
  <Application>Microsoft Office PowerPoint</Application>
  <PresentationFormat>画面に合わせる (4:3)</PresentationFormat>
  <Paragraphs>524</Paragraphs>
  <Slides>17</Slides>
  <Notes>17</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17</vt:i4>
      </vt:variant>
    </vt:vector>
  </HeadingPairs>
  <TitlesOfParts>
    <vt:vector size="27" baseType="lpstr">
      <vt:lpstr>ＭＳ Ｐゴシック</vt:lpstr>
      <vt:lpstr>ＭＳ Ｐ明朝</vt:lpstr>
      <vt:lpstr>ＭＳ 明朝</vt:lpstr>
      <vt:lpstr>Arial</vt:lpstr>
      <vt:lpstr>Calibri</vt:lpstr>
      <vt:lpstr>Calibri Light</vt:lpstr>
      <vt:lpstr>Cambria Math</vt:lpstr>
      <vt:lpstr>Times</vt:lpstr>
      <vt:lpstr>Times New Roman</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hirano</dc:creator>
  <cp:lastModifiedBy>平野 広太</cp:lastModifiedBy>
  <cp:revision>229</cp:revision>
  <cp:lastPrinted>2018-08-06T07:33:17Z</cp:lastPrinted>
  <dcterms:created xsi:type="dcterms:W3CDTF">2018-07-18T02:21:51Z</dcterms:created>
  <dcterms:modified xsi:type="dcterms:W3CDTF">2019-01-09T03:15:27Z</dcterms:modified>
</cp:coreProperties>
</file>