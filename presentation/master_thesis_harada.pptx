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6" autoAdjust="0"/>
    <p:restoredTop sz="94660"/>
  </p:normalViewPr>
  <p:slideViewPr>
    <p:cSldViewPr snapToGrid="0">
      <p:cViewPr varScale="1">
        <p:scale>
          <a:sx n="55" d="100"/>
          <a:sy n="55" d="100"/>
        </p:scale>
        <p:origin x="60" y="4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3840759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26040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580853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3020766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1295737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2184683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115798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2057390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26877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232081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6E407C2-D233-46C6-9BE7-2B14C6E895F5}" type="datetimeFigureOut">
              <a:rPr kumimoji="1" lang="ja-JP" altLang="en-US" smtClean="0"/>
              <a:t>2019/2/1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289314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E407C2-D233-46C6-9BE7-2B14C6E895F5}" type="datetimeFigureOut">
              <a:rPr kumimoji="1" lang="ja-JP" altLang="en-US" smtClean="0"/>
              <a:t>2019/2/1</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4BBB58-2CFF-4E7D-ABCC-2B2AB0365BCF}" type="slidenum">
              <a:rPr kumimoji="1" lang="ja-JP" altLang="en-US" smtClean="0"/>
              <a:t>‹#›</a:t>
            </a:fld>
            <a:endParaRPr kumimoji="1" lang="ja-JP" altLang="en-US"/>
          </a:p>
        </p:txBody>
      </p:sp>
    </p:spTree>
    <p:extLst>
      <p:ext uri="{BB962C8B-B14F-4D97-AF65-F5344CB8AC3E}">
        <p14:creationId xmlns:p14="http://schemas.microsoft.com/office/powerpoint/2010/main" val="382067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タイトル</a:t>
            </a:r>
          </a:p>
        </p:txBody>
      </p:sp>
      <p:sp>
        <p:nvSpPr>
          <p:cNvPr id="3" name="サブタイトル 2"/>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810904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蓄積リングに対する「入射</a:t>
            </a:r>
            <a:r>
              <a:rPr lang="ja-JP" altLang="en-US" dirty="0"/>
              <a:t>」</a:t>
            </a:r>
            <a:endParaRPr kumimoji="1" lang="ja-JP" altLang="en-US" dirty="0"/>
          </a:p>
        </p:txBody>
      </p:sp>
      <p:sp>
        <p:nvSpPr>
          <p:cNvPr id="3" name="コンテンツ プレースホルダー 2"/>
          <p:cNvSpPr>
            <a:spLocks noGrp="1"/>
          </p:cNvSpPr>
          <p:nvPr>
            <p:ph idx="1"/>
          </p:nvPr>
        </p:nvSpPr>
        <p:spPr/>
        <p:txBody>
          <a:bodyPr>
            <a:normAutofit lnSpcReduction="10000"/>
          </a:bodyPr>
          <a:lstStyle/>
          <a:p>
            <a:r>
              <a:rPr kumimoji="1" lang="ja-JP" altLang="en-US" dirty="0"/>
              <a:t>放射光源は電子ビームから出てくる光を使って物質科学、生命科学の実験を行う施設。</a:t>
            </a:r>
            <a:endParaRPr kumimoji="1" lang="en-US" altLang="ja-JP" dirty="0"/>
          </a:p>
          <a:p>
            <a:r>
              <a:rPr kumimoji="1" lang="ja-JP" altLang="en-US" dirty="0"/>
              <a:t>出てくる光は光源リングの蓄積電流に比例する。</a:t>
            </a:r>
            <a:endParaRPr kumimoji="1" lang="en-US" altLang="ja-JP" dirty="0"/>
          </a:p>
          <a:p>
            <a:r>
              <a:rPr kumimoji="1" lang="ja-JP" altLang="en-US" dirty="0"/>
              <a:t>蓄積電流（電子ビーム）は時間とともに、残留ガスとの衝突、電子同士の衝突、量子力学的効果による大きすぎる放射エネルギーロス、などで減っていく。</a:t>
            </a:r>
            <a:endParaRPr kumimoji="1" lang="en-US" altLang="ja-JP" dirty="0"/>
          </a:p>
          <a:p>
            <a:r>
              <a:rPr lang="ja-JP" altLang="en-US" dirty="0"/>
              <a:t>ユーザー運転の間、時々、電子を足してやらないといけない。</a:t>
            </a:r>
            <a:endParaRPr lang="en-US" altLang="ja-JP" dirty="0"/>
          </a:p>
          <a:p>
            <a:r>
              <a:rPr kumimoji="1" lang="ja-JP" altLang="en-US" dirty="0"/>
              <a:t>以前は１日に２～３回足し、残りの時間は単調減少が一般的だったが、現在はユーザー実験をしながら電子を注ぎ足す、トップアップ、が一般的である。</a:t>
            </a:r>
          </a:p>
        </p:txBody>
      </p:sp>
    </p:spTree>
    <p:extLst>
      <p:ext uri="{BB962C8B-B14F-4D97-AF65-F5344CB8AC3E}">
        <p14:creationId xmlns:p14="http://schemas.microsoft.com/office/powerpoint/2010/main" val="94500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「入射」の方法</a:t>
            </a:r>
          </a:p>
        </p:txBody>
      </p:sp>
      <p:sp>
        <p:nvSpPr>
          <p:cNvPr id="3" name="コンテンツ プレースホルダー 2"/>
          <p:cNvSpPr>
            <a:spLocks noGrp="1"/>
          </p:cNvSpPr>
          <p:nvPr>
            <p:ph idx="1"/>
          </p:nvPr>
        </p:nvSpPr>
        <p:spPr/>
        <p:txBody>
          <a:bodyPr/>
          <a:lstStyle/>
          <a:p>
            <a:r>
              <a:rPr kumimoji="1" lang="ja-JP" altLang="en-US" dirty="0"/>
              <a:t>電子ビームは線形加速器で作られ、運ばれ、蓄積リングの真空ダクト内に撃ち込まれ、蓄積リング内を安定周回し始める。それを入射という。</a:t>
            </a:r>
            <a:endParaRPr kumimoji="1" lang="en-US" altLang="ja-JP" dirty="0"/>
          </a:p>
          <a:p>
            <a:r>
              <a:rPr lang="ja-JP" altLang="en-US" dirty="0"/>
              <a:t>外からのビームを入射の瞬間だけ蹴る電磁石が使われるが、入射ビームを蓄積リング内で必ず蹴る必要がある（でないとダクトにあたって全て損失）。蓄積リング内の電磁石は、蓄積リングを既に回っているビームに対しても同じように蹴るため、その蹴りを打ち消すため、入射点上流に蓄積リングだけを入射の瞬間だけ蹴る電磁石がさらに必要となる。</a:t>
            </a:r>
            <a:endParaRPr kumimoji="1" lang="en-US" altLang="ja-JP" dirty="0"/>
          </a:p>
          <a:p>
            <a:endParaRPr kumimoji="1" lang="ja-JP" altLang="en-US" dirty="0"/>
          </a:p>
        </p:txBody>
      </p:sp>
    </p:spTree>
    <p:extLst>
      <p:ext uri="{BB962C8B-B14F-4D97-AF65-F5344CB8AC3E}">
        <p14:creationId xmlns:p14="http://schemas.microsoft.com/office/powerpoint/2010/main" val="1668921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「入射」の絶対条件</a:t>
            </a:r>
          </a:p>
        </p:txBody>
      </p:sp>
      <p:sp>
        <p:nvSpPr>
          <p:cNvPr id="3" name="コンテンツ プレースホルダー 2"/>
          <p:cNvSpPr>
            <a:spLocks noGrp="1"/>
          </p:cNvSpPr>
          <p:nvPr>
            <p:ph idx="1"/>
          </p:nvPr>
        </p:nvSpPr>
        <p:spPr/>
        <p:txBody>
          <a:bodyPr/>
          <a:lstStyle/>
          <a:p>
            <a:r>
              <a:rPr kumimoji="1" lang="ja-JP" altLang="en-US" dirty="0"/>
              <a:t>入射ビームを損失なく蓄積リングに撃ち込むこと、既にある蓄積ビームを振動させないこと、が必要。</a:t>
            </a:r>
            <a:endParaRPr kumimoji="1" lang="en-US" altLang="ja-JP" dirty="0"/>
          </a:p>
          <a:p>
            <a:r>
              <a:rPr lang="ja-JP" altLang="en-US" dirty="0"/>
              <a:t>入射ビームの損失は実験ホールの放射線量の上昇に繋がり、蓄積ビームの振動はビームラインの光量の不安定性に繋がる。</a:t>
            </a:r>
            <a:endParaRPr lang="en-US" altLang="ja-JP" dirty="0"/>
          </a:p>
          <a:p>
            <a:r>
              <a:rPr lang="ja-JP" altLang="en-US" dirty="0"/>
              <a:t>現在、</a:t>
            </a:r>
            <a:r>
              <a:rPr lang="en-US" altLang="ja-JP" dirty="0"/>
              <a:t>PF</a:t>
            </a:r>
            <a:r>
              <a:rPr lang="ja-JP" altLang="en-US" dirty="0"/>
              <a:t>では</a:t>
            </a:r>
            <a:r>
              <a:rPr lang="en-US" altLang="ja-JP" dirty="0"/>
              <a:t>LINAC</a:t>
            </a:r>
            <a:r>
              <a:rPr lang="ja-JP" altLang="en-US" dirty="0"/>
              <a:t>から</a:t>
            </a:r>
            <a:r>
              <a:rPr lang="en-US" altLang="ja-JP" dirty="0"/>
              <a:t>0.5[</a:t>
            </a:r>
            <a:r>
              <a:rPr lang="en-US" altLang="ja-JP" dirty="0" err="1"/>
              <a:t>nC</a:t>
            </a:r>
            <a:r>
              <a:rPr lang="en-US" altLang="ja-JP" dirty="0"/>
              <a:t>/pulse]</a:t>
            </a:r>
            <a:r>
              <a:rPr lang="ja-JP" altLang="en-US" dirty="0"/>
              <a:t>きていて、例えば</a:t>
            </a:r>
            <a:r>
              <a:rPr lang="en-US" altLang="ja-JP" dirty="0"/>
              <a:t>5Hz</a:t>
            </a:r>
            <a:r>
              <a:rPr lang="ja-JP" altLang="en-US" dirty="0"/>
              <a:t>で完全に入射できると</a:t>
            </a:r>
            <a:r>
              <a:rPr lang="en-US" altLang="ja-JP" dirty="0"/>
              <a:t>1.25[mA/s]</a:t>
            </a:r>
            <a:r>
              <a:rPr lang="ja-JP" altLang="en-US" dirty="0"/>
              <a:t>になるはずだが、実際は</a:t>
            </a:r>
            <a:r>
              <a:rPr lang="en-US" altLang="ja-JP" dirty="0"/>
              <a:t>0.5[mA/s]</a:t>
            </a:r>
            <a:r>
              <a:rPr lang="ja-JP" altLang="en-US" dirty="0"/>
              <a:t>である。また、</a:t>
            </a:r>
            <a:r>
              <a:rPr lang="en-US" altLang="ja-JP" dirty="0"/>
              <a:t>LINAC</a:t>
            </a:r>
            <a:r>
              <a:rPr lang="ja-JP" altLang="en-US" dirty="0"/>
              <a:t>からのビームは蛍光板モニタで見ているとパルス毎に</a:t>
            </a:r>
            <a:r>
              <a:rPr lang="en-US" altLang="ja-JP" dirty="0"/>
              <a:t>2</a:t>
            </a:r>
            <a:r>
              <a:rPr lang="ja-JP" altLang="en-US" dirty="0"/>
              <a:t>～</a:t>
            </a:r>
            <a:r>
              <a:rPr lang="en-US" altLang="ja-JP" dirty="0"/>
              <a:t>3[mm]</a:t>
            </a:r>
            <a:r>
              <a:rPr lang="ja-JP" altLang="en-US" dirty="0"/>
              <a:t>くらいの位置の揺らぎがあり、それも入射の不安定に繋がっている。</a:t>
            </a:r>
            <a:endParaRPr lang="en-US" altLang="ja-JP" dirty="0"/>
          </a:p>
          <a:p>
            <a:pPr marL="0" indent="0">
              <a:buNone/>
            </a:pPr>
            <a:endParaRPr kumimoji="1" lang="ja-JP" altLang="en-US" dirty="0"/>
          </a:p>
        </p:txBody>
      </p:sp>
    </p:spTree>
    <p:extLst>
      <p:ext uri="{BB962C8B-B14F-4D97-AF65-F5344CB8AC3E}">
        <p14:creationId xmlns:p14="http://schemas.microsoft.com/office/powerpoint/2010/main" val="2134210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「入射」の何が難しいか？</a:t>
            </a:r>
          </a:p>
        </p:txBody>
      </p:sp>
      <p:sp>
        <p:nvSpPr>
          <p:cNvPr id="3" name="コンテンツ プレースホルダー 2"/>
          <p:cNvSpPr>
            <a:spLocks noGrp="1"/>
          </p:cNvSpPr>
          <p:nvPr>
            <p:ph idx="1"/>
          </p:nvPr>
        </p:nvSpPr>
        <p:spPr/>
        <p:txBody>
          <a:bodyPr/>
          <a:lstStyle/>
          <a:p>
            <a:r>
              <a:rPr kumimoji="1" lang="ja-JP" altLang="en-US" dirty="0"/>
              <a:t>入射の瞬間だけ蹴ると言いことで、数十キロボルト、数千アンペアのパルス電源、電磁石が使われる</a:t>
            </a:r>
            <a:r>
              <a:rPr lang="ja-JP" altLang="en-US" dirty="0"/>
              <a:t>。</a:t>
            </a:r>
            <a:endParaRPr lang="en-US" altLang="ja-JP" dirty="0"/>
          </a:p>
          <a:p>
            <a:r>
              <a:rPr kumimoji="1" lang="ja-JP" altLang="en-US" dirty="0"/>
              <a:t>入射の度に雷を落としているようなもので、電気的ノイズも大きいし、導体があると渦電流が発生し、磁場が空間的にも時間的にも乱れる。</a:t>
            </a:r>
            <a:endParaRPr kumimoji="1" lang="en-US" altLang="ja-JP" dirty="0"/>
          </a:p>
          <a:p>
            <a:r>
              <a:rPr lang="en-US" altLang="ja-JP" dirty="0"/>
              <a:t>LINAC</a:t>
            </a:r>
            <a:r>
              <a:rPr lang="ja-JP" altLang="en-US" dirty="0"/>
              <a:t>全体がパルスであり、もともと不安定を含む。</a:t>
            </a:r>
            <a:endParaRPr lang="en-US" altLang="ja-JP" dirty="0"/>
          </a:p>
          <a:p>
            <a:endParaRPr lang="en-US" altLang="ja-JP" dirty="0"/>
          </a:p>
          <a:p>
            <a:r>
              <a:rPr kumimoji="1" lang="ja-JP" altLang="en-US" dirty="0"/>
              <a:t>震災や経年変化で入射ビームの本当の軌道が分からない。</a:t>
            </a:r>
            <a:endParaRPr kumimoji="1" lang="en-US" altLang="ja-JP" dirty="0"/>
          </a:p>
          <a:p>
            <a:r>
              <a:rPr lang="ja-JP" altLang="en-US" dirty="0"/>
              <a:t>キッカーのビームに対する本当の磁場波形が分からない。</a:t>
            </a:r>
            <a:endParaRPr kumimoji="1" lang="ja-JP" altLang="en-US" dirty="0"/>
          </a:p>
        </p:txBody>
      </p:sp>
    </p:spTree>
    <p:extLst>
      <p:ext uri="{BB962C8B-B14F-4D97-AF65-F5344CB8AC3E}">
        <p14:creationId xmlns:p14="http://schemas.microsoft.com/office/powerpoint/2010/main" val="4293272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本研究の目的</a:t>
            </a:r>
          </a:p>
        </p:txBody>
      </p:sp>
      <p:sp>
        <p:nvSpPr>
          <p:cNvPr id="3" name="コンテンツ プレースホルダー 2"/>
          <p:cNvSpPr>
            <a:spLocks noGrp="1"/>
          </p:cNvSpPr>
          <p:nvPr>
            <p:ph idx="1"/>
          </p:nvPr>
        </p:nvSpPr>
        <p:spPr/>
        <p:txBody>
          <a:bodyPr>
            <a:normAutofit/>
          </a:bodyPr>
          <a:lstStyle/>
          <a:p>
            <a:r>
              <a:rPr kumimoji="1" lang="ja-JP" altLang="en-US" dirty="0"/>
              <a:t>ビームを使って現在の通常運転時の入射ビームの「本当の位置」を推定すること。</a:t>
            </a:r>
            <a:endParaRPr kumimoji="1" lang="en-US" altLang="ja-JP" dirty="0"/>
          </a:p>
          <a:p>
            <a:r>
              <a:rPr lang="ja-JP" altLang="en-US" dirty="0"/>
              <a:t>ビームを使って蓄積ビームと入射ビームの両方を蹴るパルス電磁石の「本当の磁場波形」を測定すること。</a:t>
            </a:r>
            <a:endParaRPr lang="en-US" altLang="ja-JP" dirty="0"/>
          </a:p>
          <a:p>
            <a:r>
              <a:rPr kumimoji="1" lang="ja-JP" altLang="en-US" dirty="0"/>
              <a:t>蓄積ビームに対する擾乱を低減すること。（これは、昨年度の運転時にユーザーから入射の度に光量が</a:t>
            </a:r>
            <a:r>
              <a:rPr kumimoji="1" lang="en-US" altLang="ja-JP" dirty="0"/>
              <a:t>20%</a:t>
            </a:r>
            <a:r>
              <a:rPr kumimoji="1" lang="ja-JP" altLang="en-US" dirty="0"/>
              <a:t>減ると苦情が来た内容でもある。入射電磁石の故障がその原因の一つである。）</a:t>
            </a:r>
            <a:endParaRPr kumimoji="1" lang="en-US" altLang="ja-JP" dirty="0"/>
          </a:p>
          <a:p>
            <a:r>
              <a:rPr lang="ja-JP" altLang="en-US" dirty="0"/>
              <a:t>可能ならば入射効率を改善すること。（結果としては入射率を減らさずに蓄積ビーム振動を減らすというところまではできた。）</a:t>
            </a:r>
            <a:endParaRPr kumimoji="1" lang="ja-JP" altLang="en-US" dirty="0"/>
          </a:p>
        </p:txBody>
      </p:sp>
    </p:spTree>
    <p:extLst>
      <p:ext uri="{BB962C8B-B14F-4D97-AF65-F5344CB8AC3E}">
        <p14:creationId xmlns:p14="http://schemas.microsoft.com/office/powerpoint/2010/main" val="1414756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本研究の難しさ</a:t>
            </a:r>
          </a:p>
        </p:txBody>
      </p:sp>
      <p:sp>
        <p:nvSpPr>
          <p:cNvPr id="3" name="コンテンツ プレースホルダー 2"/>
          <p:cNvSpPr>
            <a:spLocks noGrp="1"/>
          </p:cNvSpPr>
          <p:nvPr>
            <p:ph idx="1"/>
          </p:nvPr>
        </p:nvSpPr>
        <p:spPr/>
        <p:txBody>
          <a:bodyPr>
            <a:normAutofit lnSpcReduction="10000"/>
          </a:bodyPr>
          <a:lstStyle/>
          <a:p>
            <a:r>
              <a:rPr lang="ja-JP" altLang="en-US" dirty="0"/>
              <a:t>真空ダクト内を通る電子ビームは、真空ダクト内壁に埋め込まれた絶縁電極に電圧を生じる。電圧の差で位置を測定するが、それをビーム位置モニタという。モニタ自身の据付位置誤差、電気的オフセットがあり、絶対値の測定は難しい。</a:t>
            </a:r>
            <a:endParaRPr lang="en-US" altLang="ja-JP" dirty="0"/>
          </a:p>
          <a:p>
            <a:r>
              <a:rPr kumimoji="1" lang="ja-JP" altLang="en-US" dirty="0"/>
              <a:t>通常の運転時は、約</a:t>
            </a:r>
            <a:r>
              <a:rPr lang="en-US" altLang="ja-JP" dirty="0"/>
              <a:t>1nC</a:t>
            </a:r>
            <a:r>
              <a:rPr lang="ja-JP" altLang="en-US" dirty="0"/>
              <a:t>（マルチバンチ蓄積ビーム）の電荷を数千～数万回平均することで、</a:t>
            </a:r>
            <a:r>
              <a:rPr lang="en-US" altLang="ja-JP" dirty="0"/>
              <a:t>1[um]</a:t>
            </a:r>
            <a:r>
              <a:rPr lang="ja-JP" altLang="en-US" dirty="0"/>
              <a:t>の精度で位置を相対的に測定している。</a:t>
            </a:r>
            <a:endParaRPr lang="en-US" altLang="ja-JP" dirty="0"/>
          </a:p>
          <a:p>
            <a:r>
              <a:rPr kumimoji="1" lang="ja-JP" altLang="en-US" dirty="0"/>
              <a:t>入射ビーム</a:t>
            </a:r>
            <a:r>
              <a:rPr lang="ja-JP" altLang="en-US" dirty="0"/>
              <a:t>は電荷が少なく、さらに「入射の瞬間だけ」の１回測定で平均ができない。</a:t>
            </a:r>
            <a:r>
              <a:rPr lang="en-US" altLang="ja-JP" dirty="0"/>
              <a:t>LINAC</a:t>
            </a:r>
            <a:r>
              <a:rPr lang="ja-JP" altLang="en-US" dirty="0"/>
              <a:t>からのビームは不安定である。ということで、入射ビームや入射の瞬間だけの位置測定は非常に難しいものである。それを成功させたところに本研究の偉大さがある！</a:t>
            </a:r>
            <a:endParaRPr kumimoji="1" lang="ja-JP" altLang="en-US" dirty="0"/>
          </a:p>
        </p:txBody>
      </p:sp>
    </p:spTree>
    <p:extLst>
      <p:ext uri="{BB962C8B-B14F-4D97-AF65-F5344CB8AC3E}">
        <p14:creationId xmlns:p14="http://schemas.microsoft.com/office/powerpoint/2010/main" val="332948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どう測定したか？</a:t>
            </a:r>
          </a:p>
        </p:txBody>
      </p:sp>
      <p:sp>
        <p:nvSpPr>
          <p:cNvPr id="3" name="コンテンツ プレースホルダー 2"/>
          <p:cNvSpPr>
            <a:spLocks noGrp="1"/>
          </p:cNvSpPr>
          <p:nvPr>
            <p:ph idx="1"/>
          </p:nvPr>
        </p:nvSpPr>
        <p:spPr/>
        <p:txBody>
          <a:bodyPr/>
          <a:lstStyle/>
          <a:p>
            <a:r>
              <a:rPr kumimoji="1" lang="ja-JP" altLang="en-US" dirty="0"/>
              <a:t>ボタン電極からの生の電圧の時間波形から、</a:t>
            </a:r>
            <a:r>
              <a:rPr kumimoji="1" lang="en-US" altLang="ja-JP" dirty="0"/>
              <a:t>LINAC</a:t>
            </a:r>
            <a:r>
              <a:rPr kumimoji="1" lang="ja-JP" altLang="en-US" dirty="0"/>
              <a:t>からきちんと電荷が来ている部分だけを抽出、蓄積リング内の軌道を基準にしてオフセットを計算、ノイズをフィルタ処理で落とし、正しい位置データを得ることができた。</a:t>
            </a:r>
            <a:endParaRPr kumimoji="1" lang="en-US" altLang="ja-JP" dirty="0"/>
          </a:p>
          <a:p>
            <a:r>
              <a:rPr kumimoji="1" lang="ja-JP" altLang="en-US" dirty="0"/>
              <a:t>パルス電磁石の誤差以外の影響を排除する為、蓄積リング内の電子軌道やオプティクスもビームで測定した。挿入光源</a:t>
            </a:r>
            <a:r>
              <a:rPr lang="ja-JP" altLang="en-US" dirty="0"/>
              <a:t>や非線形磁場の影響をきちんと排除して測定を行った。</a:t>
            </a:r>
            <a:endParaRPr lang="en-US" altLang="ja-JP" dirty="0"/>
          </a:p>
          <a:p>
            <a:r>
              <a:rPr lang="ja-JP" altLang="en-US" dirty="0"/>
              <a:t>これは他の加速器施設ではなかなか正確にできていないことである。</a:t>
            </a:r>
            <a:endParaRPr lang="en-US" altLang="ja-JP" dirty="0"/>
          </a:p>
          <a:p>
            <a:endParaRPr kumimoji="1" lang="ja-JP" altLang="en-US" dirty="0"/>
          </a:p>
        </p:txBody>
      </p:sp>
    </p:spTree>
    <p:extLst>
      <p:ext uri="{BB962C8B-B14F-4D97-AF65-F5344CB8AC3E}">
        <p14:creationId xmlns:p14="http://schemas.microsoft.com/office/powerpoint/2010/main" val="128381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ビームによる測定とパラメータ最適化</a:t>
            </a:r>
            <a:endParaRPr kumimoji="1" lang="ja-JP" altLang="en-US" dirty="0"/>
          </a:p>
        </p:txBody>
      </p:sp>
      <p:sp>
        <p:nvSpPr>
          <p:cNvPr id="3" name="コンテンツ プレースホルダー 2"/>
          <p:cNvSpPr>
            <a:spLocks noGrp="1"/>
          </p:cNvSpPr>
          <p:nvPr>
            <p:ph idx="1"/>
          </p:nvPr>
        </p:nvSpPr>
        <p:spPr/>
        <p:txBody>
          <a:bodyPr/>
          <a:lstStyle/>
          <a:p>
            <a:r>
              <a:rPr lang="ja-JP" altLang="en-US" dirty="0"/>
              <a:t>小電荷に対する１回測定の方法を確立した後、蓄積リング内の複数のモニタを使い、蓄積ビームでパルス電磁石の本当の波形データを、入射ビームで入射軌道のデータを測定した。</a:t>
            </a:r>
            <a:endParaRPr kumimoji="1" lang="en-US" altLang="ja-JP" dirty="0"/>
          </a:p>
          <a:p>
            <a:r>
              <a:rPr kumimoji="1" lang="ja-JP" altLang="en-US" dirty="0"/>
              <a:t>測定したデータを使い、誤差があった場合の入射率のシミュレーションの検証を行い、蓄積ビーム振動を低減させるためのシミュレーションを行った。</a:t>
            </a:r>
            <a:endParaRPr kumimoji="1" lang="en-US" altLang="ja-JP" dirty="0"/>
          </a:p>
          <a:p>
            <a:endParaRPr kumimoji="1" lang="en-US" altLang="ja-JP" dirty="0"/>
          </a:p>
          <a:p>
            <a:r>
              <a:rPr lang="ja-JP" altLang="en-US" dirty="0"/>
              <a:t>現在、</a:t>
            </a:r>
            <a:r>
              <a:rPr lang="en-US" altLang="ja-JP" dirty="0"/>
              <a:t>PF</a:t>
            </a:r>
            <a:r>
              <a:rPr lang="ja-JP" altLang="en-US" dirty="0"/>
              <a:t>リングの入射電磁石は故障中であり、入射時の蓄積ビームへの蹴り強さが制限されている。その条件の下シミュレーション、最適値の探索を行った。</a:t>
            </a:r>
            <a:endParaRPr kumimoji="1" lang="ja-JP" altLang="en-US" dirty="0"/>
          </a:p>
        </p:txBody>
      </p:sp>
    </p:spTree>
    <p:extLst>
      <p:ext uri="{BB962C8B-B14F-4D97-AF65-F5344CB8AC3E}">
        <p14:creationId xmlns:p14="http://schemas.microsoft.com/office/powerpoint/2010/main" val="2561545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最適化と結果</a:t>
            </a:r>
            <a:endParaRPr kumimoji="1" lang="ja-JP" altLang="en-US" dirty="0"/>
          </a:p>
        </p:txBody>
      </p:sp>
      <p:sp>
        <p:nvSpPr>
          <p:cNvPr id="3" name="コンテンツ プレースホルダー 2"/>
          <p:cNvSpPr>
            <a:spLocks noGrp="1"/>
          </p:cNvSpPr>
          <p:nvPr>
            <p:ph idx="1"/>
          </p:nvPr>
        </p:nvSpPr>
        <p:spPr/>
        <p:txBody>
          <a:bodyPr/>
          <a:lstStyle/>
          <a:p>
            <a:r>
              <a:rPr lang="ja-JP" altLang="en-US" dirty="0"/>
              <a:t>入射による蓄積ビームの擾乱を最適化する実験を実際に行った。</a:t>
            </a:r>
            <a:endParaRPr lang="en-US" altLang="ja-JP" dirty="0"/>
          </a:p>
          <a:p>
            <a:r>
              <a:rPr lang="ja-JP" altLang="en-US" dirty="0"/>
              <a:t>（蓄積ビームの振動を気にしないなら、実際にはある程度振動させた方が入射率が大きくなる。キッカージャンプと呼ぶ。）</a:t>
            </a:r>
            <a:endParaRPr lang="en-US" altLang="ja-JP" dirty="0"/>
          </a:p>
          <a:p>
            <a:r>
              <a:rPr lang="ja-JP" altLang="en-US" dirty="0"/>
              <a:t>ビームを使った本当の波形データを使ったことにより、振動の大きさはシミュレーションとよく一致し、入射率を減らさずに蓄積ビームの振動を小さくすることに成功した。</a:t>
            </a:r>
            <a:endParaRPr lang="en-US" altLang="ja-JP" dirty="0"/>
          </a:p>
          <a:p>
            <a:r>
              <a:rPr kumimoji="1" lang="en-US" altLang="ja-JP" dirty="0"/>
              <a:t>LINAC</a:t>
            </a:r>
            <a:r>
              <a:rPr kumimoji="1" lang="ja-JP" altLang="en-US" dirty="0"/>
              <a:t>が不安定であり、今回は入射ビームの位置最適化までは至らなかった。それは今後の課題である。</a:t>
            </a:r>
          </a:p>
        </p:txBody>
      </p:sp>
    </p:spTree>
    <p:extLst>
      <p:ext uri="{BB962C8B-B14F-4D97-AF65-F5344CB8AC3E}">
        <p14:creationId xmlns:p14="http://schemas.microsoft.com/office/powerpoint/2010/main" val="1265980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コンテンツ プレースホルダー 2"/>
          <p:cNvSpPr>
            <a:spLocks noGrp="1"/>
          </p:cNvSpPr>
          <p:nvPr>
            <p:ph idx="1"/>
          </p:nvPr>
        </p:nvSpPr>
        <p:spPr/>
        <p:txBody>
          <a:bodyPr/>
          <a:lstStyle/>
          <a:p>
            <a:r>
              <a:rPr kumimoji="1" lang="ja-JP" altLang="en-US" dirty="0"/>
              <a:t>蓄積中に減少していく電子ビームを注ぎ足す「入射」に関するパラメータを、ビームを使って正確に測定することに成功した。</a:t>
            </a:r>
            <a:endParaRPr kumimoji="1" lang="en-US" altLang="ja-JP" dirty="0"/>
          </a:p>
          <a:p>
            <a:r>
              <a:rPr kumimoji="1" lang="ja-JP" altLang="en-US" dirty="0"/>
              <a:t>測定したデータを使い、最適化シミュレーションとそのビーム実験を行い、実際に入射しながらユーザー実験に影響が出ないように蓄積ビームの振動を抑制するところまでは成功した。それが現在の</a:t>
            </a:r>
            <a:r>
              <a:rPr kumimoji="1" lang="en-US" altLang="ja-JP" dirty="0"/>
              <a:t>PF</a:t>
            </a:r>
            <a:r>
              <a:rPr kumimoji="1" lang="ja-JP" altLang="en-US" dirty="0"/>
              <a:t>リングの最優先課題であった。</a:t>
            </a:r>
            <a:endParaRPr kumimoji="1" lang="en-US" altLang="ja-JP" dirty="0"/>
          </a:p>
          <a:p>
            <a:r>
              <a:rPr lang="en-US" altLang="ja-JP" dirty="0"/>
              <a:t>LINAC</a:t>
            </a:r>
            <a:r>
              <a:rPr lang="ja-JP" altLang="en-US" dirty="0"/>
              <a:t>が安定な時に入射ビームの軌道等を最適化するスタディを行うことが今後の課題である。</a:t>
            </a:r>
            <a:endParaRPr kumimoji="1" lang="ja-JP" altLang="en-US" dirty="0"/>
          </a:p>
        </p:txBody>
      </p:sp>
    </p:spTree>
    <p:extLst>
      <p:ext uri="{BB962C8B-B14F-4D97-AF65-F5344CB8AC3E}">
        <p14:creationId xmlns:p14="http://schemas.microsoft.com/office/powerpoint/2010/main" val="360871252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1255</Words>
  <Application>Microsoft Office PowerPoint</Application>
  <PresentationFormat>ワイド画面</PresentationFormat>
  <Paragraphs>48</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ＭＳ Ｐゴシック</vt:lpstr>
      <vt:lpstr>Arial</vt:lpstr>
      <vt:lpstr>Calibri</vt:lpstr>
      <vt:lpstr>Calibri Light</vt:lpstr>
      <vt:lpstr>Office テーマ</vt:lpstr>
      <vt:lpstr>タイトル</vt:lpstr>
      <vt:lpstr>蓄積リングに対する「入射」</vt:lpstr>
      <vt:lpstr>「入射」の方法</vt:lpstr>
      <vt:lpstr>「入射」の絶対条件</vt:lpstr>
      <vt:lpstr>「入射」の何が難しいか？</vt:lpstr>
      <vt:lpstr>本研究の目的</vt:lpstr>
      <vt:lpstr>本研究の難しさ</vt:lpstr>
      <vt:lpstr>どう測定したか？</vt:lpstr>
      <vt:lpstr>ビームによる測定とパラメータ最適化</vt:lpstr>
      <vt:lpstr>最適化と結果</vt:lpstr>
      <vt:lpstr>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kentaro</dc:creator>
  <cp:lastModifiedBy>原田 健太郎</cp:lastModifiedBy>
  <cp:revision>12</cp:revision>
  <dcterms:created xsi:type="dcterms:W3CDTF">2019-02-01T12:38:37Z</dcterms:created>
  <dcterms:modified xsi:type="dcterms:W3CDTF">2019-02-01T13:45:37Z</dcterms:modified>
</cp:coreProperties>
</file>